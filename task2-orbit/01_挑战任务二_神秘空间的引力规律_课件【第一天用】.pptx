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ppt/tags/tag7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367" r:id="rId3"/>
    <p:sldId id="257" r:id="rId4"/>
    <p:sldId id="348" r:id="rId5"/>
    <p:sldId id="385" r:id="rId6"/>
    <p:sldId id="386" r:id="rId7"/>
    <p:sldId id="387" r:id="rId8"/>
    <p:sldId id="388" r:id="rId9"/>
    <p:sldId id="782" r:id="rId10"/>
    <p:sldId id="785" r:id="rId11"/>
    <p:sldId id="1131" r:id="rId12"/>
    <p:sldId id="1139" r:id="rId13"/>
    <p:sldId id="1138" r:id="rId14"/>
    <p:sldId id="1136" r:id="rId15"/>
    <p:sldId id="1135" r:id="rId16"/>
    <p:sldId id="1137" r:id="rId17"/>
    <p:sldId id="1140"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3974">
          <p15:clr>
            <a:srgbClr val="A4A3A4"/>
          </p15:clr>
        </p15:guide>
        <p15:guide id="4" orient="horz" pos="346">
          <p15:clr>
            <a:srgbClr val="A4A3A4"/>
          </p15:clr>
        </p15:guide>
        <p15:guide id="5" orient="horz" pos="799">
          <p15:clr>
            <a:srgbClr val="A4A3A4"/>
          </p15:clr>
        </p15:guide>
        <p15:guide id="6" pos="7287">
          <p15:clr>
            <a:srgbClr val="A4A3A4"/>
          </p15:clr>
        </p15:guide>
        <p15:guide id="7" pos="393">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4660"/>
    <a:srgbClr val="BF9000"/>
    <a:srgbClr val="FFFFFF"/>
    <a:srgbClr val="C55A11"/>
    <a:srgbClr val="595959"/>
    <a:srgbClr val="EA9E16"/>
    <a:srgbClr val="297DB6"/>
    <a:srgbClr val="B43500"/>
    <a:srgbClr val="9933FF"/>
    <a:srgbClr val="7F6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718" autoAdjust="0"/>
  </p:normalViewPr>
  <p:slideViewPr>
    <p:cSldViewPr snapToGrid="0" showGuides="1">
      <p:cViewPr varScale="1">
        <p:scale>
          <a:sx n="89" d="100"/>
          <a:sy n="89" d="100"/>
        </p:scale>
        <p:origin x="296" y="52"/>
      </p:cViewPr>
      <p:guideLst>
        <p:guide orient="horz" pos="2160"/>
        <p:guide pos="3840"/>
        <p:guide orient="horz" pos="3974"/>
        <p:guide orient="horz" pos="346"/>
        <p:guide orient="horz" pos="799"/>
        <p:guide pos="7287"/>
        <p:guide pos="393"/>
      </p:guideLst>
    </p:cSldViewPr>
  </p:slideViewPr>
  <p:notesTextViewPr>
    <p:cViewPr>
      <p:scale>
        <a:sx n="1" d="1"/>
        <a:sy n="1" d="1"/>
      </p:scale>
      <p:origin x="0" y="0"/>
    </p:cViewPr>
  </p:notesTextViewPr>
  <p:sorterViewPr>
    <p:cViewPr>
      <p:scale>
        <a:sx n="100" d="100"/>
        <a:sy n="100" d="100"/>
      </p:scale>
      <p:origin x="0" y="-1956"/>
    </p:cViewPr>
  </p:sorterViewPr>
  <p:notesViewPr>
    <p:cSldViewPr snapToGrid="0">
      <p:cViewPr varScale="1">
        <p:scale>
          <a:sx n="75" d="100"/>
          <a:sy n="75" d="100"/>
        </p:scale>
        <p:origin x="3448"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E:\&#21271;&#20140;&#31532;&#19968;&#23454;&#39564;&#23398;&#26657;\2-&#39033;&#30446;\202509-AI4S&#35838;&#31243;\&#25361;&#25112;&#20219;&#21153;2\&#22826;&#38451;&#31995;&#34892;&#26143;&#36816;&#34892;&#21608;&#26399;&#19982;&#36712;&#36947;&#21322;&#24452;&#25968;&#2545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21271;&#20140;&#31532;&#19968;&#23454;&#39564;&#23398;&#26657;\2-&#39033;&#30446;\202509-AI4S&#35838;&#31243;\&#25361;&#25112;&#20219;&#21153;2\&#22826;&#38451;&#31995;&#34892;&#26143;&#36816;&#34892;&#21608;&#26399;&#19982;&#36712;&#36947;&#21322;&#24452;&#25968;&#25454;.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Sheet1!$C$1</c:f>
              <c:strCache>
                <c:ptCount val="1"/>
                <c:pt idx="0">
                  <c:v>运行周期 (年)</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Sheet1!$B$2:$B$9</c:f>
              <c:numCache>
                <c:formatCode>General</c:formatCode>
                <c:ptCount val="8"/>
                <c:pt idx="0">
                  <c:v>0.38700000000000001</c:v>
                </c:pt>
                <c:pt idx="1">
                  <c:v>0.72299999999999998</c:v>
                </c:pt>
                <c:pt idx="2">
                  <c:v>1</c:v>
                </c:pt>
                <c:pt idx="3">
                  <c:v>1.524</c:v>
                </c:pt>
                <c:pt idx="4">
                  <c:v>5.2039999999999997</c:v>
                </c:pt>
                <c:pt idx="5">
                  <c:v>9.5820000000000007</c:v>
                </c:pt>
                <c:pt idx="6">
                  <c:v>19.190000000000001</c:v>
                </c:pt>
                <c:pt idx="7">
                  <c:v>30.07</c:v>
                </c:pt>
              </c:numCache>
            </c:numRef>
          </c:xVal>
          <c:yVal>
            <c:numRef>
              <c:f>Sheet1!$C$2:$C$9</c:f>
              <c:numCache>
                <c:formatCode>General</c:formatCode>
                <c:ptCount val="8"/>
                <c:pt idx="0">
                  <c:v>0.24099999999999999</c:v>
                </c:pt>
                <c:pt idx="1">
                  <c:v>0.61499999999999999</c:v>
                </c:pt>
                <c:pt idx="2">
                  <c:v>1</c:v>
                </c:pt>
                <c:pt idx="3">
                  <c:v>1.881</c:v>
                </c:pt>
                <c:pt idx="4">
                  <c:v>11.86</c:v>
                </c:pt>
                <c:pt idx="5">
                  <c:v>29.46</c:v>
                </c:pt>
                <c:pt idx="6">
                  <c:v>84.01</c:v>
                </c:pt>
                <c:pt idx="7">
                  <c:v>164.8</c:v>
                </c:pt>
              </c:numCache>
            </c:numRef>
          </c:yVal>
          <c:smooth val="1"/>
          <c:extLst>
            <c:ext xmlns:c16="http://schemas.microsoft.com/office/drawing/2014/chart" uri="{C3380CC4-5D6E-409C-BE32-E72D297353CC}">
              <c16:uniqueId val="{00000000-4273-4774-87CD-440BDE3ECCE9}"/>
            </c:ext>
          </c:extLst>
        </c:ser>
        <c:dLbls>
          <c:showLegendKey val="0"/>
          <c:showVal val="0"/>
          <c:showCatName val="0"/>
          <c:showSerName val="0"/>
          <c:showPercent val="0"/>
          <c:showBubbleSize val="0"/>
        </c:dLbls>
        <c:axId val="414091007"/>
        <c:axId val="416844383"/>
      </c:scatterChart>
      <c:valAx>
        <c:axId val="41409100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zh-CN" altLang="en-US"/>
                  <a:t>轨道半径</a:t>
                </a:r>
                <a:r>
                  <a:rPr lang="en-US" altLang="zh-CN" i="1"/>
                  <a:t>r</a:t>
                </a:r>
                <a:r>
                  <a:rPr lang="zh-CN" altLang="en-US"/>
                  <a:t>（</a:t>
                </a:r>
                <a:r>
                  <a:rPr lang="en-US" altLang="zh-CN"/>
                  <a:t>AU</a:t>
                </a:r>
                <a:r>
                  <a:rPr lang="zh-CN" altLang="en-US"/>
                  <a: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416844383"/>
        <c:crosses val="autoZero"/>
        <c:crossBetween val="midCat"/>
      </c:valAx>
      <c:valAx>
        <c:axId val="4168443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zh-CN" altLang="en-US"/>
                  <a:t>运行周期</a:t>
                </a:r>
                <a:r>
                  <a:rPr lang="en-US" altLang="zh-CN" i="1"/>
                  <a:t>T</a:t>
                </a:r>
                <a:r>
                  <a:rPr lang="zh-CN" altLang="en-US"/>
                  <a:t>（年）</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414091007"/>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Sheet1!$E$1</c:f>
              <c:strCache>
                <c:ptCount val="1"/>
                <c:pt idx="0">
                  <c:v>lgT</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1"/>
            <c:trendlineLbl>
              <c:layout>
                <c:manualLayout>
                  <c:x val="-3.8570428696412945E-2"/>
                  <c:y val="4.6296296296296294E-3"/>
                </c:manualLayout>
              </c:layout>
              <c:numFmt formatCode="General" sourceLinked="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zh-CN"/>
                </a:p>
              </c:txPr>
            </c:trendlineLbl>
          </c:trendline>
          <c:xVal>
            <c:numRef>
              <c:f>Sheet1!$D$2:$D$9</c:f>
              <c:numCache>
                <c:formatCode>General</c:formatCode>
                <c:ptCount val="8"/>
                <c:pt idx="0">
                  <c:v>-0.4122890349810886</c:v>
                </c:pt>
                <c:pt idx="1">
                  <c:v>-0.14086170270546919</c:v>
                </c:pt>
                <c:pt idx="2">
                  <c:v>0</c:v>
                </c:pt>
                <c:pt idx="3">
                  <c:v>0.18298496700358169</c:v>
                </c:pt>
                <c:pt idx="4">
                  <c:v>0.71633728788954865</c:v>
                </c:pt>
                <c:pt idx="5">
                  <c:v>0.98145616652212664</c:v>
                </c:pt>
                <c:pt idx="6">
                  <c:v>1.2830749747354715</c:v>
                </c:pt>
                <c:pt idx="7">
                  <c:v>1.4781334281005176</c:v>
                </c:pt>
              </c:numCache>
            </c:numRef>
          </c:xVal>
          <c:yVal>
            <c:numRef>
              <c:f>Sheet1!$E$2:$E$9</c:f>
              <c:numCache>
                <c:formatCode>General</c:formatCode>
                <c:ptCount val="8"/>
                <c:pt idx="0">
                  <c:v>-0.61798295742513165</c:v>
                </c:pt>
                <c:pt idx="1">
                  <c:v>-0.21112488422458328</c:v>
                </c:pt>
                <c:pt idx="2">
                  <c:v>0</c:v>
                </c:pt>
                <c:pt idx="3">
                  <c:v>0.27438879555037887</c:v>
                </c:pt>
                <c:pt idx="4">
                  <c:v>1.0740846890282438</c:v>
                </c:pt>
                <c:pt idx="5">
                  <c:v>1.4692327425066121</c:v>
                </c:pt>
                <c:pt idx="6">
                  <c:v>1.9243309847086785</c:v>
                </c:pt>
                <c:pt idx="7">
                  <c:v>2.216957207361097</c:v>
                </c:pt>
              </c:numCache>
            </c:numRef>
          </c:yVal>
          <c:smooth val="1"/>
          <c:extLst>
            <c:ext xmlns:c16="http://schemas.microsoft.com/office/drawing/2014/chart" uri="{C3380CC4-5D6E-409C-BE32-E72D297353CC}">
              <c16:uniqueId val="{00000001-9222-48AE-906C-E5AA7C635487}"/>
            </c:ext>
          </c:extLst>
        </c:ser>
        <c:dLbls>
          <c:showLegendKey val="0"/>
          <c:showVal val="0"/>
          <c:showCatName val="0"/>
          <c:showSerName val="0"/>
          <c:showPercent val="0"/>
          <c:showBubbleSize val="0"/>
        </c:dLbls>
        <c:axId val="418936735"/>
        <c:axId val="597566447"/>
      </c:scatterChart>
      <c:valAx>
        <c:axId val="41893673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zh-CN"/>
                  <a:t>lg</a:t>
                </a:r>
                <a:r>
                  <a:rPr lang="en-US" altLang="zh-CN" baseline="0"/>
                  <a:t> </a:t>
                </a:r>
                <a:r>
                  <a:rPr lang="en-US" altLang="zh-CN" i="1" baseline="0"/>
                  <a:t>r</a:t>
                </a:r>
                <a:endParaRPr lang="zh-CN" altLang="en-US" i="1"/>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97566447"/>
        <c:crosses val="autoZero"/>
        <c:crossBetween val="midCat"/>
      </c:valAx>
      <c:valAx>
        <c:axId val="5975664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zh-CN"/>
                  <a:t>lg</a:t>
                </a:r>
                <a:r>
                  <a:rPr lang="en-US" altLang="zh-CN" baseline="0"/>
                  <a:t> </a:t>
                </a:r>
                <a:r>
                  <a:rPr lang="en-US" altLang="zh-CN" i="1" baseline="0"/>
                  <a:t>T</a:t>
                </a:r>
                <a:endParaRPr lang="zh-CN" alt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418936735"/>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C00F81-D4BD-4F2A-83C1-8E0C686CA8DA}" type="datetimeFigureOut">
              <a:rPr lang="zh-CN" altLang="en-US" smtClean="0"/>
              <a:t>2025/11/6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8FE178-1842-46E9-B0CD-B1D07ED202A1}" type="slidenum">
              <a:rPr lang="zh-CN" altLang="en-US" smtClean="0"/>
              <a:t>‹#›</a:t>
            </a:fld>
            <a:endParaRPr lang="zh-CN" altLang="en-US"/>
          </a:p>
        </p:txBody>
      </p:sp>
    </p:spTree>
    <p:extLst>
      <p:ext uri="{BB962C8B-B14F-4D97-AF65-F5344CB8AC3E}">
        <p14:creationId xmlns:p14="http://schemas.microsoft.com/office/powerpoint/2010/main" val="47298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8FE178-1842-46E9-B0CD-B1D07ED202A1}" type="slidenum">
              <a:rPr lang="zh-CN" altLang="en-US" smtClean="0"/>
              <a:t>1</a:t>
            </a:fld>
            <a:endParaRPr lang="zh-CN" altLang="en-US"/>
          </a:p>
        </p:txBody>
      </p:sp>
    </p:spTree>
    <p:extLst>
      <p:ext uri="{BB962C8B-B14F-4D97-AF65-F5344CB8AC3E}">
        <p14:creationId xmlns:p14="http://schemas.microsoft.com/office/powerpoint/2010/main" val="28498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430BF-009E-0EEE-7340-08FCCDC8F2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3DE350-77FE-C0E1-9891-0136071807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393BDA-1070-94A7-8318-332795F2EE6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80FACC7-E55A-9372-4723-A2EE1CF40BAE}"/>
              </a:ext>
            </a:extLst>
          </p:cNvPr>
          <p:cNvSpPr>
            <a:spLocks noGrp="1"/>
          </p:cNvSpPr>
          <p:nvPr>
            <p:ph type="sldNum" sz="quarter" idx="5"/>
          </p:nvPr>
        </p:nvSpPr>
        <p:spPr/>
        <p:txBody>
          <a:bodyPr/>
          <a:lstStyle/>
          <a:p>
            <a:fld id="{838FE178-1842-46E9-B0CD-B1D07ED202A1}" type="slidenum">
              <a:rPr lang="zh-CN" altLang="en-US" smtClean="0"/>
              <a:t>2</a:t>
            </a:fld>
            <a:endParaRPr lang="zh-CN" altLang="en-US"/>
          </a:p>
        </p:txBody>
      </p:sp>
    </p:spTree>
    <p:extLst>
      <p:ext uri="{BB962C8B-B14F-4D97-AF65-F5344CB8AC3E}">
        <p14:creationId xmlns:p14="http://schemas.microsoft.com/office/powerpoint/2010/main" val="580266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8FE178-1842-46E9-B0CD-B1D07ED202A1}" type="slidenum">
              <a:rPr lang="zh-CN" altLang="en-US" smtClean="0"/>
              <a:t>3</a:t>
            </a:fld>
            <a:endParaRPr lang="zh-CN" altLang="en-US"/>
          </a:p>
        </p:txBody>
      </p:sp>
    </p:spTree>
    <p:extLst>
      <p:ext uri="{BB962C8B-B14F-4D97-AF65-F5344CB8AC3E}">
        <p14:creationId xmlns:p14="http://schemas.microsoft.com/office/powerpoint/2010/main" val="3340955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3CEF-FE84-057B-C5D6-17E8D73444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1CF4AB-0E55-AAB8-664A-B6CEE7670D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C8A6DD-F6E2-3465-CE38-B8E7AA4753C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6AC362D-4CEE-F80A-33E0-F013836E881D}"/>
              </a:ext>
            </a:extLst>
          </p:cNvPr>
          <p:cNvSpPr>
            <a:spLocks noGrp="1"/>
          </p:cNvSpPr>
          <p:nvPr>
            <p:ph type="sldNum" sz="quarter" idx="5"/>
          </p:nvPr>
        </p:nvSpPr>
        <p:spPr/>
        <p:txBody>
          <a:bodyPr/>
          <a:lstStyle/>
          <a:p>
            <a:fld id="{838FE178-1842-46E9-B0CD-B1D07ED202A1}" type="slidenum">
              <a:rPr lang="zh-CN" altLang="en-US" smtClean="0"/>
              <a:t>4</a:t>
            </a:fld>
            <a:endParaRPr lang="zh-CN" altLang="en-US"/>
          </a:p>
        </p:txBody>
      </p:sp>
    </p:spTree>
    <p:extLst>
      <p:ext uri="{BB962C8B-B14F-4D97-AF65-F5344CB8AC3E}">
        <p14:creationId xmlns:p14="http://schemas.microsoft.com/office/powerpoint/2010/main" val="3644506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3CEF-FE84-057B-C5D6-17E8D73444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1CF4AB-0E55-AAB8-664A-B6CEE7670D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C8A6DD-F6E2-3465-CE38-B8E7AA4753C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6AC362D-4CEE-F80A-33E0-F013836E881D}"/>
              </a:ext>
            </a:extLst>
          </p:cNvPr>
          <p:cNvSpPr>
            <a:spLocks noGrp="1"/>
          </p:cNvSpPr>
          <p:nvPr>
            <p:ph type="sldNum" sz="quarter" idx="5"/>
          </p:nvPr>
        </p:nvSpPr>
        <p:spPr/>
        <p:txBody>
          <a:bodyPr/>
          <a:lstStyle/>
          <a:p>
            <a:fld id="{838FE178-1842-46E9-B0CD-B1D07ED202A1}" type="slidenum">
              <a:rPr lang="zh-CN" altLang="en-US" smtClean="0"/>
              <a:t>5</a:t>
            </a:fld>
            <a:endParaRPr lang="zh-CN" altLang="en-US"/>
          </a:p>
        </p:txBody>
      </p:sp>
    </p:spTree>
    <p:extLst>
      <p:ext uri="{BB962C8B-B14F-4D97-AF65-F5344CB8AC3E}">
        <p14:creationId xmlns:p14="http://schemas.microsoft.com/office/powerpoint/2010/main" val="2850353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3CEF-FE84-057B-C5D6-17E8D73444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1CF4AB-0E55-AAB8-664A-B6CEE7670D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C8A6DD-F6E2-3465-CE38-B8E7AA4753C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6AC362D-4CEE-F80A-33E0-F013836E881D}"/>
              </a:ext>
            </a:extLst>
          </p:cNvPr>
          <p:cNvSpPr>
            <a:spLocks noGrp="1"/>
          </p:cNvSpPr>
          <p:nvPr>
            <p:ph type="sldNum" sz="quarter" idx="5"/>
          </p:nvPr>
        </p:nvSpPr>
        <p:spPr/>
        <p:txBody>
          <a:bodyPr/>
          <a:lstStyle/>
          <a:p>
            <a:fld id="{838FE178-1842-46E9-B0CD-B1D07ED202A1}" type="slidenum">
              <a:rPr lang="zh-CN" altLang="en-US" smtClean="0"/>
              <a:t>6</a:t>
            </a:fld>
            <a:endParaRPr lang="zh-CN" altLang="en-US"/>
          </a:p>
        </p:txBody>
      </p:sp>
    </p:spTree>
    <p:extLst>
      <p:ext uri="{BB962C8B-B14F-4D97-AF65-F5344CB8AC3E}">
        <p14:creationId xmlns:p14="http://schemas.microsoft.com/office/powerpoint/2010/main" val="2207943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3CEF-FE84-057B-C5D6-17E8D73444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1CF4AB-0E55-AAB8-664A-B6CEE7670D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C8A6DD-F6E2-3465-CE38-B8E7AA4753C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6AC362D-4CEE-F80A-33E0-F013836E881D}"/>
              </a:ext>
            </a:extLst>
          </p:cNvPr>
          <p:cNvSpPr>
            <a:spLocks noGrp="1"/>
          </p:cNvSpPr>
          <p:nvPr>
            <p:ph type="sldNum" sz="quarter" idx="5"/>
          </p:nvPr>
        </p:nvSpPr>
        <p:spPr/>
        <p:txBody>
          <a:bodyPr/>
          <a:lstStyle/>
          <a:p>
            <a:fld id="{838FE178-1842-46E9-B0CD-B1D07ED202A1}" type="slidenum">
              <a:rPr lang="zh-CN" altLang="en-US" smtClean="0"/>
              <a:t>7</a:t>
            </a:fld>
            <a:endParaRPr lang="zh-CN" altLang="en-US"/>
          </a:p>
        </p:txBody>
      </p:sp>
    </p:spTree>
    <p:extLst>
      <p:ext uri="{BB962C8B-B14F-4D97-AF65-F5344CB8AC3E}">
        <p14:creationId xmlns:p14="http://schemas.microsoft.com/office/powerpoint/2010/main" val="2109945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3CEF-FE84-057B-C5D6-17E8D73444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1CF4AB-0E55-AAB8-664A-B6CEE7670D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C8A6DD-F6E2-3465-CE38-B8E7AA4753C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6AC362D-4CEE-F80A-33E0-F013836E881D}"/>
              </a:ext>
            </a:extLst>
          </p:cNvPr>
          <p:cNvSpPr>
            <a:spLocks noGrp="1"/>
          </p:cNvSpPr>
          <p:nvPr>
            <p:ph type="sldNum" sz="quarter" idx="5"/>
          </p:nvPr>
        </p:nvSpPr>
        <p:spPr/>
        <p:txBody>
          <a:bodyPr/>
          <a:lstStyle/>
          <a:p>
            <a:fld id="{838FE178-1842-46E9-B0CD-B1D07ED202A1}" type="slidenum">
              <a:rPr lang="zh-CN" altLang="en-US" smtClean="0"/>
              <a:t>8</a:t>
            </a:fld>
            <a:endParaRPr lang="zh-CN" altLang="en-US"/>
          </a:p>
        </p:txBody>
      </p:sp>
    </p:spTree>
    <p:extLst>
      <p:ext uri="{BB962C8B-B14F-4D97-AF65-F5344CB8AC3E}">
        <p14:creationId xmlns:p14="http://schemas.microsoft.com/office/powerpoint/2010/main" val="1003200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C0A2C35-4E0F-4683-B993-68F19DD1860B}" type="slidenum">
              <a:rPr lang="zh-CN" altLang="en-US" smtClean="0"/>
              <a:t>9</a:t>
            </a:fld>
            <a:endParaRPr lang="zh-CN" altLang="en-US"/>
          </a:p>
        </p:txBody>
      </p:sp>
    </p:spTree>
    <p:extLst>
      <p:ext uri="{BB962C8B-B14F-4D97-AF65-F5344CB8AC3E}">
        <p14:creationId xmlns:p14="http://schemas.microsoft.com/office/powerpoint/2010/main" val="2095725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做一个网页</a:t>
            </a:r>
          </a:p>
        </p:txBody>
      </p:sp>
      <p:sp>
        <p:nvSpPr>
          <p:cNvPr id="4" name="灯片编号占位符 3"/>
          <p:cNvSpPr>
            <a:spLocks noGrp="1"/>
          </p:cNvSpPr>
          <p:nvPr>
            <p:ph type="sldNum" sz="quarter" idx="5"/>
          </p:nvPr>
        </p:nvSpPr>
        <p:spPr/>
        <p:txBody>
          <a:bodyPr/>
          <a:lstStyle/>
          <a:p>
            <a:fld id="{838FE178-1842-46E9-B0CD-B1D07ED202A1}" type="slidenum">
              <a:rPr lang="zh-CN" altLang="en-US" smtClean="0"/>
              <a:t>10</a:t>
            </a:fld>
            <a:endParaRPr lang="zh-CN" altLang="en-US"/>
          </a:p>
        </p:txBody>
      </p:sp>
    </p:spTree>
    <p:extLst>
      <p:ext uri="{BB962C8B-B14F-4D97-AF65-F5344CB8AC3E}">
        <p14:creationId xmlns:p14="http://schemas.microsoft.com/office/powerpoint/2010/main" val="2135416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8FE178-1842-46E9-B0CD-B1D07ED202A1}" type="slidenum">
              <a:rPr lang="zh-CN" altLang="en-US" smtClean="0"/>
              <a:t>14</a:t>
            </a:fld>
            <a:endParaRPr lang="zh-CN" altLang="en-US"/>
          </a:p>
        </p:txBody>
      </p:sp>
    </p:spTree>
    <p:extLst>
      <p:ext uri="{BB962C8B-B14F-4D97-AF65-F5344CB8AC3E}">
        <p14:creationId xmlns:p14="http://schemas.microsoft.com/office/powerpoint/2010/main" val="876392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nvSpPr>
        <p:spPr>
          <a:xfrm>
            <a:off x="342900" y="295275"/>
            <a:ext cx="11506200" cy="6267450"/>
          </a:xfrm>
          <a:prstGeom prst="rect">
            <a:avLst/>
          </a:prstGeom>
          <a:noFill/>
          <a:ln>
            <a:solidFill>
              <a:srgbClr val="3B46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8" name="组合 7"/>
          <p:cNvGrpSpPr/>
          <p:nvPr userDrawn="1"/>
        </p:nvGrpSpPr>
        <p:grpSpPr>
          <a:xfrm>
            <a:off x="-514350" y="0"/>
            <a:ext cx="4102950" cy="3581400"/>
            <a:chOff x="-610884" y="0"/>
            <a:chExt cx="4954284" cy="4324516"/>
          </a:xfrm>
        </p:grpSpPr>
        <p:sp>
          <p:nvSpPr>
            <p:cNvPr id="9" name="等腰三角形 8"/>
            <p:cNvSpPr/>
            <p:nvPr/>
          </p:nvSpPr>
          <p:spPr>
            <a:xfrm rot="5400000">
              <a:off x="9442" y="-9442"/>
              <a:ext cx="4324516" cy="4343400"/>
            </a:xfrm>
            <a:prstGeom prst="triangle">
              <a:avLst>
                <a:gd name="adj" fmla="val 0"/>
              </a:avLst>
            </a:prstGeom>
            <a:solidFill>
              <a:srgbClr val="3B46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任意多边形: 形状 9"/>
            <p:cNvSpPr/>
            <p:nvPr/>
          </p:nvSpPr>
          <p:spPr>
            <a:xfrm rot="2706533">
              <a:off x="713273" y="-615655"/>
              <a:ext cx="450863" cy="3099178"/>
            </a:xfrm>
            <a:custGeom>
              <a:avLst/>
              <a:gdLst>
                <a:gd name="connsiteX0" fmla="*/ 450863 w 450863"/>
                <a:gd name="connsiteY0" fmla="*/ 0 h 3099178"/>
                <a:gd name="connsiteX1" fmla="*/ 450863 w 450863"/>
                <a:gd name="connsiteY1" fmla="*/ 3099178 h 3099178"/>
                <a:gd name="connsiteX2" fmla="*/ 0 w 450863"/>
                <a:gd name="connsiteY2" fmla="*/ 2650025 h 3099178"/>
                <a:gd name="connsiteX3" fmla="*/ 0 w 450863"/>
                <a:gd name="connsiteY3" fmla="*/ 452580 h 3099178"/>
              </a:gdLst>
              <a:ahLst/>
              <a:cxnLst>
                <a:cxn ang="0">
                  <a:pos x="connsiteX0" y="connsiteY0"/>
                </a:cxn>
                <a:cxn ang="0">
                  <a:pos x="connsiteX1" y="connsiteY1"/>
                </a:cxn>
                <a:cxn ang="0">
                  <a:pos x="connsiteX2" y="connsiteY2"/>
                </a:cxn>
                <a:cxn ang="0">
                  <a:pos x="connsiteX3" y="connsiteY3"/>
                </a:cxn>
              </a:cxnLst>
              <a:rect l="l" t="t" r="r" b="b"/>
              <a:pathLst>
                <a:path w="450863" h="3099178">
                  <a:moveTo>
                    <a:pt x="450863" y="0"/>
                  </a:moveTo>
                  <a:lnTo>
                    <a:pt x="450863" y="3099178"/>
                  </a:lnTo>
                  <a:lnTo>
                    <a:pt x="0" y="2650025"/>
                  </a:lnTo>
                  <a:lnTo>
                    <a:pt x="0" y="452580"/>
                  </a:lnTo>
                  <a:close/>
                </a:path>
              </a:pathLst>
            </a:custGeom>
            <a:solidFill>
              <a:srgbClr val="FEBF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1" name="组合 10"/>
          <p:cNvGrpSpPr/>
          <p:nvPr userDrawn="1"/>
        </p:nvGrpSpPr>
        <p:grpSpPr>
          <a:xfrm>
            <a:off x="8921496" y="3600450"/>
            <a:ext cx="3716531" cy="3257550"/>
            <a:chOff x="8921496" y="3600450"/>
            <a:chExt cx="3716531" cy="3257550"/>
          </a:xfrm>
        </p:grpSpPr>
        <p:sp>
          <p:nvSpPr>
            <p:cNvPr id="12" name="等腰三角形 11"/>
            <p:cNvSpPr/>
            <p:nvPr/>
          </p:nvSpPr>
          <p:spPr>
            <a:xfrm>
              <a:off x="8921496" y="3600450"/>
              <a:ext cx="3270504" cy="3257550"/>
            </a:xfrm>
            <a:prstGeom prst="triangle">
              <a:avLst>
                <a:gd name="adj" fmla="val 100000"/>
              </a:avLst>
            </a:prstGeom>
            <a:solidFill>
              <a:srgbClr val="3B46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任意多边形: 形状 12"/>
            <p:cNvSpPr/>
            <p:nvPr/>
          </p:nvSpPr>
          <p:spPr>
            <a:xfrm rot="2706533">
              <a:off x="11275249" y="4817318"/>
              <a:ext cx="235184" cy="2490372"/>
            </a:xfrm>
            <a:custGeom>
              <a:avLst/>
              <a:gdLst>
                <a:gd name="connsiteX0" fmla="*/ 0 w 235184"/>
                <a:gd name="connsiteY0" fmla="*/ 0 h 2490372"/>
                <a:gd name="connsiteX1" fmla="*/ 235184 w 235184"/>
                <a:gd name="connsiteY1" fmla="*/ 234292 h 2490372"/>
                <a:gd name="connsiteX2" fmla="*/ 235184 w 235184"/>
                <a:gd name="connsiteY2" fmla="*/ 2254292 h 2490372"/>
                <a:gd name="connsiteX3" fmla="*/ 0 w 235184"/>
                <a:gd name="connsiteY3" fmla="*/ 2490372 h 2490372"/>
              </a:gdLst>
              <a:ahLst/>
              <a:cxnLst>
                <a:cxn ang="0">
                  <a:pos x="connsiteX0" y="connsiteY0"/>
                </a:cxn>
                <a:cxn ang="0">
                  <a:pos x="connsiteX1" y="connsiteY1"/>
                </a:cxn>
                <a:cxn ang="0">
                  <a:pos x="connsiteX2" y="connsiteY2"/>
                </a:cxn>
                <a:cxn ang="0">
                  <a:pos x="connsiteX3" y="connsiteY3"/>
                </a:cxn>
              </a:cxnLst>
              <a:rect l="l" t="t" r="r" b="b"/>
              <a:pathLst>
                <a:path w="235184" h="2490372">
                  <a:moveTo>
                    <a:pt x="0" y="0"/>
                  </a:moveTo>
                  <a:lnTo>
                    <a:pt x="235184" y="234292"/>
                  </a:lnTo>
                  <a:lnTo>
                    <a:pt x="235184" y="2254292"/>
                  </a:lnTo>
                  <a:lnTo>
                    <a:pt x="0" y="2490372"/>
                  </a:lnTo>
                  <a:close/>
                </a:path>
              </a:pathLst>
            </a:custGeom>
            <a:solidFill>
              <a:srgbClr val="FEBF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6E635DD-ECE0-468F-A734-1F5497F8286D}"/>
              </a:ext>
            </a:extLst>
          </p:cNvPr>
          <p:cNvSpPr/>
          <p:nvPr userDrawn="1"/>
        </p:nvSpPr>
        <p:spPr>
          <a:xfrm>
            <a:off x="282134" y="1046841"/>
            <a:ext cx="11627732" cy="83396"/>
          </a:xfrm>
          <a:prstGeom prst="rect">
            <a:avLst/>
          </a:prstGeom>
          <a:solidFill>
            <a:srgbClr val="3B46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 name="图片 1">
            <a:extLst>
              <a:ext uri="{FF2B5EF4-FFF2-40B4-BE49-F238E27FC236}">
                <a16:creationId xmlns:a16="http://schemas.microsoft.com/office/drawing/2014/main" id="{31312AEC-3AE4-45D7-A66F-B1D81FF7F6AA}"/>
              </a:ext>
            </a:extLst>
          </p:cNvPr>
          <p:cNvPicPr>
            <a:picLocks noChangeAspect="1"/>
          </p:cNvPicPr>
          <p:nvPr userDrawn="1"/>
        </p:nvPicPr>
        <p:blipFill>
          <a:blip r:embed="rId2"/>
          <a:stretch>
            <a:fillRect/>
          </a:stretch>
        </p:blipFill>
        <p:spPr>
          <a:xfrm>
            <a:off x="9815595" y="678871"/>
            <a:ext cx="2181666" cy="23834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6349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26EE5-BE8F-E3CB-581C-4568B9B3B4E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0681E7-7BC2-2C43-D6BD-6FE28700F18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91FF0A-BE71-8FB3-93E1-3B52C2837DFF}"/>
              </a:ext>
            </a:extLst>
          </p:cNvPr>
          <p:cNvSpPr>
            <a:spLocks noGrp="1"/>
          </p:cNvSpPr>
          <p:nvPr>
            <p:ph type="dt" sz="half" idx="10"/>
          </p:nvPr>
        </p:nvSpPr>
        <p:spPr/>
        <p:txBody>
          <a:bodyPr/>
          <a:lstStyle/>
          <a:p>
            <a:fld id="{1E1E08B3-C575-4C6D-82BD-C6FC3CF4AA11}" type="datetimeFigureOut">
              <a:rPr lang="zh-CN" altLang="en-US" smtClean="0"/>
              <a:t>2025/11/6</a:t>
            </a:fld>
            <a:endParaRPr lang="zh-CN" altLang="en-US"/>
          </a:p>
        </p:txBody>
      </p:sp>
      <p:sp>
        <p:nvSpPr>
          <p:cNvPr id="5" name="页脚占位符 4">
            <a:extLst>
              <a:ext uri="{FF2B5EF4-FFF2-40B4-BE49-F238E27FC236}">
                <a16:creationId xmlns:a16="http://schemas.microsoft.com/office/drawing/2014/main" id="{3A9C5C90-3D8A-5C75-D672-1373F99FF7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3F5501-0BAC-3D6B-3D52-33E0CDC54682}"/>
              </a:ext>
            </a:extLst>
          </p:cNvPr>
          <p:cNvSpPr>
            <a:spLocks noGrp="1"/>
          </p:cNvSpPr>
          <p:nvPr>
            <p:ph type="sldNum" sz="quarter" idx="12"/>
          </p:nvPr>
        </p:nvSpPr>
        <p:spPr/>
        <p:txBody>
          <a:bodyPr/>
          <a:lstStyle/>
          <a:p>
            <a:fld id="{586E6DB7-E03E-40C7-AA48-8F0A8D5184E4}" type="slidenum">
              <a:rPr lang="zh-CN" altLang="en-US" smtClean="0"/>
              <a:t>‹#›</a:t>
            </a:fld>
            <a:endParaRPr lang="zh-CN" altLang="en-US"/>
          </a:p>
        </p:txBody>
      </p:sp>
    </p:spTree>
    <p:extLst>
      <p:ext uri="{BB962C8B-B14F-4D97-AF65-F5344CB8AC3E}">
        <p14:creationId xmlns:p14="http://schemas.microsoft.com/office/powerpoint/2010/main" val="762900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2" name="矩形 1"/>
          <p:cNvSpPr/>
          <p:nvPr userDrawn="1"/>
        </p:nvSpPr>
        <p:spPr>
          <a:xfrm>
            <a:off x="304800" y="0"/>
            <a:ext cx="550779" cy="9518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图片占位符 4"/>
          <p:cNvSpPr>
            <a:spLocks noGrp="1"/>
          </p:cNvSpPr>
          <p:nvPr>
            <p:ph type="pic" sz="quarter" idx="10"/>
          </p:nvPr>
        </p:nvSpPr>
        <p:spPr>
          <a:xfrm>
            <a:off x="7860272" y="1160017"/>
            <a:ext cx="4026928" cy="5184559"/>
          </a:xfrm>
          <a:prstGeom prst="roundRect">
            <a:avLst>
              <a:gd name="adj" fmla="val 4027"/>
            </a:avLst>
          </a:prstGeom>
        </p:spPr>
        <p:txBody>
          <a:bodyPr/>
          <a:lstStyle/>
          <a:p>
            <a:endParaRPr lang="zh-CN" altLang="en-US"/>
          </a:p>
        </p:txBody>
      </p:sp>
    </p:spTree>
    <p:extLst>
      <p:ext uri="{BB962C8B-B14F-4D97-AF65-F5344CB8AC3E}">
        <p14:creationId xmlns:p14="http://schemas.microsoft.com/office/powerpoint/2010/main" val="2765096125"/>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0.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3.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8" Type="http://schemas.openxmlformats.org/officeDocument/2006/relationships/image" Target="../media/image9.gif"/><Relationship Id="rId3" Type="http://schemas.microsoft.com/office/2007/relationships/media" Target="../media/media2.mp4"/><Relationship Id="rId7" Type="http://schemas.openxmlformats.org/officeDocument/2006/relationships/notesSlide" Target="../notesSlides/notesSlide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11" Type="http://schemas.openxmlformats.org/officeDocument/2006/relationships/image" Target="../media/image12.png"/><Relationship Id="rId5" Type="http://schemas.openxmlformats.org/officeDocument/2006/relationships/tags" Target="../tags/tag4.xml"/><Relationship Id="rId10" Type="http://schemas.openxmlformats.org/officeDocument/2006/relationships/image" Target="../media/image11.png"/><Relationship Id="rId4" Type="http://schemas.openxmlformats.org/officeDocument/2006/relationships/video" Target="../media/media2.mp4"/><Relationship Id="rId9" Type="http://schemas.openxmlformats.org/officeDocument/2006/relationships/image" Target="../media/image10.gif"/></Relationships>
</file>

<file path=ppt/slides/_rels/slide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tags" Target="../tags/tag5.xml"/><Relationship Id="rId7" Type="http://schemas.openxmlformats.org/officeDocument/2006/relationships/image" Target="../media/image14.jpe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3.jpeg"/><Relationship Id="rId5" Type="http://schemas.openxmlformats.org/officeDocument/2006/relationships/notesSlide" Target="../notesSlides/notesSlide7.xml"/><Relationship Id="rId4" Type="http://schemas.openxmlformats.org/officeDocument/2006/relationships/slideLayout" Target="../slideLayouts/slideLayout2.xm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tags" Target="../tags/tag8.xml"/><Relationship Id="rId7" Type="http://schemas.openxmlformats.org/officeDocument/2006/relationships/tags" Target="../tags/tag70.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tags" Target="../tags/tag11.xml"/><Relationship Id="rId7" Type="http://schemas.openxmlformats.org/officeDocument/2006/relationships/tags" Target="../tags/tag70.xml"/><Relationship Id="rId12" Type="http://schemas.openxmlformats.org/officeDocument/2006/relationships/image" Target="../media/image20.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Layout" Target="../slideLayouts/slideLayout2.xml"/><Relationship Id="rId11" Type="http://schemas.openxmlformats.org/officeDocument/2006/relationships/tags" Target="../tags/tag11.xml"/><Relationship Id="rId5" Type="http://schemas.openxmlformats.org/officeDocument/2006/relationships/tags" Target="../tags/tag13.xml"/><Relationship Id="rId10" Type="http://schemas.openxmlformats.org/officeDocument/2006/relationships/image" Target="../media/image19.png"/><Relationship Id="rId4" Type="http://schemas.openxmlformats.org/officeDocument/2006/relationships/tags" Target="../tags/tag12.xml"/><Relationship Id="rId9" Type="http://schemas.openxmlformats.org/officeDocument/2006/relationships/tags" Target="../tags/tag10.xml"/></Relationships>
</file>

<file path=ppt/slides/_rels/slide14.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notesSlide" Target="../notesSlides/notesSlide11.xml"/><Relationship Id="rId5" Type="http://schemas.openxmlformats.org/officeDocument/2006/relationships/slideLayout" Target="../slideLayouts/slideLayout2.xml"/><Relationship Id="rId10" Type="http://schemas.openxmlformats.org/officeDocument/2006/relationships/image" Target="../media/image23.png"/><Relationship Id="rId4" Type="http://schemas.openxmlformats.org/officeDocument/2006/relationships/tags" Target="../tags/tag17.xml"/><Relationship Id="rId9" Type="http://schemas.openxmlformats.org/officeDocument/2006/relationships/image" Target="../media/image190.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72404" y="1451894"/>
            <a:ext cx="11248291" cy="3887081"/>
            <a:chOff x="2190963" y="1878316"/>
            <a:chExt cx="8225790" cy="3887081"/>
          </a:xfrm>
        </p:grpSpPr>
        <p:sp>
          <p:nvSpPr>
            <p:cNvPr id="19" name="矩形 18"/>
            <p:cNvSpPr/>
            <p:nvPr/>
          </p:nvSpPr>
          <p:spPr>
            <a:xfrm>
              <a:off x="2190963" y="1878316"/>
              <a:ext cx="8225790" cy="2177391"/>
            </a:xfrm>
            <a:prstGeom prst="rect">
              <a:avLst/>
            </a:prstGeom>
            <a:effectLst/>
          </p:spPr>
          <p:txBody>
            <a:bodyPr wrap="square">
              <a:spAutoFit/>
            </a:bodyPr>
            <a:lstStyle/>
            <a:p>
              <a:pPr>
                <a:lnSpc>
                  <a:spcPct val="150000"/>
                </a:lnSpc>
              </a:pPr>
              <a:r>
                <a:rPr lang="en-US" altLang="zh-CN" sz="4800" b="1" dirty="0">
                  <a:solidFill>
                    <a:srgbClr val="3B4660"/>
                  </a:solidFill>
                  <a:latin typeface="Times New Roman" panose="02020603050405020304" pitchFamily="18" charset="0"/>
                  <a:cs typeface="+mn-ea"/>
                  <a:sym typeface="+mn-lt"/>
                </a:rPr>
                <a:t>		</a:t>
              </a:r>
              <a:r>
                <a:rPr lang="zh-CN" altLang="en-US" sz="4800" b="1" dirty="0">
                  <a:solidFill>
                    <a:srgbClr val="3B4660"/>
                  </a:solidFill>
                  <a:latin typeface="Times New Roman" panose="02020603050405020304" pitchFamily="18" charset="0"/>
                  <a:cs typeface="+mn-ea"/>
                  <a:sym typeface="+mn-lt"/>
                </a:rPr>
                <a:t>挑战任务</a:t>
              </a:r>
              <a:r>
                <a:rPr lang="en-US" altLang="zh-CN" sz="4800" b="1" dirty="0">
                  <a:solidFill>
                    <a:srgbClr val="3B4660"/>
                  </a:solidFill>
                  <a:latin typeface="Times New Roman" panose="02020603050405020304" pitchFamily="18" charset="0"/>
                  <a:cs typeface="+mn-ea"/>
                  <a:sym typeface="+mn-lt"/>
                </a:rPr>
                <a:t>2——</a:t>
              </a:r>
            </a:p>
            <a:p>
              <a:pPr algn="ctr">
                <a:lnSpc>
                  <a:spcPct val="150000"/>
                </a:lnSpc>
              </a:pPr>
              <a:r>
                <a:rPr lang="en-US" altLang="zh-CN" sz="4800" b="1" dirty="0">
                  <a:solidFill>
                    <a:srgbClr val="3B4660"/>
                  </a:solidFill>
                  <a:latin typeface="Times New Roman" panose="02020603050405020304" pitchFamily="18" charset="0"/>
                  <a:cs typeface="+mn-ea"/>
                  <a:sym typeface="+mn-lt"/>
                </a:rPr>
                <a:t>			</a:t>
              </a:r>
              <a:r>
                <a:rPr lang="zh-CN" altLang="en-US" sz="4800" b="1" dirty="0">
                  <a:solidFill>
                    <a:srgbClr val="3B4660"/>
                  </a:solidFill>
                  <a:latin typeface="Times New Roman" panose="02020603050405020304" pitchFamily="18" charset="0"/>
                  <a:cs typeface="+mn-ea"/>
                  <a:sym typeface="+mn-lt"/>
                </a:rPr>
                <a:t>神秘空间的引力规律</a:t>
              </a:r>
              <a:endParaRPr lang="en-US" altLang="zh-CN" sz="4800" b="1" dirty="0">
                <a:solidFill>
                  <a:srgbClr val="3B4660"/>
                </a:solidFill>
                <a:latin typeface="Times New Roman" panose="02020603050405020304" pitchFamily="18" charset="0"/>
                <a:ea typeface="+mj-ea"/>
                <a:cs typeface="Times New Roman" panose="02020603050405020304" pitchFamily="18" charset="0"/>
                <a:sym typeface="+mn-lt"/>
              </a:endParaRPr>
            </a:p>
          </p:txBody>
        </p:sp>
        <p:cxnSp>
          <p:nvCxnSpPr>
            <p:cNvPr id="21" name="直接连接符 20"/>
            <p:cNvCxnSpPr/>
            <p:nvPr/>
          </p:nvCxnSpPr>
          <p:spPr>
            <a:xfrm>
              <a:off x="2927120" y="4642338"/>
              <a:ext cx="6515676" cy="0"/>
            </a:xfrm>
            <a:prstGeom prst="line">
              <a:avLst/>
            </a:prstGeom>
            <a:ln>
              <a:solidFill>
                <a:srgbClr val="3B4660"/>
              </a:solidFill>
              <a:prstDash val="solid"/>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300585" y="4805069"/>
              <a:ext cx="7859486" cy="960328"/>
            </a:xfrm>
            <a:prstGeom prst="rect">
              <a:avLst/>
            </a:prstGeom>
            <a:noFill/>
          </p:spPr>
          <p:txBody>
            <a:bodyPr wrap="square" rtlCol="0">
              <a:spAutoFit/>
            </a:bodyPr>
            <a:lstStyle/>
            <a:p>
              <a:pPr algn="ctr">
                <a:lnSpc>
                  <a:spcPct val="150000"/>
                </a:lnSpc>
              </a:pPr>
              <a:r>
                <a:rPr lang="zh-CN" altLang="en-US" sz="2000" b="1" dirty="0">
                  <a:solidFill>
                    <a:schemeClr val="tx1">
                      <a:lumMod val="65000"/>
                      <a:lumOff val="35000"/>
                    </a:schemeClr>
                  </a:solidFill>
                  <a:latin typeface="Times New Roman" panose="02020603050405020304" pitchFamily="18" charset="0"/>
                  <a:ea typeface="+mj-ea"/>
                  <a:cs typeface="Times New Roman" panose="02020603050405020304" pitchFamily="18" charset="0"/>
                  <a:sym typeface="+mn-lt"/>
                </a:rPr>
                <a:t>李怡然</a:t>
              </a:r>
              <a:endParaRPr lang="en-US" altLang="zh-CN" sz="2000" b="1" dirty="0">
                <a:solidFill>
                  <a:schemeClr val="tx1">
                    <a:lumMod val="65000"/>
                    <a:lumOff val="35000"/>
                  </a:schemeClr>
                </a:solidFill>
                <a:latin typeface="Times New Roman" panose="02020603050405020304" pitchFamily="18" charset="0"/>
                <a:ea typeface="+mj-ea"/>
                <a:cs typeface="Times New Roman" panose="02020603050405020304" pitchFamily="18" charset="0"/>
                <a:sym typeface="+mn-lt"/>
              </a:endParaRPr>
            </a:p>
            <a:p>
              <a:pPr algn="ctr">
                <a:lnSpc>
                  <a:spcPct val="150000"/>
                </a:lnSpc>
              </a:pPr>
              <a:r>
                <a:rPr lang="en-US" altLang="zh-CN" sz="2000" b="1" dirty="0">
                  <a:solidFill>
                    <a:schemeClr val="tx1">
                      <a:lumMod val="65000"/>
                      <a:lumOff val="35000"/>
                    </a:schemeClr>
                  </a:solidFill>
                  <a:latin typeface="Times New Roman" panose="02020603050405020304" pitchFamily="18" charset="0"/>
                  <a:ea typeface="+mj-ea"/>
                  <a:cs typeface="Times New Roman" panose="02020603050405020304" pitchFamily="18" charset="0"/>
                  <a:sym typeface="+mn-lt"/>
                </a:rPr>
                <a:t>2025.11.15</a:t>
              </a:r>
            </a:p>
          </p:txBody>
        </p:sp>
      </p:grpSp>
      <p:pic>
        <p:nvPicPr>
          <p:cNvPr id="2" name="图片 1">
            <a:extLst>
              <a:ext uri="{FF2B5EF4-FFF2-40B4-BE49-F238E27FC236}">
                <a16:creationId xmlns:a16="http://schemas.microsoft.com/office/drawing/2014/main" id="{933CDD82-218D-491D-BEE5-245B8870A0AA}"/>
              </a:ext>
            </a:extLst>
          </p:cNvPr>
          <p:cNvPicPr>
            <a:picLocks noChangeAspect="1"/>
          </p:cNvPicPr>
          <p:nvPr/>
        </p:nvPicPr>
        <p:blipFill>
          <a:blip r:embed="rId3"/>
          <a:stretch>
            <a:fillRect/>
          </a:stretch>
        </p:blipFill>
        <p:spPr>
          <a:xfrm>
            <a:off x="3990136" y="5501705"/>
            <a:ext cx="4211727" cy="4601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7F576-2CD9-17F1-66E4-8C8171AABEE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0D12549-CFE4-BDB7-52C4-B138DE89701C}"/>
              </a:ext>
            </a:extLst>
          </p:cNvPr>
          <p:cNvSpPr txBox="1"/>
          <p:nvPr/>
        </p:nvSpPr>
        <p:spPr>
          <a:xfrm>
            <a:off x="334976" y="225894"/>
            <a:ext cx="7340471" cy="646331"/>
          </a:xfrm>
          <a:prstGeom prst="rect">
            <a:avLst/>
          </a:prstGeom>
          <a:noFill/>
        </p:spPr>
        <p:txBody>
          <a:bodyPr wrap="none" rtlCol="0">
            <a:spAutoFit/>
          </a:bodyPr>
          <a:lstStyle/>
          <a:p>
            <a:r>
              <a:rPr lang="zh-CN" altLang="en-US" sz="3600" b="1" dirty="0">
                <a:solidFill>
                  <a:srgbClr val="3B4660"/>
                </a:solidFill>
                <a:latin typeface="Times New Roman" panose="02020603050405020304" pitchFamily="18" charset="0"/>
                <a:cs typeface="+mn-ea"/>
                <a:sym typeface="+mn-lt"/>
              </a:rPr>
              <a:t>挑战任务</a:t>
            </a:r>
            <a:r>
              <a:rPr lang="en-US" altLang="zh-CN" sz="3600" b="1" dirty="0">
                <a:solidFill>
                  <a:srgbClr val="3B4660"/>
                </a:solidFill>
                <a:latin typeface="Times New Roman" panose="02020603050405020304" pitchFamily="18" charset="0"/>
                <a:cs typeface="+mn-ea"/>
                <a:sym typeface="+mn-lt"/>
              </a:rPr>
              <a:t>2——</a:t>
            </a:r>
            <a:r>
              <a:rPr lang="zh-CN" altLang="en-US" sz="3600" b="1" dirty="0">
                <a:solidFill>
                  <a:srgbClr val="3B4660"/>
                </a:solidFill>
                <a:latin typeface="Times New Roman" panose="02020603050405020304" pitchFamily="18" charset="0"/>
                <a:cs typeface="+mn-ea"/>
                <a:sym typeface="+mn-lt"/>
              </a:rPr>
              <a:t>神秘</a:t>
            </a:r>
            <a:r>
              <a:rPr lang="zh-CN" altLang="en-US" sz="3600" b="1">
                <a:solidFill>
                  <a:srgbClr val="3B4660"/>
                </a:solidFill>
                <a:latin typeface="Times New Roman" panose="02020603050405020304" pitchFamily="18" charset="0"/>
                <a:cs typeface="+mn-ea"/>
                <a:sym typeface="+mn-lt"/>
              </a:rPr>
              <a:t>空间的引力规律</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mc:AlternateContent xmlns:mc="http://schemas.openxmlformats.org/markup-compatibility/2006" xmlns:a14="http://schemas.microsoft.com/office/drawing/2010/main">
        <mc:Choice Requires="a14">
          <p:sp>
            <p:nvSpPr>
              <p:cNvPr id="7" name="Rectangle 4">
                <a:extLst>
                  <a:ext uri="{FF2B5EF4-FFF2-40B4-BE49-F238E27FC236}">
                    <a16:creationId xmlns:a16="http://schemas.microsoft.com/office/drawing/2014/main" id="{C864F992-4272-42AA-8F64-5963C8062AA7}"/>
                  </a:ext>
                </a:extLst>
              </p:cNvPr>
              <p:cNvSpPr>
                <a:spLocks noChangeArrowheads="1"/>
              </p:cNvSpPr>
              <p:nvPr/>
            </p:nvSpPr>
            <p:spPr bwMode="auto">
              <a:xfrm>
                <a:off x="334977" y="1220394"/>
                <a:ext cx="7244542" cy="536685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spcBef>
                    <a:spcPts val="600"/>
                  </a:spcBef>
                  <a:spcAft>
                    <a:spcPts val="600"/>
                  </a:spcAft>
                </a:pPr>
                <a:r>
                  <a:rPr lang="en-US" altLang="zh-CN" sz="2000" dirty="0">
                    <a:latin typeface="等线" panose="02010600030101010101" pitchFamily="2" charset="-122"/>
                    <a:ea typeface="等线" panose="02010600030101010101" pitchFamily="2" charset="-122"/>
                  </a:rPr>
                  <a:t>   </a:t>
                </a:r>
                <a:r>
                  <a:rPr lang="en-US" altLang="zh-CN" sz="2000" dirty="0">
                    <a:solidFill>
                      <a:schemeClr val="tx1"/>
                    </a:solidFill>
                    <a:latin typeface="等线" panose="02010600030101010101" pitchFamily="2" charset="-122"/>
                    <a:ea typeface="等线" panose="02010600030101010101" pitchFamily="2" charset="-122"/>
                  </a:rPr>
                  <a:t>     </a:t>
                </a:r>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在我们熟悉的太阳系里，行星绕着太阳转，月亮绕着地球转，它们都遵循一个重要的规律：离中心天体越远（绕转半径 </a:t>
                </a:r>
                <a:r>
                  <a:rPr lang="zh-CN"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𝑟</m:t>
                    </m:r>
                  </m:oMath>
                </a14:m>
                <a:r>
                  <a:rPr lang="en-US"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 越大），绕一圈所需的时间（绕转周期</a:t>
                </a:r>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 </a:t>
                </a:r>
                <a14:m>
                  <m:oMath xmlns:m="http://schemas.openxmlformats.org/officeDocument/2006/math">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𝑇</m:t>
                    </m:r>
                  </m:oMath>
                </a14:m>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 ）越长。这个周期和半径有个明确的定量关系：</a:t>
                </a:r>
                <a:r>
                  <a:rPr lang="zh-CN"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周期</a:t>
                </a:r>
                <a:r>
                  <a:rPr lang="zh-CN"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𝑇</m:t>
                    </m:r>
                  </m:oMath>
                </a14:m>
                <a:r>
                  <a:rPr lang="en-US"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的平方与其绕转半径</a:t>
                </a:r>
                <a:r>
                  <a:rPr lang="zh-CN"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𝑟</m:t>
                    </m:r>
                  </m:oMath>
                </a14:m>
                <a:r>
                  <a:rPr lang="en-US"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的立方成正比（</a:t>
                </a:r>
                <a:r>
                  <a:rPr lang="zh-CN"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sSup>
                      <m:sSupPr>
                        <m:ctrlPr>
                          <a:rPr lang="zh-CN" altLang="zh-CN" sz="20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𝑇</m:t>
                        </m:r>
                      </m:e>
                      <m:sup>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0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𝑟</m:t>
                        </m:r>
                      </m:e>
                      <m:sup>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3</m:t>
                        </m:r>
                      </m:sup>
                    </m:sSup>
                  </m:oMath>
                </a14:m>
                <a:r>
                  <a:rPr lang="en-US"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a:t>
                </a:r>
                <a:r>
                  <a:rPr lang="zh-CN" altLang="en-US" sz="2000" kern="100" dirty="0">
                    <a:latin typeface="等线" panose="02010600030101010101" pitchFamily="2" charset="-122"/>
                    <a:ea typeface="等线" panose="02010600030101010101" pitchFamily="2" charset="-122"/>
                    <a:cs typeface="Arial" panose="020B0604020202020204" pitchFamily="34" charset="0"/>
                  </a:rPr>
                  <a:t>或者等价的，</a:t>
                </a:r>
                <a14:m>
                  <m:oMath xmlns:m="http://schemas.openxmlformats.org/officeDocument/2006/math">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𝑇</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𝑘</m:t>
                    </m:r>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𝑟</m:t>
                        </m:r>
                      </m:e>
                      <m:sup>
                        <m:r>
                          <a:rPr lang="en-US" altLang="zh-CN" sz="2000" b="0" i="1" kern="100" smtClean="0">
                            <a:latin typeface="Cambria Math" panose="02040503050406030204" pitchFamily="18" charset="0"/>
                            <a:ea typeface="等线" panose="02010600030101010101" pitchFamily="2" charset="-122"/>
                            <a:cs typeface="Times New Roman" panose="02020603050405020304" pitchFamily="18" charset="0"/>
                          </a:rPr>
                          <m:t>3/2</m:t>
                        </m:r>
                      </m:sup>
                    </m:sSup>
                  </m:oMath>
                </a14:m>
                <a:r>
                  <a:rPr lang="zh-CN" altLang="en-US" sz="2000" dirty="0"/>
                  <a:t> 。</a:t>
                </a:r>
                <a:r>
                  <a:rPr lang="zh-CN"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这个物理规律被称为</a:t>
                </a:r>
                <a:r>
                  <a:rPr lang="zh-CN" altLang="zh-CN" sz="2000" kern="100" dirty="0">
                    <a:solidFill>
                      <a:srgbClr val="FF0000"/>
                    </a:solidFill>
                    <a:latin typeface="等线" panose="02010600030101010101" pitchFamily="2" charset="-122"/>
                    <a:ea typeface="等线" panose="02010600030101010101" pitchFamily="2" charset="-122"/>
                    <a:cs typeface="Arial" panose="020B0604020202020204" pitchFamily="34" charset="0"/>
                  </a:rPr>
                  <a:t>开普勒第三定律</a:t>
                </a:r>
                <a:r>
                  <a:rPr lang="zh-CN"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a:t>
                </a:r>
                <a:endParaRPr lang="en-US"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endParaRPr>
              </a:p>
              <a:p>
                <a:pPr lvl="0">
                  <a:spcBef>
                    <a:spcPts val="600"/>
                  </a:spcBef>
                  <a:spcAft>
                    <a:spcPts val="600"/>
                  </a:spcAft>
                </a:pPr>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        </a:t>
                </a:r>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天文学家在最近的深空观测中发现了若干个特殊的星系系统，这些系统存在一些异常的行为。天文学家通过高精度望远镜获得了这些系统中所有星系的天体轨道数据</a:t>
                </a:r>
                <a:r>
                  <a:rPr lang="zh-CN"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（周期</a:t>
                </a:r>
                <a:r>
                  <a:rPr lang="zh-CN"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𝑇</m:t>
                    </m:r>
                  </m:oMath>
                </a14:m>
                <a:r>
                  <a:rPr lang="en-US"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和半径</a:t>
                </a:r>
                <a:r>
                  <a:rPr lang="zh-CN"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𝑟</m:t>
                    </m:r>
                  </m:oMath>
                </a14:m>
                <a:r>
                  <a:rPr lang="en-US" altLang="zh-CN" sz="20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a:t>
                </a:r>
                <a:r>
                  <a:rPr lang="zh-CN" altLang="en-US" sz="2000" kern="100" dirty="0">
                    <a:solidFill>
                      <a:schemeClr val="tx1"/>
                    </a:solidFill>
                    <a:latin typeface="等线" panose="02010600030101010101" pitchFamily="2" charset="-122"/>
                    <a:ea typeface="等线" panose="02010600030101010101" pitchFamily="2" charset="-122"/>
                    <a:cs typeface="Arial" panose="020B0604020202020204" pitchFamily="34" charset="0"/>
                  </a:rPr>
                  <a:t>，</a:t>
                </a:r>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如图所示。</a:t>
                </a:r>
                <a:endPar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a:p>
                <a:pPr lvl="0">
                  <a:spcBef>
                    <a:spcPts val="600"/>
                  </a:spcBef>
                  <a:spcAft>
                    <a:spcPts val="600"/>
                  </a:spcAft>
                </a:pPr>
                <a:r>
                  <a:rPr lang="en-US" altLang="zh-CN" sz="2000" dirty="0">
                    <a:solidFill>
                      <a:schemeClr val="tx1"/>
                    </a:solidFill>
                    <a:latin typeface="等线" panose="02010600030101010101" pitchFamily="2" charset="-122"/>
                    <a:ea typeface="等线" panose="02010600030101010101" pitchFamily="2" charset="-122"/>
                  </a:rPr>
                  <a:t>        </a:t>
                </a:r>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天文学家猜测星系中占绝大部分的群体</a:t>
                </a:r>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 </a:t>
                </a:r>
                <a:r>
                  <a:rPr lang="en-US" altLang="zh-CN" sz="2000" i="1" dirty="0">
                    <a:solidFill>
                      <a:schemeClr val="tx1"/>
                    </a:solidFill>
                    <a:latin typeface="等线" panose="02010600030101010101" pitchFamily="2" charset="-122"/>
                    <a:ea typeface="等线" panose="02010600030101010101" pitchFamily="2" charset="-122"/>
                  </a:rPr>
                  <a:t>A </a:t>
                </a:r>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仍然满足</a:t>
                </a:r>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 </a:t>
                </a:r>
                <a14:m>
                  <m:oMath xmlns:m="http://schemas.openxmlformats.org/officeDocument/2006/math">
                    <m:r>
                      <a:rPr lang="en-US" altLang="zh-CN" sz="2000" i="1" kern="100"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𝑇</m:t>
                    </m:r>
                    <m:r>
                      <a:rPr lang="en-US" altLang="zh-CN" sz="2000" i="1" kern="100"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𝑘</m:t>
                        </m:r>
                      </m:e>
                      <m:sub>
                        <m:r>
                          <a:rPr lang="en-US" altLang="zh-CN" sz="2000"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1</m:t>
                        </m:r>
                      </m:sub>
                    </m:sSub>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𝑟</m:t>
                        </m:r>
                      </m:e>
                      <m:sup>
                        <m:sSub>
                          <m:sSub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𝛼</m:t>
                            </m:r>
                          </m:e>
                          <m:sub>
                            <m:r>
                              <a:rPr lang="en-US" altLang="zh-CN" sz="2000"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1</m:t>
                            </m:r>
                          </m:sub>
                        </m:sSub>
                      </m:sup>
                    </m:sSup>
                  </m:oMath>
                </a14:m>
                <a:r>
                  <a:rPr kumimoji="0" lang="en-US" altLang="zh-CN" sz="2000" b="0" i="0" u="none" strike="noStrike" cap="none" normalizeH="0" baseline="0" dirty="0">
                    <a:ln>
                      <a:noFill/>
                    </a:ln>
                    <a:solidFill>
                      <a:srgbClr val="FF0000"/>
                    </a:solidFill>
                    <a:effectLst/>
                    <a:latin typeface="等线" panose="02010600030101010101" pitchFamily="2" charset="-122"/>
                    <a:ea typeface="等线" panose="02010600030101010101" pitchFamily="2" charset="-122"/>
                  </a:rPr>
                  <a:t> </a:t>
                </a:r>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这样的幂律关系，只不过</a:t>
                </a:r>
                <a14:m>
                  <m:oMath xmlns:m="http://schemas.openxmlformats.org/officeDocument/2006/math">
                    <m:sSub>
                      <m:sSubPr>
                        <m:ctrlPr>
                          <a:rPr lang="zh-CN" altLang="zh-CN" sz="20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0" i="1" kern="10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𝑘</m:t>
                        </m:r>
                      </m:e>
                      <m:sub>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oMath>
                </a14:m>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 </a:t>
                </a:r>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和</a:t>
                </a:r>
                <a14:m>
                  <m:oMath xmlns:m="http://schemas.openxmlformats.org/officeDocument/2006/math">
                    <m:sSub>
                      <m:sSubPr>
                        <m:ctrlPr>
                          <a:rPr lang="zh-CN" altLang="zh-CN" sz="20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0" i="1" kern="10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𝛼</m:t>
                        </m:r>
                      </m:e>
                      <m:sub>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0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 </m:t>
                    </m:r>
                  </m:oMath>
                </a14:m>
                <a:r>
                  <a:rPr kumimoji="0" lang="zh-CN"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与太阳系的数据不同。</a:t>
                </a:r>
                <a:endPar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a:p>
                <a:pPr lvl="0">
                  <a:spcBef>
                    <a:spcPts val="600"/>
                  </a:spcBef>
                  <a:spcAft>
                    <a:spcPts val="600"/>
                  </a:spcAft>
                </a:pPr>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rPr>
                  <a:t>        </a:t>
                </a:r>
                <a:r>
                  <a:rPr kumimoji="0" lang="zh-CN" altLang="zh-CN" sz="2400" b="1" i="0" u="none" strike="noStrike" cap="none" normalizeH="0" baseline="0" dirty="0">
                    <a:ln>
                      <a:noFill/>
                    </a:ln>
                    <a:solidFill>
                      <a:schemeClr val="tx1"/>
                    </a:solidFill>
                    <a:effectLst/>
                    <a:latin typeface="等线" panose="02010600030101010101" pitchFamily="2" charset="-122"/>
                    <a:ea typeface="等线" panose="02010600030101010101" pitchFamily="2" charset="-122"/>
                  </a:rPr>
                  <a:t>你的任务是：借助观测到的数据集，自行构建数据处理方法，最终确定目标区域的物理法则，即确定</a:t>
                </a:r>
                <a:r>
                  <a:rPr lang="zh-CN" altLang="zh-CN" sz="2400" b="1" dirty="0">
                    <a:solidFill>
                      <a:schemeClr val="tx1"/>
                    </a:solidFill>
                    <a:latin typeface="等线" panose="02010600030101010101" pitchFamily="2" charset="-122"/>
                    <a:ea typeface="等线" panose="02010600030101010101" pitchFamily="2" charset="-122"/>
                  </a:rPr>
                  <a:t> </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𝒌</m:t>
                        </m:r>
                      </m:e>
                      <m:sub>
                        <m:r>
                          <a:rPr lang="en-US" altLang="zh-CN" sz="2400" b="1"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sz="2400" b="1"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 </m:t>
                    </m:r>
                  </m:oMath>
                </a14:m>
                <a:r>
                  <a:rPr lang="zh-CN" altLang="zh-CN" sz="2400" b="1" dirty="0">
                    <a:solidFill>
                      <a:schemeClr val="tx1"/>
                    </a:solidFill>
                    <a:latin typeface="等线" panose="02010600030101010101" pitchFamily="2" charset="-122"/>
                    <a:ea typeface="等线" panose="02010600030101010101" pitchFamily="2" charset="-122"/>
                  </a:rPr>
                  <a:t>和</a:t>
                </a:r>
                <a:r>
                  <a:rPr lang="zh-CN" altLang="zh-CN" sz="2400" b="1"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𝜶</m:t>
                        </m:r>
                      </m:e>
                      <m:sub>
                        <m:r>
                          <a:rPr lang="en-US" altLang="zh-CN" sz="2400" b="1"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sz="2400" b="1"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 </m:t>
                    </m:r>
                  </m:oMath>
                </a14:m>
                <a:r>
                  <a:rPr kumimoji="0" lang="zh-CN" altLang="zh-CN" sz="2400" b="1" i="0" u="none" strike="noStrike" cap="none" normalizeH="0" baseline="0" dirty="0">
                    <a:ln>
                      <a:noFill/>
                    </a:ln>
                    <a:solidFill>
                      <a:schemeClr val="tx1"/>
                    </a:solidFill>
                    <a:effectLst/>
                    <a:latin typeface="等线" panose="02010600030101010101" pitchFamily="2" charset="-122"/>
                    <a:ea typeface="等线" panose="02010600030101010101" pitchFamily="2" charset="-122"/>
                  </a:rPr>
                  <a:t>的值。</a:t>
                </a:r>
                <a:endParaRPr kumimoji="0" lang="zh-CN" altLang="zh-CN" sz="2000" b="1"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p:txBody>
          </p:sp>
        </mc:Choice>
        <mc:Fallback xmlns="">
          <p:sp>
            <p:nvSpPr>
              <p:cNvPr id="7" name="Rectangle 4">
                <a:extLst>
                  <a:ext uri="{FF2B5EF4-FFF2-40B4-BE49-F238E27FC236}">
                    <a16:creationId xmlns:a16="http://schemas.microsoft.com/office/drawing/2014/main" id="{C864F992-4272-42AA-8F64-5963C8062AA7}"/>
                  </a:ext>
                </a:extLst>
              </p:cNvPr>
              <p:cNvSpPr>
                <a:spLocks noRot="1" noChangeAspect="1" noMove="1" noResize="1" noEditPoints="1" noAdjustHandles="1" noChangeArrowheads="1" noChangeShapeType="1" noTextEdit="1"/>
              </p:cNvSpPr>
              <p:nvPr/>
            </p:nvSpPr>
            <p:spPr bwMode="auto">
              <a:xfrm>
                <a:off x="334977" y="1220394"/>
                <a:ext cx="7244542" cy="5366854"/>
              </a:xfrm>
              <a:prstGeom prst="rect">
                <a:avLst/>
              </a:prstGeom>
              <a:blipFill>
                <a:blip r:embed="rId3"/>
                <a:stretch>
                  <a:fillRect l="-1347" t="-114" r="-842" b="-215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8" name="AutoShape 5" descr="Image">
            <a:extLst>
              <a:ext uri="{FF2B5EF4-FFF2-40B4-BE49-F238E27FC236}">
                <a16:creationId xmlns:a16="http://schemas.microsoft.com/office/drawing/2014/main" id="{E2F453C0-1935-489A-AF88-950BD888FD73}"/>
              </a:ext>
            </a:extLst>
          </p:cNvPr>
          <p:cNvSpPr>
            <a:spLocks noChangeAspect="1" noChangeArrowheads="1"/>
          </p:cNvSpPr>
          <p:nvPr/>
        </p:nvSpPr>
        <p:spPr bwMode="auto">
          <a:xfrm>
            <a:off x="1597799" y="147238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AutoShape 6" descr="Image">
            <a:extLst>
              <a:ext uri="{FF2B5EF4-FFF2-40B4-BE49-F238E27FC236}">
                <a16:creationId xmlns:a16="http://schemas.microsoft.com/office/drawing/2014/main" id="{9DA4237B-40D3-4C16-A828-4EB943D943A1}"/>
              </a:ext>
            </a:extLst>
          </p:cNvPr>
          <p:cNvSpPr>
            <a:spLocks noChangeAspect="1" noChangeArrowheads="1"/>
          </p:cNvSpPr>
          <p:nvPr/>
        </p:nvSpPr>
        <p:spPr bwMode="auto">
          <a:xfrm>
            <a:off x="1597799" y="205182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图片 3">
            <a:extLst>
              <a:ext uri="{FF2B5EF4-FFF2-40B4-BE49-F238E27FC236}">
                <a16:creationId xmlns:a16="http://schemas.microsoft.com/office/drawing/2014/main" id="{5BE9D1B9-B069-4593-B563-78F5C17394C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22407" y="1777187"/>
            <a:ext cx="4147025" cy="3304402"/>
          </a:xfrm>
          <a:prstGeom prst="rect">
            <a:avLst/>
          </a:prstGeom>
        </p:spPr>
      </p:pic>
    </p:spTree>
    <p:extLst>
      <p:ext uri="{BB962C8B-B14F-4D97-AF65-F5344CB8AC3E}">
        <p14:creationId xmlns:p14="http://schemas.microsoft.com/office/powerpoint/2010/main" val="139555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473797" y="2766520"/>
            <a:ext cx="2405560" cy="769441"/>
            <a:chOff x="1330054" y="3091265"/>
            <a:chExt cx="2405560" cy="769441"/>
          </a:xfrm>
        </p:grpSpPr>
        <p:sp>
          <p:nvSpPr>
            <p:cNvPr id="8" name="文本框 7"/>
            <p:cNvSpPr txBox="1"/>
            <p:nvPr/>
          </p:nvSpPr>
          <p:spPr>
            <a:xfrm>
              <a:off x="1330054" y="3091265"/>
              <a:ext cx="835485" cy="769441"/>
            </a:xfrm>
            <a:prstGeom prst="rect">
              <a:avLst/>
            </a:prstGeom>
            <a:noFill/>
          </p:spPr>
          <p:txBody>
            <a:bodyPr wrap="none" rtlCol="0">
              <a:spAutoFit/>
            </a:bodyPr>
            <a:lstStyle/>
            <a:p>
              <a:r>
                <a:rPr lang="en-US" altLang="zh-CN" sz="4400" b="1" i="1" dirty="0">
                  <a:solidFill>
                    <a:srgbClr val="FEBF02"/>
                  </a:solidFill>
                  <a:cs typeface="+mn-ea"/>
                  <a:sym typeface="+mn-lt"/>
                </a:rPr>
                <a:t>01</a:t>
              </a:r>
              <a:endParaRPr lang="zh-CN" altLang="en-US" sz="4400" b="1" i="1" dirty="0">
                <a:solidFill>
                  <a:srgbClr val="FEBF02"/>
                </a:solidFill>
                <a:cs typeface="+mn-ea"/>
                <a:sym typeface="+mn-lt"/>
              </a:endParaRPr>
            </a:p>
          </p:txBody>
        </p:sp>
        <p:sp>
          <p:nvSpPr>
            <p:cNvPr id="22" name="文本框 21"/>
            <p:cNvSpPr txBox="1"/>
            <p:nvPr/>
          </p:nvSpPr>
          <p:spPr>
            <a:xfrm>
              <a:off x="2319842" y="3245154"/>
              <a:ext cx="1415772" cy="461665"/>
            </a:xfrm>
            <a:prstGeom prst="rect">
              <a:avLst/>
            </a:prstGeom>
            <a:noFill/>
          </p:spPr>
          <p:txBody>
            <a:bodyPr wrap="none" rtlCol="0">
              <a:spAutoFit/>
            </a:bodyPr>
            <a:lstStyle/>
            <a:p>
              <a:r>
                <a:rPr lang="zh-CN" altLang="en-US" sz="2400" b="1" dirty="0">
                  <a:solidFill>
                    <a:srgbClr val="3B4660"/>
                  </a:solidFill>
                  <a:cs typeface="+mn-ea"/>
                  <a:sym typeface="+mn-lt"/>
                </a:rPr>
                <a:t>物理背景</a:t>
              </a:r>
            </a:p>
          </p:txBody>
        </p:sp>
      </p:grpSp>
      <p:grpSp>
        <p:nvGrpSpPr>
          <p:cNvPr id="27" name="组合 26"/>
          <p:cNvGrpSpPr/>
          <p:nvPr/>
        </p:nvGrpSpPr>
        <p:grpSpPr>
          <a:xfrm>
            <a:off x="4164493" y="970370"/>
            <a:ext cx="3863014" cy="838124"/>
            <a:chOff x="4164493" y="1028426"/>
            <a:chExt cx="3863014" cy="838124"/>
          </a:xfrm>
        </p:grpSpPr>
        <p:grpSp>
          <p:nvGrpSpPr>
            <p:cNvPr id="4" name="组合 3"/>
            <p:cNvGrpSpPr/>
            <p:nvPr/>
          </p:nvGrpSpPr>
          <p:grpSpPr>
            <a:xfrm>
              <a:off x="4164493" y="1028426"/>
              <a:ext cx="3863014" cy="738554"/>
              <a:chOff x="3998287" y="1550940"/>
              <a:chExt cx="3863014" cy="738554"/>
            </a:xfrm>
          </p:grpSpPr>
          <p:sp>
            <p:nvSpPr>
              <p:cNvPr id="5" name="文本框 4"/>
              <p:cNvSpPr txBox="1"/>
              <p:nvPr userDrawn="1"/>
            </p:nvSpPr>
            <p:spPr>
              <a:xfrm>
                <a:off x="5433387" y="1688693"/>
                <a:ext cx="2427914" cy="523220"/>
              </a:xfrm>
              <a:prstGeom prst="rect">
                <a:avLst/>
              </a:prstGeom>
              <a:noFill/>
            </p:spPr>
            <p:txBody>
              <a:bodyPr wrap="square" rtlCol="0" anchor="ctr">
                <a:spAutoFit/>
              </a:bodyPr>
              <a:lstStyle/>
              <a:p>
                <a:pPr algn="ctr"/>
                <a:r>
                  <a:rPr lang="en-US" altLang="zh-CN" sz="2800" b="1" spc="150" dirty="0">
                    <a:solidFill>
                      <a:srgbClr val="3B4660"/>
                    </a:solidFill>
                    <a:cs typeface="+mn-ea"/>
                    <a:sym typeface="+mn-lt"/>
                  </a:rPr>
                  <a:t>/CONTENT</a:t>
                </a:r>
                <a:endParaRPr lang="zh-CN" altLang="en-US" sz="2800" b="1" spc="150" dirty="0">
                  <a:solidFill>
                    <a:srgbClr val="3B4660"/>
                  </a:solidFill>
                  <a:cs typeface="+mn-ea"/>
                  <a:sym typeface="+mn-lt"/>
                </a:endParaRPr>
              </a:p>
            </p:txBody>
          </p:sp>
          <p:sp>
            <p:nvSpPr>
              <p:cNvPr id="6" name="矩形 5"/>
              <p:cNvSpPr/>
              <p:nvPr userDrawn="1"/>
            </p:nvSpPr>
            <p:spPr>
              <a:xfrm>
                <a:off x="3998287" y="1550940"/>
                <a:ext cx="1639691" cy="73855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rgbClr val="3B4660"/>
                    </a:solidFill>
                    <a:effectLst/>
                    <a:uLnTx/>
                    <a:uFillTx/>
                    <a:cs typeface="+mn-ea"/>
                    <a:sym typeface="+mn-lt"/>
                  </a:rPr>
                  <a:t>目 录</a:t>
                </a:r>
                <a:endParaRPr kumimoji="0" lang="zh-CN" altLang="en-US" sz="4000" b="1" i="0" u="none" strike="noStrike" kern="0" cap="none" spc="0" normalizeH="0" baseline="0" noProof="0" dirty="0">
                  <a:ln>
                    <a:noFill/>
                  </a:ln>
                  <a:solidFill>
                    <a:srgbClr val="3B4660"/>
                  </a:solidFill>
                  <a:effectLst/>
                  <a:uLnTx/>
                  <a:uFillTx/>
                  <a:cs typeface="+mn-ea"/>
                  <a:sym typeface="+mn-lt"/>
                </a:endParaRPr>
              </a:p>
            </p:txBody>
          </p:sp>
        </p:grpSp>
        <p:cxnSp>
          <p:nvCxnSpPr>
            <p:cNvPr id="24" name="直接连接符 23"/>
            <p:cNvCxnSpPr/>
            <p:nvPr/>
          </p:nvCxnSpPr>
          <p:spPr>
            <a:xfrm>
              <a:off x="5747657" y="1866550"/>
              <a:ext cx="696686" cy="0"/>
            </a:xfrm>
            <a:prstGeom prst="line">
              <a:avLst/>
            </a:prstGeom>
            <a:ln>
              <a:solidFill>
                <a:srgbClr val="FEBF02"/>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DA494E2C-BDA7-D2CF-9586-21EBCF49FDD7}"/>
              </a:ext>
            </a:extLst>
          </p:cNvPr>
          <p:cNvGrpSpPr/>
          <p:nvPr/>
        </p:nvGrpSpPr>
        <p:grpSpPr>
          <a:xfrm>
            <a:off x="2473797" y="4061609"/>
            <a:ext cx="2405560" cy="769441"/>
            <a:chOff x="1330054" y="3091265"/>
            <a:chExt cx="2405560" cy="769441"/>
          </a:xfrm>
        </p:grpSpPr>
        <p:sp>
          <p:nvSpPr>
            <p:cNvPr id="26" name="文本框 25">
              <a:extLst>
                <a:ext uri="{FF2B5EF4-FFF2-40B4-BE49-F238E27FC236}">
                  <a16:creationId xmlns:a16="http://schemas.microsoft.com/office/drawing/2014/main" id="{42304E5D-23F6-6BB6-75E4-DFED0DE816B9}"/>
                </a:ext>
              </a:extLst>
            </p:cNvPr>
            <p:cNvSpPr txBox="1"/>
            <p:nvPr/>
          </p:nvSpPr>
          <p:spPr>
            <a:xfrm>
              <a:off x="1330054" y="3091265"/>
              <a:ext cx="835485" cy="769441"/>
            </a:xfrm>
            <a:prstGeom prst="rect">
              <a:avLst/>
            </a:prstGeom>
            <a:noFill/>
          </p:spPr>
          <p:txBody>
            <a:bodyPr wrap="none" rtlCol="0">
              <a:spAutoFit/>
            </a:bodyPr>
            <a:lstStyle/>
            <a:p>
              <a:r>
                <a:rPr lang="en-US" altLang="zh-CN" sz="4400" b="1" i="1" dirty="0">
                  <a:solidFill>
                    <a:srgbClr val="FEBF02"/>
                  </a:solidFill>
                  <a:cs typeface="+mn-ea"/>
                  <a:sym typeface="+mn-lt"/>
                </a:rPr>
                <a:t>02</a:t>
              </a:r>
              <a:endParaRPr lang="zh-CN" altLang="en-US" sz="4400" b="1" i="1" dirty="0">
                <a:solidFill>
                  <a:srgbClr val="FEBF02"/>
                </a:solidFill>
                <a:cs typeface="+mn-ea"/>
                <a:sym typeface="+mn-lt"/>
              </a:endParaRPr>
            </a:p>
          </p:txBody>
        </p:sp>
        <p:sp>
          <p:nvSpPr>
            <p:cNvPr id="28" name="文本框 27">
              <a:extLst>
                <a:ext uri="{FF2B5EF4-FFF2-40B4-BE49-F238E27FC236}">
                  <a16:creationId xmlns:a16="http://schemas.microsoft.com/office/drawing/2014/main" id="{9B7D3C8E-B775-132E-7EA3-E42CB1BA6C56}"/>
                </a:ext>
              </a:extLst>
            </p:cNvPr>
            <p:cNvSpPr txBox="1"/>
            <p:nvPr/>
          </p:nvSpPr>
          <p:spPr>
            <a:xfrm>
              <a:off x="2319842" y="3245154"/>
              <a:ext cx="1415772" cy="461665"/>
            </a:xfrm>
            <a:prstGeom prst="rect">
              <a:avLst/>
            </a:prstGeom>
            <a:noFill/>
          </p:spPr>
          <p:txBody>
            <a:bodyPr wrap="none" rtlCol="0">
              <a:spAutoFit/>
            </a:bodyPr>
            <a:lstStyle/>
            <a:p>
              <a:r>
                <a:rPr lang="zh-CN" altLang="en-US" sz="2400" b="1" dirty="0">
                  <a:solidFill>
                    <a:srgbClr val="3B4660"/>
                  </a:solidFill>
                  <a:cs typeface="+mn-ea"/>
                  <a:sym typeface="+mn-lt"/>
                </a:rPr>
                <a:t>数学工具</a:t>
              </a:r>
            </a:p>
          </p:txBody>
        </p:sp>
      </p:grpSp>
      <p:sp>
        <p:nvSpPr>
          <p:cNvPr id="18" name="文本框 17">
            <a:extLst>
              <a:ext uri="{FF2B5EF4-FFF2-40B4-BE49-F238E27FC236}">
                <a16:creationId xmlns:a16="http://schemas.microsoft.com/office/drawing/2014/main" id="{12946BD6-0EC5-4EEE-BD5B-18650A69DE7C}"/>
              </a:ext>
            </a:extLst>
          </p:cNvPr>
          <p:cNvSpPr txBox="1"/>
          <p:nvPr/>
        </p:nvSpPr>
        <p:spPr>
          <a:xfrm>
            <a:off x="5388111" y="2920407"/>
            <a:ext cx="2339102" cy="461665"/>
          </a:xfrm>
          <a:prstGeom prst="rect">
            <a:avLst/>
          </a:prstGeom>
          <a:noFill/>
        </p:spPr>
        <p:txBody>
          <a:bodyPr wrap="none" rtlCol="0">
            <a:spAutoFit/>
          </a:bodyPr>
          <a:lstStyle/>
          <a:p>
            <a:r>
              <a:rPr lang="zh-CN" altLang="en-US" sz="2400" b="1" dirty="0">
                <a:solidFill>
                  <a:srgbClr val="3B4660"/>
                </a:solidFill>
                <a:cs typeface="+mn-ea"/>
                <a:sym typeface="+mn-lt"/>
              </a:rPr>
              <a:t>开普勒第三定律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D5363073-2EFE-4994-B416-A310BDB4F24D}"/>
                  </a:ext>
                </a:extLst>
              </p:cNvPr>
              <p:cNvSpPr/>
              <p:nvPr/>
            </p:nvSpPr>
            <p:spPr>
              <a:xfrm>
                <a:off x="5388111" y="4261663"/>
                <a:ext cx="184614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𝑇</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𝑘</m:t>
                          </m:r>
                        </m:e>
                        <m: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1</m:t>
                          </m:r>
                        </m:sub>
                      </m:sSub>
                      <m:sSup>
                        <m:sSup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𝑟</m:t>
                          </m:r>
                        </m:e>
                        <m:sup>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𝛼</m:t>
                              </m:r>
                            </m:e>
                            <m: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1</m:t>
                              </m:r>
                            </m:sub>
                          </m:sSub>
                        </m:sup>
                      </m:sSup>
                    </m:oMath>
                  </m:oMathPara>
                </a14:m>
                <a:endParaRPr lang="zh-CN" altLang="en-US" sz="2800" dirty="0"/>
              </a:p>
            </p:txBody>
          </p:sp>
        </mc:Choice>
        <mc:Fallback xmlns="">
          <p:sp>
            <p:nvSpPr>
              <p:cNvPr id="2" name="矩形 1">
                <a:extLst>
                  <a:ext uri="{FF2B5EF4-FFF2-40B4-BE49-F238E27FC236}">
                    <a16:creationId xmlns:a16="http://schemas.microsoft.com/office/drawing/2014/main" id="{D5363073-2EFE-4994-B416-A310BDB4F24D}"/>
                  </a:ext>
                </a:extLst>
              </p:cNvPr>
              <p:cNvSpPr>
                <a:spLocks noRot="1" noChangeAspect="1" noMove="1" noResize="1" noEditPoints="1" noAdjustHandles="1" noChangeArrowheads="1" noChangeShapeType="1" noTextEdit="1"/>
              </p:cNvSpPr>
              <p:nvPr/>
            </p:nvSpPr>
            <p:spPr>
              <a:xfrm>
                <a:off x="5388111" y="4261663"/>
                <a:ext cx="1846146" cy="523220"/>
              </a:xfrm>
              <a:prstGeom prst="rect">
                <a:avLst/>
              </a:prstGeom>
              <a:blipFill>
                <a:blip r:embed="rId4"/>
                <a:stretch>
                  <a:fillRect/>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F2C484BB-7DA7-4103-B3ED-75F18CD58693}"/>
              </a:ext>
            </a:extLst>
          </p:cNvPr>
          <p:cNvPicPr>
            <a:picLocks noChangeAspect="1"/>
          </p:cNvPicPr>
          <p:nvPr/>
        </p:nvPicPr>
        <p:blipFill>
          <a:blip r:embed="rId5"/>
          <a:stretch>
            <a:fillRect/>
          </a:stretch>
        </p:blipFill>
        <p:spPr>
          <a:xfrm>
            <a:off x="9246402" y="571218"/>
            <a:ext cx="2436321" cy="2661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9A117-DF6A-D32D-8972-48E16BBB600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E7E9CFF-A102-334F-D465-E17CB9C6D6ED}"/>
              </a:ext>
            </a:extLst>
          </p:cNvPr>
          <p:cNvSpPr txBox="1"/>
          <p:nvPr/>
        </p:nvSpPr>
        <p:spPr>
          <a:xfrm>
            <a:off x="334976" y="225894"/>
            <a:ext cx="6186309" cy="646331"/>
          </a:xfrm>
          <a:prstGeom prst="rect">
            <a:avLst/>
          </a:prstGeom>
          <a:noFill/>
        </p:spPr>
        <p:txBody>
          <a:bodyPr wrap="none" rtlCol="0">
            <a:spAutoFit/>
          </a:bodyPr>
          <a:lstStyle/>
          <a:p>
            <a:r>
              <a:rPr lang="zh-CN" altLang="en-US" sz="3600" b="1" dirty="0">
                <a:solidFill>
                  <a:srgbClr val="3B4660"/>
                </a:solidFill>
                <a:cs typeface="+mn-ea"/>
                <a:sym typeface="+mn-lt"/>
              </a:rPr>
              <a:t>人类对天体运行规律的探索史</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p:sp>
        <p:nvSpPr>
          <p:cNvPr id="14" name="矩形 13">
            <a:extLst>
              <a:ext uri="{FF2B5EF4-FFF2-40B4-BE49-F238E27FC236}">
                <a16:creationId xmlns:a16="http://schemas.microsoft.com/office/drawing/2014/main" id="{245E4800-90C0-9B36-435B-518067B43B92}"/>
              </a:ext>
            </a:extLst>
          </p:cNvPr>
          <p:cNvSpPr/>
          <p:nvPr/>
        </p:nvSpPr>
        <p:spPr>
          <a:xfrm>
            <a:off x="617818" y="1193040"/>
            <a:ext cx="5071085" cy="580865"/>
          </a:xfrm>
          <a:prstGeom prst="rect">
            <a:avLst/>
          </a:prstGeom>
          <a:effectLst/>
        </p:spPr>
        <p:txBody>
          <a:bodyPr wrap="square">
            <a:spAutoFit/>
            <a:scene3d>
              <a:camera prst="orthographicFront"/>
              <a:lightRig rig="threePt" dir="t"/>
            </a:scene3d>
            <a:sp3d contourW="12700"/>
          </a:bodyPr>
          <a:lstStyle/>
          <a:p>
            <a:pPr algn="just">
              <a:lnSpc>
                <a:spcPct val="150000"/>
              </a:lnSpc>
              <a:spcBef>
                <a:spcPts val="1200"/>
              </a:spcBef>
              <a:buClr>
                <a:srgbClr val="FEBF02"/>
              </a:buClr>
            </a:pPr>
            <a:r>
              <a:rPr lang="zh-CN" altLang="en-US" sz="2400" b="1" dirty="0">
                <a:solidFill>
                  <a:srgbClr val="3B4660"/>
                </a:solidFill>
                <a:latin typeface="Times New Roman" panose="02020603050405020304" pitchFamily="18" charset="0"/>
                <a:cs typeface="Times New Roman" panose="02020603050405020304" pitchFamily="18" charset="0"/>
                <a:sym typeface="+mn-lt"/>
              </a:rPr>
              <a:t>古代天文学</a:t>
            </a:r>
            <a:endParaRPr lang="en-US" altLang="zh-CN" sz="2400" b="1" dirty="0">
              <a:solidFill>
                <a:srgbClr val="3B4660"/>
              </a:solidFill>
              <a:latin typeface="Times New Roman" panose="02020603050405020304" pitchFamily="18" charset="0"/>
              <a:cs typeface="Times New Roman" panose="02020603050405020304" pitchFamily="18" charset="0"/>
              <a:sym typeface="+mn-lt"/>
            </a:endParaRPr>
          </a:p>
        </p:txBody>
      </p:sp>
      <p:sp>
        <p:nvSpPr>
          <p:cNvPr id="15" name="矩形 14">
            <a:extLst>
              <a:ext uri="{FF2B5EF4-FFF2-40B4-BE49-F238E27FC236}">
                <a16:creationId xmlns:a16="http://schemas.microsoft.com/office/drawing/2014/main" id="{33C9E3C2-2A86-B8A1-D54C-D90EC0A57B8E}"/>
              </a:ext>
            </a:extLst>
          </p:cNvPr>
          <p:cNvSpPr/>
          <p:nvPr/>
        </p:nvSpPr>
        <p:spPr>
          <a:xfrm>
            <a:off x="1094805" y="1893184"/>
            <a:ext cx="6040285" cy="1028102"/>
          </a:xfrm>
          <a:prstGeom prst="rect">
            <a:avLst/>
          </a:prstGeom>
          <a:effectLst/>
        </p:spPr>
        <p:txBody>
          <a:bodyPr wrap="square">
            <a:spAutoFit/>
            <a:scene3d>
              <a:camera prst="orthographicFront"/>
              <a:lightRig rig="threePt" dir="t"/>
            </a:scene3d>
            <a:sp3d contourW="12700"/>
          </a:bodyPr>
          <a:lstStyle/>
          <a:p>
            <a:pPr marL="342900" indent="-342900" algn="just">
              <a:lnSpc>
                <a:spcPct val="150000"/>
              </a:lnSpc>
              <a:spcBef>
                <a:spcPts val="1200"/>
              </a:spcBef>
              <a:buClr>
                <a:srgbClr val="FEBF02"/>
              </a:buClr>
              <a:buFont typeface="Wingdings" panose="05000000000000000000" pitchFamily="2" charset="2"/>
              <a:buChar char="n"/>
            </a:pPr>
            <a:r>
              <a:rPr lang="zh-CN" altLang="en-US" b="1" dirty="0">
                <a:solidFill>
                  <a:srgbClr val="3B4660"/>
                </a:solidFill>
                <a:latin typeface="Times New Roman" panose="02020603050405020304" pitchFamily="18" charset="0"/>
                <a:cs typeface="Times New Roman" panose="02020603050405020304" pitchFamily="18" charset="0"/>
                <a:sym typeface="+mn-lt"/>
              </a:rPr>
              <a:t>天文历法</a:t>
            </a:r>
            <a:endParaRPr lang="en-US" altLang="zh-CN" b="1" dirty="0">
              <a:solidFill>
                <a:srgbClr val="3B4660"/>
              </a:solidFill>
              <a:latin typeface="Times New Roman" panose="02020603050405020304" pitchFamily="18" charset="0"/>
              <a:cs typeface="Times New Roman" panose="02020603050405020304" pitchFamily="18" charset="0"/>
              <a:sym typeface="+mn-lt"/>
            </a:endParaRPr>
          </a:p>
          <a:p>
            <a:pPr marL="342900" indent="-342900" algn="just">
              <a:lnSpc>
                <a:spcPct val="150000"/>
              </a:lnSpc>
              <a:spcBef>
                <a:spcPts val="1200"/>
              </a:spcBef>
              <a:buClr>
                <a:srgbClr val="FEBF02"/>
              </a:buClr>
              <a:buFont typeface="Wingdings" panose="05000000000000000000" pitchFamily="2" charset="2"/>
              <a:buChar char="n"/>
            </a:pPr>
            <a:r>
              <a:rPr lang="en-US" altLang="zh-CN" b="1" dirty="0">
                <a:solidFill>
                  <a:srgbClr val="3B4660"/>
                </a:solidFill>
                <a:latin typeface="Times New Roman" panose="02020603050405020304" pitchFamily="18" charset="0"/>
                <a:cs typeface="Times New Roman" panose="02020603050405020304" pitchFamily="18" charset="0"/>
                <a:sym typeface="+mn-lt"/>
              </a:rPr>
              <a:t>《</a:t>
            </a:r>
            <a:r>
              <a:rPr lang="zh-CN" altLang="en-US" b="1" dirty="0">
                <a:solidFill>
                  <a:srgbClr val="3B4660"/>
                </a:solidFill>
                <a:latin typeface="Times New Roman" panose="02020603050405020304" pitchFamily="18" charset="0"/>
                <a:cs typeface="Times New Roman" panose="02020603050405020304" pitchFamily="18" charset="0"/>
                <a:sym typeface="+mn-lt"/>
              </a:rPr>
              <a:t>甘石星经</a:t>
            </a:r>
            <a:r>
              <a:rPr lang="en-US" altLang="zh-CN" b="1" dirty="0">
                <a:solidFill>
                  <a:srgbClr val="3B4660"/>
                </a:solidFill>
                <a:latin typeface="Times New Roman" panose="02020603050405020304" pitchFamily="18" charset="0"/>
                <a:cs typeface="Times New Roman" panose="02020603050405020304" pitchFamily="18" charset="0"/>
                <a:sym typeface="+mn-lt"/>
              </a:rPr>
              <a:t>》</a:t>
            </a:r>
            <a:r>
              <a:rPr lang="zh-CN" altLang="en-US" b="1" dirty="0">
                <a:solidFill>
                  <a:srgbClr val="3B4660"/>
                </a:solidFill>
                <a:latin typeface="Times New Roman" panose="02020603050405020304" pitchFamily="18" charset="0"/>
                <a:cs typeface="Times New Roman" panose="02020603050405020304" pitchFamily="18" charset="0"/>
                <a:sym typeface="+mn-lt"/>
              </a:rPr>
              <a:t>：</a:t>
            </a:r>
            <a:r>
              <a:rPr lang="zh-CN" altLang="en-US" dirty="0">
                <a:solidFill>
                  <a:srgbClr val="3B4660"/>
                </a:solidFill>
                <a:latin typeface="Times New Roman" panose="02020603050405020304" pitchFamily="18" charset="0"/>
                <a:cs typeface="Times New Roman" panose="02020603050405020304" pitchFamily="18" charset="0"/>
                <a:sym typeface="+mn-lt"/>
              </a:rPr>
              <a:t>恒星观测、行星运行、天文现象</a:t>
            </a:r>
            <a:endParaRPr lang="en-US" altLang="zh-CN" dirty="0">
              <a:solidFill>
                <a:srgbClr val="3B4660"/>
              </a:solidFill>
              <a:latin typeface="Times New Roman" panose="02020603050405020304" pitchFamily="18" charset="0"/>
              <a:cs typeface="Times New Roman" panose="02020603050405020304" pitchFamily="18" charset="0"/>
              <a:sym typeface="+mn-lt"/>
            </a:endParaRPr>
          </a:p>
        </p:txBody>
      </p:sp>
      <p:pic>
        <p:nvPicPr>
          <p:cNvPr id="1028" name="Picture 4" descr="中国古代天文常识,古代天文常识,中古代天文_大山谷图库">
            <a:extLst>
              <a:ext uri="{FF2B5EF4-FFF2-40B4-BE49-F238E27FC236}">
                <a16:creationId xmlns:a16="http://schemas.microsoft.com/office/drawing/2014/main" id="{59A7DF2F-84CE-4B7A-955A-DB055E2B4DE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30393" y="1537855"/>
            <a:ext cx="4308979" cy="4883206"/>
          </a:xfrm>
          <a:prstGeom prst="rect">
            <a:avLst/>
          </a:prstGeom>
          <a:noFill/>
          <a:extLst>
            <a:ext uri="{909E8E84-426E-40DD-AFC4-6F175D3DCCD1}">
              <a14:hiddenFill xmlns:a14="http://schemas.microsoft.com/office/drawing/2010/main">
                <a:solidFill>
                  <a:srgbClr val="FFFFFF"/>
                </a:solidFill>
              </a14:hiddenFill>
            </a:ext>
          </a:extLst>
        </p:spPr>
      </p:pic>
      <p:pic>
        <p:nvPicPr>
          <p:cNvPr id="12" name="星轨2">
            <a:hlinkClick r:id="" action="ppaction://media"/>
            <a:extLst>
              <a:ext uri="{FF2B5EF4-FFF2-40B4-BE49-F238E27FC236}">
                <a16:creationId xmlns:a16="http://schemas.microsoft.com/office/drawing/2014/main" id="{435ED887-FCFE-483A-8061-ACA943FBD03F}"/>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410903" y="3667856"/>
            <a:ext cx="4894698" cy="2753205"/>
          </a:xfrm>
          <a:prstGeom prst="rect">
            <a:avLst/>
          </a:prstGeom>
        </p:spPr>
      </p:pic>
    </p:spTree>
    <p:extLst>
      <p:ext uri="{BB962C8B-B14F-4D97-AF65-F5344CB8AC3E}">
        <p14:creationId xmlns:p14="http://schemas.microsoft.com/office/powerpoint/2010/main" val="564447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22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9A117-DF6A-D32D-8972-48E16BBB600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E7E9CFF-A102-334F-D465-E17CB9C6D6ED}"/>
              </a:ext>
            </a:extLst>
          </p:cNvPr>
          <p:cNvSpPr txBox="1"/>
          <p:nvPr/>
        </p:nvSpPr>
        <p:spPr>
          <a:xfrm>
            <a:off x="334976" y="225894"/>
            <a:ext cx="6186309" cy="646331"/>
          </a:xfrm>
          <a:prstGeom prst="rect">
            <a:avLst/>
          </a:prstGeom>
          <a:noFill/>
        </p:spPr>
        <p:txBody>
          <a:bodyPr wrap="none" rtlCol="0">
            <a:spAutoFit/>
          </a:bodyPr>
          <a:lstStyle/>
          <a:p>
            <a:r>
              <a:rPr lang="zh-CN" altLang="en-US" sz="3600" b="1" dirty="0">
                <a:solidFill>
                  <a:srgbClr val="3B4660"/>
                </a:solidFill>
                <a:cs typeface="+mn-ea"/>
                <a:sym typeface="+mn-lt"/>
              </a:rPr>
              <a:t>人类对天体运行规律的探索史</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p:sp>
        <p:nvSpPr>
          <p:cNvPr id="14" name="矩形 13">
            <a:extLst>
              <a:ext uri="{FF2B5EF4-FFF2-40B4-BE49-F238E27FC236}">
                <a16:creationId xmlns:a16="http://schemas.microsoft.com/office/drawing/2014/main" id="{245E4800-90C0-9B36-435B-518067B43B92}"/>
              </a:ext>
            </a:extLst>
          </p:cNvPr>
          <p:cNvSpPr/>
          <p:nvPr/>
        </p:nvSpPr>
        <p:spPr>
          <a:xfrm>
            <a:off x="617818" y="1193040"/>
            <a:ext cx="5071085" cy="580865"/>
          </a:xfrm>
          <a:prstGeom prst="rect">
            <a:avLst/>
          </a:prstGeom>
          <a:effectLst/>
        </p:spPr>
        <p:txBody>
          <a:bodyPr wrap="square">
            <a:spAutoFit/>
            <a:scene3d>
              <a:camera prst="orthographicFront"/>
              <a:lightRig rig="threePt" dir="t"/>
            </a:scene3d>
            <a:sp3d contourW="12700"/>
          </a:bodyPr>
          <a:lstStyle/>
          <a:p>
            <a:pPr algn="just">
              <a:lnSpc>
                <a:spcPct val="150000"/>
              </a:lnSpc>
              <a:spcBef>
                <a:spcPts val="1200"/>
              </a:spcBef>
              <a:buClr>
                <a:srgbClr val="FEBF02"/>
              </a:buClr>
            </a:pPr>
            <a:r>
              <a:rPr lang="zh-CN" altLang="en-US" sz="2400" b="1" dirty="0">
                <a:solidFill>
                  <a:srgbClr val="3B4660"/>
                </a:solidFill>
                <a:latin typeface="Times New Roman" panose="02020603050405020304" pitchFamily="18" charset="0"/>
                <a:cs typeface="Times New Roman" panose="02020603050405020304" pitchFamily="18" charset="0"/>
                <a:sym typeface="+mn-lt"/>
              </a:rPr>
              <a:t>地心说</a:t>
            </a:r>
            <a:endParaRPr lang="en-US" altLang="zh-CN" sz="2400" b="1" dirty="0">
              <a:solidFill>
                <a:srgbClr val="3B4660"/>
              </a:solidFill>
              <a:latin typeface="Times New Roman" panose="02020603050405020304" pitchFamily="18" charset="0"/>
              <a:cs typeface="Times New Roman" panose="02020603050405020304" pitchFamily="18" charset="0"/>
              <a:sym typeface="+mn-lt"/>
            </a:endParaRPr>
          </a:p>
        </p:txBody>
      </p:sp>
      <p:sp>
        <p:nvSpPr>
          <p:cNvPr id="15" name="矩形 14">
            <a:extLst>
              <a:ext uri="{FF2B5EF4-FFF2-40B4-BE49-F238E27FC236}">
                <a16:creationId xmlns:a16="http://schemas.microsoft.com/office/drawing/2014/main" id="{33C9E3C2-2A86-B8A1-D54C-D90EC0A57B8E}"/>
              </a:ext>
            </a:extLst>
          </p:cNvPr>
          <p:cNvSpPr/>
          <p:nvPr/>
        </p:nvSpPr>
        <p:spPr>
          <a:xfrm>
            <a:off x="897564" y="1868413"/>
            <a:ext cx="7186563" cy="458715"/>
          </a:xfrm>
          <a:prstGeom prst="rect">
            <a:avLst/>
          </a:prstGeom>
          <a:effectLst/>
        </p:spPr>
        <p:txBody>
          <a:bodyPr wrap="square">
            <a:spAutoFit/>
            <a:scene3d>
              <a:camera prst="orthographicFront"/>
              <a:lightRig rig="threePt" dir="t"/>
            </a:scene3d>
            <a:sp3d contourW="12700"/>
          </a:bodyPr>
          <a:lstStyle/>
          <a:p>
            <a:pPr marL="342900" indent="-342900" algn="just">
              <a:lnSpc>
                <a:spcPct val="150000"/>
              </a:lnSpc>
              <a:spcBef>
                <a:spcPts val="1200"/>
              </a:spcBef>
              <a:buClr>
                <a:srgbClr val="FEBF02"/>
              </a:buClr>
              <a:buFont typeface="Wingdings" panose="05000000000000000000" pitchFamily="2" charset="2"/>
              <a:buChar char="n"/>
            </a:pPr>
            <a:r>
              <a:rPr lang="zh-CN" altLang="en-US" b="1" dirty="0">
                <a:solidFill>
                  <a:srgbClr val="3B4660"/>
                </a:solidFill>
                <a:latin typeface="Times New Roman" panose="02020603050405020304" pitchFamily="18" charset="0"/>
                <a:cs typeface="Times New Roman" panose="02020603050405020304" pitchFamily="18" charset="0"/>
                <a:sym typeface="+mn-lt"/>
              </a:rPr>
              <a:t>地球是宇宙的中心，太阳、月亮及所有的行星都是绕地球转动的。</a:t>
            </a:r>
            <a:endParaRPr lang="en-US" altLang="zh-CN" b="1" dirty="0">
              <a:solidFill>
                <a:srgbClr val="3B4660"/>
              </a:solidFill>
              <a:latin typeface="Times New Roman" panose="02020603050405020304" pitchFamily="18" charset="0"/>
              <a:cs typeface="Times New Roman" panose="02020603050405020304" pitchFamily="18" charset="0"/>
              <a:sym typeface="+mn-lt"/>
            </a:endParaRPr>
          </a:p>
        </p:txBody>
      </p:sp>
      <p:grpSp>
        <p:nvGrpSpPr>
          <p:cNvPr id="10" name="组合 9">
            <a:extLst>
              <a:ext uri="{FF2B5EF4-FFF2-40B4-BE49-F238E27FC236}">
                <a16:creationId xmlns:a16="http://schemas.microsoft.com/office/drawing/2014/main" id="{FA071D78-F603-CA0F-2C0C-5044DF191DE0}"/>
              </a:ext>
            </a:extLst>
          </p:cNvPr>
          <p:cNvGrpSpPr/>
          <p:nvPr/>
        </p:nvGrpSpPr>
        <p:grpSpPr>
          <a:xfrm>
            <a:off x="1011920" y="2882204"/>
            <a:ext cx="2499302" cy="3589127"/>
            <a:chOff x="1162268" y="1288473"/>
            <a:chExt cx="2499302" cy="3589127"/>
          </a:xfrm>
        </p:grpSpPr>
        <p:sp>
          <p:nvSpPr>
            <p:cNvPr id="19" name="文本框 4">
              <a:extLst>
                <a:ext uri="{FF2B5EF4-FFF2-40B4-BE49-F238E27FC236}">
                  <a16:creationId xmlns:a16="http://schemas.microsoft.com/office/drawing/2014/main" id="{57C853F6-F3AF-CD6C-778C-688A4A6F2CAF}"/>
                </a:ext>
              </a:extLst>
            </p:cNvPr>
            <p:cNvSpPr txBox="1"/>
            <p:nvPr/>
          </p:nvSpPr>
          <p:spPr>
            <a:xfrm>
              <a:off x="1568804" y="4417225"/>
              <a:ext cx="167628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2400" dirty="0">
                  <a:solidFill>
                    <a:srgbClr val="3B4660"/>
                  </a:solidFill>
                  <a:latin typeface="字魂58号-创中黑" panose="00000500000000000000" pitchFamily="2" charset="-122"/>
                  <a:ea typeface="字魂58号-创中黑" panose="00000500000000000000" pitchFamily="2" charset="-122"/>
                </a:rPr>
                <a:t>托勒密</a:t>
              </a:r>
            </a:p>
          </p:txBody>
        </p:sp>
        <p:pic>
          <p:nvPicPr>
            <p:cNvPr id="20" name="图片 19">
              <a:extLst>
                <a:ext uri="{FF2B5EF4-FFF2-40B4-BE49-F238E27FC236}">
                  <a16:creationId xmlns:a16="http://schemas.microsoft.com/office/drawing/2014/main" id="{A86BDCBE-8621-A852-0BB6-967B95104A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2268" y="1288473"/>
              <a:ext cx="2499302" cy="3040196"/>
            </a:xfrm>
            <a:prstGeom prst="rect">
              <a:avLst/>
            </a:prstGeom>
          </p:spPr>
        </p:pic>
      </p:grpSp>
      <p:grpSp>
        <p:nvGrpSpPr>
          <p:cNvPr id="11" name="组合 10">
            <a:extLst>
              <a:ext uri="{FF2B5EF4-FFF2-40B4-BE49-F238E27FC236}">
                <a16:creationId xmlns:a16="http://schemas.microsoft.com/office/drawing/2014/main" id="{73861413-E73B-7B20-2B05-D2F13C4F4488}"/>
              </a:ext>
            </a:extLst>
          </p:cNvPr>
          <p:cNvGrpSpPr/>
          <p:nvPr/>
        </p:nvGrpSpPr>
        <p:grpSpPr>
          <a:xfrm>
            <a:off x="4009319" y="2877864"/>
            <a:ext cx="3672059" cy="3594757"/>
            <a:chOff x="4159667" y="1284133"/>
            <a:chExt cx="3672059" cy="3594757"/>
          </a:xfrm>
        </p:grpSpPr>
        <p:sp>
          <p:nvSpPr>
            <p:cNvPr id="17" name="文本框 5">
              <a:extLst>
                <a:ext uri="{FF2B5EF4-FFF2-40B4-BE49-F238E27FC236}">
                  <a16:creationId xmlns:a16="http://schemas.microsoft.com/office/drawing/2014/main" id="{B4606374-7B73-71F5-41B0-7BACD294404C}"/>
                </a:ext>
              </a:extLst>
            </p:cNvPr>
            <p:cNvSpPr txBox="1"/>
            <p:nvPr/>
          </p:nvSpPr>
          <p:spPr>
            <a:xfrm>
              <a:off x="4928726" y="4417225"/>
              <a:ext cx="2133940" cy="46166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2400" dirty="0">
                  <a:solidFill>
                    <a:srgbClr val="3B4660"/>
                  </a:solidFill>
                  <a:latin typeface="字魂58号-创中黑" panose="00000500000000000000" pitchFamily="2" charset="-122"/>
                  <a:ea typeface="字魂58号-创中黑" panose="00000500000000000000" pitchFamily="2" charset="-122"/>
                </a:rPr>
                <a:t>《</a:t>
              </a:r>
              <a:r>
                <a:rPr lang="zh-CN" altLang="en-US" sz="2400" dirty="0">
                  <a:solidFill>
                    <a:srgbClr val="3B4660"/>
                  </a:solidFill>
                  <a:latin typeface="字魂58号-创中黑" panose="00000500000000000000" pitchFamily="2" charset="-122"/>
                  <a:ea typeface="字魂58号-创中黑" panose="00000500000000000000" pitchFamily="2" charset="-122"/>
                </a:rPr>
                <a:t>天文学大成</a:t>
              </a:r>
              <a:r>
                <a:rPr lang="en-US" altLang="zh-CN" sz="2400" dirty="0">
                  <a:solidFill>
                    <a:srgbClr val="3B4660"/>
                  </a:solidFill>
                  <a:latin typeface="字魂58号-创中黑" panose="00000500000000000000" pitchFamily="2" charset="-122"/>
                  <a:ea typeface="字魂58号-创中黑" panose="00000500000000000000" pitchFamily="2" charset="-122"/>
                </a:rPr>
                <a:t>》</a:t>
              </a:r>
              <a:endParaRPr lang="zh-CN" altLang="en-US" sz="2400" dirty="0">
                <a:solidFill>
                  <a:srgbClr val="3B4660"/>
                </a:solidFill>
                <a:latin typeface="字魂58号-创中黑" panose="00000500000000000000" pitchFamily="2" charset="-122"/>
                <a:ea typeface="字魂58号-创中黑" panose="00000500000000000000" pitchFamily="2" charset="-122"/>
              </a:endParaRPr>
            </a:p>
          </p:txBody>
        </p:sp>
        <p:pic>
          <p:nvPicPr>
            <p:cNvPr id="18" name="图片 17">
              <a:extLst>
                <a:ext uri="{FF2B5EF4-FFF2-40B4-BE49-F238E27FC236}">
                  <a16:creationId xmlns:a16="http://schemas.microsoft.com/office/drawing/2014/main" id="{66255826-2053-0C2C-4152-10C74C9CC5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9667" y="1284133"/>
              <a:ext cx="3672059" cy="3040196"/>
            </a:xfrm>
            <a:prstGeom prst="rect">
              <a:avLst/>
            </a:prstGeom>
          </p:spPr>
        </p:pic>
      </p:grpSp>
      <p:grpSp>
        <p:nvGrpSpPr>
          <p:cNvPr id="3" name="组合 2">
            <a:extLst>
              <a:ext uri="{FF2B5EF4-FFF2-40B4-BE49-F238E27FC236}">
                <a16:creationId xmlns:a16="http://schemas.microsoft.com/office/drawing/2014/main" id="{4A8CF0EA-8D92-45D4-B5C7-84326D29227D}"/>
              </a:ext>
            </a:extLst>
          </p:cNvPr>
          <p:cNvGrpSpPr/>
          <p:nvPr/>
        </p:nvGrpSpPr>
        <p:grpSpPr>
          <a:xfrm>
            <a:off x="7630914" y="2877864"/>
            <a:ext cx="4144645" cy="3593467"/>
            <a:chOff x="7630914" y="2877864"/>
            <a:chExt cx="4144645" cy="3593467"/>
          </a:xfrm>
        </p:grpSpPr>
        <p:pic>
          <p:nvPicPr>
            <p:cNvPr id="8" name="图片 7">
              <a:extLst>
                <a:ext uri="{FF2B5EF4-FFF2-40B4-BE49-F238E27FC236}">
                  <a16:creationId xmlns:a16="http://schemas.microsoft.com/office/drawing/2014/main" id="{7DABD0F0-6111-45C9-9EF6-BC0EFEEC5845}"/>
                </a:ext>
              </a:extLst>
            </p:cNvPr>
            <p:cNvPicPr>
              <a:picLocks noChangeAspect="1"/>
            </p:cNvPicPr>
            <p:nvPr>
              <p:custDataLst>
                <p:tags r:id="rId1"/>
              </p:custDataLst>
            </p:nvPr>
          </p:nvPicPr>
          <p:blipFill>
            <a:blip r:embed="rId6"/>
            <a:stretch>
              <a:fillRect/>
            </a:stretch>
          </p:blipFill>
          <p:spPr>
            <a:xfrm>
              <a:off x="7630914" y="2877864"/>
              <a:ext cx="4144645" cy="2921000"/>
            </a:xfrm>
            <a:prstGeom prst="rect">
              <a:avLst/>
            </a:prstGeom>
          </p:spPr>
        </p:pic>
        <p:sp>
          <p:nvSpPr>
            <p:cNvPr id="13" name="文本框 6">
              <a:extLst>
                <a:ext uri="{FF2B5EF4-FFF2-40B4-BE49-F238E27FC236}">
                  <a16:creationId xmlns:a16="http://schemas.microsoft.com/office/drawing/2014/main" id="{BFCE0E60-8BBA-1D86-75DA-79195EB9D040}"/>
                </a:ext>
              </a:extLst>
            </p:cNvPr>
            <p:cNvSpPr txBox="1"/>
            <p:nvPr/>
          </p:nvSpPr>
          <p:spPr>
            <a:xfrm>
              <a:off x="8927440" y="6010956"/>
              <a:ext cx="167628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2400" dirty="0">
                  <a:solidFill>
                    <a:srgbClr val="3B4660"/>
                  </a:solidFill>
                  <a:latin typeface="字魂58号-创中黑" panose="00000500000000000000" pitchFamily="2" charset="-122"/>
                  <a:ea typeface="字魂58号-创中黑" panose="00000500000000000000" pitchFamily="2" charset="-122"/>
                </a:rPr>
                <a:t>地心说</a:t>
              </a:r>
            </a:p>
          </p:txBody>
        </p:sp>
      </p:grpSp>
    </p:spTree>
    <p:extLst>
      <p:ext uri="{BB962C8B-B14F-4D97-AF65-F5344CB8AC3E}">
        <p14:creationId xmlns:p14="http://schemas.microsoft.com/office/powerpoint/2010/main" val="4239343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9A117-DF6A-D32D-8972-48E16BBB600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E7E9CFF-A102-334F-D465-E17CB9C6D6ED}"/>
              </a:ext>
            </a:extLst>
          </p:cNvPr>
          <p:cNvSpPr txBox="1"/>
          <p:nvPr/>
        </p:nvSpPr>
        <p:spPr>
          <a:xfrm>
            <a:off x="334976" y="225894"/>
            <a:ext cx="6186309" cy="646331"/>
          </a:xfrm>
          <a:prstGeom prst="rect">
            <a:avLst/>
          </a:prstGeom>
          <a:noFill/>
        </p:spPr>
        <p:txBody>
          <a:bodyPr wrap="none" rtlCol="0">
            <a:spAutoFit/>
          </a:bodyPr>
          <a:lstStyle/>
          <a:p>
            <a:r>
              <a:rPr lang="zh-CN" altLang="en-US" sz="3600" b="1" dirty="0">
                <a:solidFill>
                  <a:srgbClr val="3B4660"/>
                </a:solidFill>
                <a:cs typeface="+mn-ea"/>
                <a:sym typeface="+mn-lt"/>
              </a:rPr>
              <a:t>人类对天体运行规律的探索史</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p:sp>
        <p:nvSpPr>
          <p:cNvPr id="14" name="矩形 13">
            <a:extLst>
              <a:ext uri="{FF2B5EF4-FFF2-40B4-BE49-F238E27FC236}">
                <a16:creationId xmlns:a16="http://schemas.microsoft.com/office/drawing/2014/main" id="{245E4800-90C0-9B36-435B-518067B43B92}"/>
              </a:ext>
            </a:extLst>
          </p:cNvPr>
          <p:cNvSpPr/>
          <p:nvPr/>
        </p:nvSpPr>
        <p:spPr>
          <a:xfrm>
            <a:off x="617818" y="1193040"/>
            <a:ext cx="5071085" cy="580865"/>
          </a:xfrm>
          <a:prstGeom prst="rect">
            <a:avLst/>
          </a:prstGeom>
          <a:effectLst/>
        </p:spPr>
        <p:txBody>
          <a:bodyPr wrap="square">
            <a:spAutoFit/>
            <a:scene3d>
              <a:camera prst="orthographicFront"/>
              <a:lightRig rig="threePt" dir="t"/>
            </a:scene3d>
            <a:sp3d contourW="12700"/>
          </a:bodyPr>
          <a:lstStyle/>
          <a:p>
            <a:pPr algn="just">
              <a:lnSpc>
                <a:spcPct val="150000"/>
              </a:lnSpc>
              <a:spcBef>
                <a:spcPts val="1200"/>
              </a:spcBef>
              <a:buClr>
                <a:srgbClr val="FEBF02"/>
              </a:buClr>
            </a:pPr>
            <a:r>
              <a:rPr lang="zh-CN" altLang="en-US" sz="2400" b="1" dirty="0">
                <a:solidFill>
                  <a:srgbClr val="3B4660"/>
                </a:solidFill>
                <a:latin typeface="Times New Roman" panose="02020603050405020304" pitchFamily="18" charset="0"/>
                <a:cs typeface="Times New Roman" panose="02020603050405020304" pitchFamily="18" charset="0"/>
                <a:sym typeface="+mn-lt"/>
              </a:rPr>
              <a:t>地心说的问题</a:t>
            </a:r>
            <a:endParaRPr lang="en-US" altLang="zh-CN" sz="2400" b="1" dirty="0">
              <a:solidFill>
                <a:srgbClr val="3B4660"/>
              </a:solidFill>
              <a:latin typeface="Times New Roman" panose="02020603050405020304" pitchFamily="18" charset="0"/>
              <a:cs typeface="Times New Roman" panose="02020603050405020304" pitchFamily="18" charset="0"/>
              <a:sym typeface="+mn-lt"/>
            </a:endParaRPr>
          </a:p>
        </p:txBody>
      </p:sp>
      <p:sp>
        <p:nvSpPr>
          <p:cNvPr id="15" name="矩形 14">
            <a:extLst>
              <a:ext uri="{FF2B5EF4-FFF2-40B4-BE49-F238E27FC236}">
                <a16:creationId xmlns:a16="http://schemas.microsoft.com/office/drawing/2014/main" id="{33C9E3C2-2A86-B8A1-D54C-D90EC0A57B8E}"/>
              </a:ext>
            </a:extLst>
          </p:cNvPr>
          <p:cNvSpPr/>
          <p:nvPr/>
        </p:nvSpPr>
        <p:spPr>
          <a:xfrm>
            <a:off x="4825327" y="1773905"/>
            <a:ext cx="1558695" cy="418063"/>
          </a:xfrm>
          <a:prstGeom prst="rect">
            <a:avLst/>
          </a:prstGeom>
          <a:effectLst/>
        </p:spPr>
        <p:txBody>
          <a:bodyPr wrap="square">
            <a:spAutoFit/>
            <a:scene3d>
              <a:camera prst="orthographicFront"/>
              <a:lightRig rig="threePt" dir="t"/>
            </a:scene3d>
            <a:sp3d contourW="12700"/>
          </a:bodyPr>
          <a:lstStyle/>
          <a:p>
            <a:pPr marL="342900" indent="-342900" algn="just">
              <a:lnSpc>
                <a:spcPct val="150000"/>
              </a:lnSpc>
              <a:spcBef>
                <a:spcPts val="1200"/>
              </a:spcBef>
              <a:buClr>
                <a:srgbClr val="FEBF02"/>
              </a:buClr>
              <a:buFont typeface="Wingdings" panose="05000000000000000000" pitchFamily="2" charset="2"/>
              <a:buChar char="n"/>
            </a:pPr>
            <a:r>
              <a:rPr lang="zh-CN" altLang="en-US" sz="1600" b="1" dirty="0">
                <a:solidFill>
                  <a:srgbClr val="3B4660"/>
                </a:solidFill>
                <a:latin typeface="Times New Roman" panose="02020603050405020304" pitchFamily="18" charset="0"/>
                <a:cs typeface="Times New Roman" panose="02020603050405020304" pitchFamily="18" charset="0"/>
                <a:sym typeface="+mn-lt"/>
              </a:rPr>
              <a:t>火星逆行</a:t>
            </a:r>
            <a:endParaRPr lang="en-US" altLang="zh-CN" sz="1600" b="1" dirty="0">
              <a:solidFill>
                <a:srgbClr val="3B4660"/>
              </a:solidFill>
              <a:latin typeface="Times New Roman" panose="02020603050405020304" pitchFamily="18" charset="0"/>
              <a:cs typeface="Times New Roman" panose="02020603050405020304" pitchFamily="18" charset="0"/>
              <a:sym typeface="+mn-lt"/>
            </a:endParaRPr>
          </a:p>
        </p:txBody>
      </p:sp>
      <p:pic>
        <p:nvPicPr>
          <p:cNvPr id="22" name="图片 21">
            <a:extLst>
              <a:ext uri="{FF2B5EF4-FFF2-40B4-BE49-F238E27FC236}">
                <a16:creationId xmlns:a16="http://schemas.microsoft.com/office/drawing/2014/main" id="{4E53BA93-C4F4-402D-A591-ECB864A41EC6}"/>
              </a:ext>
            </a:extLst>
          </p:cNvPr>
          <p:cNvPicPr>
            <a:picLocks noChangeAspect="1"/>
          </p:cNvPicPr>
          <p:nvPr>
            <p:custDataLst>
              <p:tags r:id="rId1"/>
            </p:custDataLst>
          </p:nvPr>
        </p:nvPicPr>
        <p:blipFill>
          <a:blip r:embed="rId8"/>
          <a:srcRect b="6855"/>
          <a:stretch>
            <a:fillRect/>
          </a:stretch>
        </p:blipFill>
        <p:spPr>
          <a:xfrm>
            <a:off x="596166" y="1770031"/>
            <a:ext cx="3847465" cy="3314065"/>
          </a:xfrm>
          <a:prstGeom prst="rect">
            <a:avLst/>
          </a:prstGeom>
        </p:spPr>
      </p:pic>
      <p:pic>
        <p:nvPicPr>
          <p:cNvPr id="23" name="图片 22">
            <a:extLst>
              <a:ext uri="{FF2B5EF4-FFF2-40B4-BE49-F238E27FC236}">
                <a16:creationId xmlns:a16="http://schemas.microsoft.com/office/drawing/2014/main" id="{879B4DED-7BC3-4187-B71A-5EB720823F55}"/>
              </a:ext>
            </a:extLst>
          </p:cNvPr>
          <p:cNvPicPr>
            <a:picLocks noChangeAspect="1"/>
          </p:cNvPicPr>
          <p:nvPr>
            <p:custDataLst>
              <p:tags r:id="rId2"/>
            </p:custDataLst>
          </p:nvPr>
        </p:nvPicPr>
        <p:blipFill>
          <a:blip r:embed="rId9"/>
          <a:stretch>
            <a:fillRect/>
          </a:stretch>
        </p:blipFill>
        <p:spPr>
          <a:xfrm>
            <a:off x="596166" y="5241456"/>
            <a:ext cx="3848100" cy="1390650"/>
          </a:xfrm>
          <a:prstGeom prst="rect">
            <a:avLst/>
          </a:prstGeom>
        </p:spPr>
      </p:pic>
      <p:pic>
        <p:nvPicPr>
          <p:cNvPr id="25" name="日心说">
            <a:hlinkClick r:id="" action="ppaction://media"/>
            <a:extLst>
              <a:ext uri="{FF2B5EF4-FFF2-40B4-BE49-F238E27FC236}">
                <a16:creationId xmlns:a16="http://schemas.microsoft.com/office/drawing/2014/main" id="{5BA534D1-581E-488E-B04F-56D496323A3C}"/>
              </a:ext>
            </a:extLst>
          </p:cNvPr>
          <p:cNvPicPr>
            <a:picLocks noChangeAspect="1"/>
          </p:cNvPicPr>
          <p:nvPr>
            <a:videoFile r:link="rId4"/>
            <p:extLst>
              <p:ext uri="{DAA4B4D4-6D71-4841-9C94-3DE7FCFB9230}">
                <p14:media xmlns:p14="http://schemas.microsoft.com/office/powerpoint/2010/main" r:embed="rId3"/>
              </p:ext>
            </p:extLst>
          </p:nvPr>
        </p:nvPicPr>
        <p:blipFill rotWithShape="1">
          <a:blip r:embed="rId10"/>
          <a:srcRect l="44103"/>
          <a:stretch/>
        </p:blipFill>
        <p:spPr>
          <a:xfrm>
            <a:off x="8804789" y="2518417"/>
            <a:ext cx="2867665" cy="2951747"/>
          </a:xfrm>
          <a:prstGeom prst="rect">
            <a:avLst/>
          </a:prstGeom>
        </p:spPr>
      </p:pic>
      <p:grpSp>
        <p:nvGrpSpPr>
          <p:cNvPr id="4" name="组合 3">
            <a:extLst>
              <a:ext uri="{FF2B5EF4-FFF2-40B4-BE49-F238E27FC236}">
                <a16:creationId xmlns:a16="http://schemas.microsoft.com/office/drawing/2014/main" id="{64D8E261-D964-49F7-8841-1E7FF65FE47C}"/>
              </a:ext>
            </a:extLst>
          </p:cNvPr>
          <p:cNvGrpSpPr/>
          <p:nvPr/>
        </p:nvGrpSpPr>
        <p:grpSpPr>
          <a:xfrm>
            <a:off x="4825327" y="2529955"/>
            <a:ext cx="3302193" cy="3487227"/>
            <a:chOff x="4825327" y="2529955"/>
            <a:chExt cx="3302193" cy="3487227"/>
          </a:xfrm>
        </p:grpSpPr>
        <p:pic>
          <p:nvPicPr>
            <p:cNvPr id="24" name="图片 23">
              <a:extLst>
                <a:ext uri="{FF2B5EF4-FFF2-40B4-BE49-F238E27FC236}">
                  <a16:creationId xmlns:a16="http://schemas.microsoft.com/office/drawing/2014/main" id="{F7491DEA-9294-460D-8295-445E9B073146}"/>
                </a:ext>
              </a:extLst>
            </p:cNvPr>
            <p:cNvPicPr>
              <a:picLocks noChangeAspect="1"/>
            </p:cNvPicPr>
            <p:nvPr>
              <p:custDataLst>
                <p:tags r:id="rId5"/>
              </p:custDataLst>
            </p:nvPr>
          </p:nvPicPr>
          <p:blipFill>
            <a:blip r:embed="rId11"/>
            <a:stretch>
              <a:fillRect/>
            </a:stretch>
          </p:blipFill>
          <p:spPr>
            <a:xfrm>
              <a:off x="4915049" y="2529955"/>
              <a:ext cx="3212471" cy="2940209"/>
            </a:xfrm>
            <a:prstGeom prst="rect">
              <a:avLst/>
            </a:prstGeom>
          </p:spPr>
        </p:pic>
        <p:sp>
          <p:nvSpPr>
            <p:cNvPr id="27" name="矩形 26">
              <a:extLst>
                <a:ext uri="{FF2B5EF4-FFF2-40B4-BE49-F238E27FC236}">
                  <a16:creationId xmlns:a16="http://schemas.microsoft.com/office/drawing/2014/main" id="{09D8FAD4-AD6F-4601-8896-867E2C0A34CB}"/>
                </a:ext>
              </a:extLst>
            </p:cNvPr>
            <p:cNvSpPr/>
            <p:nvPr/>
          </p:nvSpPr>
          <p:spPr>
            <a:xfrm>
              <a:off x="4825327" y="5599119"/>
              <a:ext cx="2663055" cy="418063"/>
            </a:xfrm>
            <a:prstGeom prst="rect">
              <a:avLst/>
            </a:prstGeom>
            <a:effectLst/>
          </p:spPr>
          <p:txBody>
            <a:bodyPr wrap="square">
              <a:spAutoFit/>
              <a:scene3d>
                <a:camera prst="orthographicFront"/>
                <a:lightRig rig="threePt" dir="t"/>
              </a:scene3d>
              <a:sp3d contourW="12700"/>
            </a:bodyPr>
            <a:lstStyle/>
            <a:p>
              <a:pPr marL="342900" indent="-342900" algn="just">
                <a:lnSpc>
                  <a:spcPct val="150000"/>
                </a:lnSpc>
                <a:spcBef>
                  <a:spcPts val="1200"/>
                </a:spcBef>
                <a:buClr>
                  <a:srgbClr val="FEBF02"/>
                </a:buClr>
                <a:buFont typeface="Wingdings" panose="05000000000000000000" pitchFamily="2" charset="2"/>
                <a:buChar char="n"/>
              </a:pPr>
              <a:r>
                <a:rPr lang="zh-CN" altLang="en-US" sz="1600" b="1" dirty="0">
                  <a:solidFill>
                    <a:srgbClr val="3B4660"/>
                  </a:solidFill>
                  <a:latin typeface="Times New Roman" panose="02020603050405020304" pitchFamily="18" charset="0"/>
                  <a:cs typeface="Times New Roman" panose="02020603050405020304" pitchFamily="18" charset="0"/>
                  <a:sym typeface="+mn-lt"/>
                </a:rPr>
                <a:t>本轮和均轮</a:t>
              </a:r>
              <a:endParaRPr lang="en-US" altLang="zh-CN" sz="1600" b="1" dirty="0">
                <a:solidFill>
                  <a:srgbClr val="3B4660"/>
                </a:solidFill>
                <a:latin typeface="Times New Roman" panose="02020603050405020304" pitchFamily="18" charset="0"/>
                <a:cs typeface="Times New Roman" panose="02020603050405020304" pitchFamily="18" charset="0"/>
                <a:sym typeface="+mn-lt"/>
              </a:endParaRPr>
            </a:p>
          </p:txBody>
        </p:sp>
      </p:grpSp>
    </p:spTree>
    <p:extLst>
      <p:ext uri="{BB962C8B-B14F-4D97-AF65-F5344CB8AC3E}">
        <p14:creationId xmlns:p14="http://schemas.microsoft.com/office/powerpoint/2010/main" val="428257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repeatCount="indefinite" fill="hold" display="0">
                  <p:stCondLst>
                    <p:cond delay="indefinite"/>
                  </p:stCondLst>
                </p:cTn>
                <p:tgtEl>
                  <p:spTgt spid="25"/>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9A117-DF6A-D32D-8972-48E16BBB600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E7E9CFF-A102-334F-D465-E17CB9C6D6ED}"/>
              </a:ext>
            </a:extLst>
          </p:cNvPr>
          <p:cNvSpPr txBox="1"/>
          <p:nvPr/>
        </p:nvSpPr>
        <p:spPr>
          <a:xfrm>
            <a:off x="334976" y="225894"/>
            <a:ext cx="6186309" cy="646331"/>
          </a:xfrm>
          <a:prstGeom prst="rect">
            <a:avLst/>
          </a:prstGeom>
          <a:noFill/>
        </p:spPr>
        <p:txBody>
          <a:bodyPr wrap="none" rtlCol="0">
            <a:spAutoFit/>
          </a:bodyPr>
          <a:lstStyle/>
          <a:p>
            <a:r>
              <a:rPr lang="zh-CN" altLang="en-US" sz="3600" b="1" dirty="0">
                <a:solidFill>
                  <a:srgbClr val="3B4660"/>
                </a:solidFill>
                <a:cs typeface="+mn-ea"/>
                <a:sym typeface="+mn-lt"/>
              </a:rPr>
              <a:t>人类对天体运行规律的探索史</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p:sp>
        <p:nvSpPr>
          <p:cNvPr id="14" name="矩形 13">
            <a:extLst>
              <a:ext uri="{FF2B5EF4-FFF2-40B4-BE49-F238E27FC236}">
                <a16:creationId xmlns:a16="http://schemas.microsoft.com/office/drawing/2014/main" id="{245E4800-90C0-9B36-435B-518067B43B92}"/>
              </a:ext>
            </a:extLst>
          </p:cNvPr>
          <p:cNvSpPr/>
          <p:nvPr/>
        </p:nvSpPr>
        <p:spPr>
          <a:xfrm>
            <a:off x="617818" y="1193040"/>
            <a:ext cx="5071085" cy="580865"/>
          </a:xfrm>
          <a:prstGeom prst="rect">
            <a:avLst/>
          </a:prstGeom>
          <a:effectLst/>
        </p:spPr>
        <p:txBody>
          <a:bodyPr wrap="square">
            <a:spAutoFit/>
            <a:scene3d>
              <a:camera prst="orthographicFront"/>
              <a:lightRig rig="threePt" dir="t"/>
            </a:scene3d>
            <a:sp3d contourW="12700"/>
          </a:bodyPr>
          <a:lstStyle/>
          <a:p>
            <a:pPr algn="just">
              <a:lnSpc>
                <a:spcPct val="150000"/>
              </a:lnSpc>
              <a:spcBef>
                <a:spcPts val="1200"/>
              </a:spcBef>
              <a:buClr>
                <a:srgbClr val="FEBF02"/>
              </a:buClr>
            </a:pPr>
            <a:r>
              <a:rPr lang="zh-CN" altLang="en-US" sz="2400" b="1" dirty="0">
                <a:solidFill>
                  <a:srgbClr val="3B4660"/>
                </a:solidFill>
                <a:latin typeface="Times New Roman" panose="02020603050405020304" pitchFamily="18" charset="0"/>
                <a:cs typeface="Times New Roman" panose="02020603050405020304" pitchFamily="18" charset="0"/>
                <a:sym typeface="+mn-lt"/>
              </a:rPr>
              <a:t>日心说</a:t>
            </a:r>
            <a:endParaRPr lang="en-US" altLang="zh-CN" sz="2400" b="1" dirty="0">
              <a:solidFill>
                <a:srgbClr val="3B4660"/>
              </a:solidFill>
              <a:latin typeface="Times New Roman" panose="02020603050405020304" pitchFamily="18" charset="0"/>
              <a:cs typeface="Times New Roman" panose="02020603050405020304" pitchFamily="18" charset="0"/>
              <a:sym typeface="+mn-lt"/>
            </a:endParaRPr>
          </a:p>
        </p:txBody>
      </p:sp>
      <p:sp>
        <p:nvSpPr>
          <p:cNvPr id="15" name="矩形 14">
            <a:extLst>
              <a:ext uri="{FF2B5EF4-FFF2-40B4-BE49-F238E27FC236}">
                <a16:creationId xmlns:a16="http://schemas.microsoft.com/office/drawing/2014/main" id="{33C9E3C2-2A86-B8A1-D54C-D90EC0A57B8E}"/>
              </a:ext>
            </a:extLst>
          </p:cNvPr>
          <p:cNvSpPr/>
          <p:nvPr/>
        </p:nvSpPr>
        <p:spPr>
          <a:xfrm>
            <a:off x="897564" y="1868413"/>
            <a:ext cx="9334018" cy="458715"/>
          </a:xfrm>
          <a:prstGeom prst="rect">
            <a:avLst/>
          </a:prstGeom>
          <a:effectLst/>
        </p:spPr>
        <p:txBody>
          <a:bodyPr wrap="square">
            <a:spAutoFit/>
            <a:scene3d>
              <a:camera prst="orthographicFront"/>
              <a:lightRig rig="threePt" dir="t"/>
            </a:scene3d>
            <a:sp3d contourW="12700"/>
          </a:bodyPr>
          <a:lstStyle/>
          <a:p>
            <a:pPr marL="342900" indent="-342900" algn="just">
              <a:lnSpc>
                <a:spcPct val="150000"/>
              </a:lnSpc>
              <a:spcBef>
                <a:spcPts val="1200"/>
              </a:spcBef>
              <a:buClr>
                <a:srgbClr val="FEBF02"/>
              </a:buClr>
              <a:buFont typeface="Wingdings" panose="05000000000000000000" pitchFamily="2" charset="2"/>
              <a:buChar char="n"/>
            </a:pPr>
            <a:r>
              <a:rPr lang="zh-CN" altLang="en-US" b="1" dirty="0">
                <a:solidFill>
                  <a:srgbClr val="3B4660"/>
                </a:solidFill>
                <a:latin typeface="Times New Roman" panose="02020603050405020304" pitchFamily="18" charset="0"/>
                <a:cs typeface="Times New Roman" panose="02020603050405020304" pitchFamily="18" charset="0"/>
                <a:sym typeface="+mn-ea"/>
              </a:rPr>
              <a:t>太阳是宇宙的中心，静止不动的，地球和其它行星都是绕太阳做匀速圆周运动。</a:t>
            </a:r>
            <a:endParaRPr lang="en-US" altLang="zh-CN" b="1" dirty="0">
              <a:solidFill>
                <a:srgbClr val="3B4660"/>
              </a:solidFill>
              <a:latin typeface="Times New Roman" panose="02020603050405020304" pitchFamily="18" charset="0"/>
              <a:cs typeface="Times New Roman" panose="02020603050405020304" pitchFamily="18" charset="0"/>
              <a:sym typeface="+mn-lt"/>
            </a:endParaRPr>
          </a:p>
        </p:txBody>
      </p:sp>
      <p:grpSp>
        <p:nvGrpSpPr>
          <p:cNvPr id="21" name="组合 20">
            <a:extLst>
              <a:ext uri="{FF2B5EF4-FFF2-40B4-BE49-F238E27FC236}">
                <a16:creationId xmlns:a16="http://schemas.microsoft.com/office/drawing/2014/main" id="{1666BA9E-97D7-85FA-0F4B-F60FB17ACD5B}"/>
              </a:ext>
            </a:extLst>
          </p:cNvPr>
          <p:cNvGrpSpPr/>
          <p:nvPr/>
        </p:nvGrpSpPr>
        <p:grpSpPr>
          <a:xfrm>
            <a:off x="497084" y="2851952"/>
            <a:ext cx="2499302" cy="3589127"/>
            <a:chOff x="1162268" y="1288473"/>
            <a:chExt cx="2499302" cy="3589127"/>
          </a:xfrm>
        </p:grpSpPr>
        <p:sp>
          <p:nvSpPr>
            <p:cNvPr id="25" name="文本框 4">
              <a:extLst>
                <a:ext uri="{FF2B5EF4-FFF2-40B4-BE49-F238E27FC236}">
                  <a16:creationId xmlns:a16="http://schemas.microsoft.com/office/drawing/2014/main" id="{0429726B-F213-E4F3-FF40-763E67A91450}"/>
                </a:ext>
              </a:extLst>
            </p:cNvPr>
            <p:cNvSpPr txBox="1"/>
            <p:nvPr/>
          </p:nvSpPr>
          <p:spPr>
            <a:xfrm>
              <a:off x="1568804" y="4417225"/>
              <a:ext cx="167628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2400" noProof="0" dirty="0">
                  <a:solidFill>
                    <a:srgbClr val="3B4660"/>
                  </a:solidFill>
                  <a:latin typeface="字魂58号-创中黑" panose="00000500000000000000" pitchFamily="2" charset="-122"/>
                  <a:ea typeface="字魂58号-创中黑" panose="00000500000000000000" pitchFamily="2" charset="-122"/>
                </a:rPr>
                <a:t>哥白尼</a:t>
              </a:r>
              <a:endParaRPr kumimoji="0" lang="zh-CN" altLang="en-US" sz="2400" b="0" i="0" u="none" strike="noStrike" kern="1200" cap="none" spc="0" normalizeH="0" baseline="0" noProof="0" dirty="0">
                <a:ln>
                  <a:noFill/>
                </a:ln>
                <a:solidFill>
                  <a:srgbClr val="3B4660"/>
                </a:solidFill>
                <a:effectLst/>
                <a:uLnTx/>
                <a:uFillTx/>
                <a:latin typeface="字魂58号-创中黑" panose="00000500000000000000" pitchFamily="2" charset="-122"/>
                <a:ea typeface="字魂58号-创中黑" panose="00000500000000000000" pitchFamily="2" charset="-122"/>
              </a:endParaRPr>
            </a:p>
          </p:txBody>
        </p:sp>
        <p:pic>
          <p:nvPicPr>
            <p:cNvPr id="26" name="图片 25">
              <a:extLst>
                <a:ext uri="{FF2B5EF4-FFF2-40B4-BE49-F238E27FC236}">
                  <a16:creationId xmlns:a16="http://schemas.microsoft.com/office/drawing/2014/main" id="{4C039B76-3C88-B93D-A423-39ED5A4B9318}"/>
                </a:ext>
              </a:extLst>
            </p:cNvPr>
            <p:cNvPicPr/>
            <p:nvPr/>
          </p:nvPicPr>
          <p:blipFill>
            <a:blip r:embed="rId6" cstate="print">
              <a:extLst>
                <a:ext uri="{28A0092B-C50C-407E-A947-70E740481C1C}">
                  <a14:useLocalDpi xmlns:a14="http://schemas.microsoft.com/office/drawing/2010/main" val="0"/>
                </a:ext>
              </a:extLst>
            </a:blip>
            <a:srcRect r="1281" b="9981"/>
            <a:stretch>
              <a:fillRect/>
            </a:stretch>
          </p:blipFill>
          <p:spPr>
            <a:xfrm>
              <a:off x="1162268" y="1288473"/>
              <a:ext cx="2499302" cy="3040196"/>
            </a:xfrm>
            <a:prstGeom prst="rect">
              <a:avLst/>
            </a:prstGeom>
          </p:spPr>
        </p:pic>
      </p:grpSp>
      <p:grpSp>
        <p:nvGrpSpPr>
          <p:cNvPr id="22" name="组合 21">
            <a:extLst>
              <a:ext uri="{FF2B5EF4-FFF2-40B4-BE49-F238E27FC236}">
                <a16:creationId xmlns:a16="http://schemas.microsoft.com/office/drawing/2014/main" id="{F2F6DC39-408C-DD74-44B8-9DE18E1E90C6}"/>
              </a:ext>
            </a:extLst>
          </p:cNvPr>
          <p:cNvGrpSpPr/>
          <p:nvPr/>
        </p:nvGrpSpPr>
        <p:grpSpPr>
          <a:xfrm>
            <a:off x="3299762" y="2851952"/>
            <a:ext cx="2133940" cy="3620541"/>
            <a:chOff x="4928726" y="1258349"/>
            <a:chExt cx="2133940" cy="3620541"/>
          </a:xfrm>
        </p:grpSpPr>
        <p:sp>
          <p:nvSpPr>
            <p:cNvPr id="23" name="文本框 5">
              <a:extLst>
                <a:ext uri="{FF2B5EF4-FFF2-40B4-BE49-F238E27FC236}">
                  <a16:creationId xmlns:a16="http://schemas.microsoft.com/office/drawing/2014/main" id="{52E3D2A2-7674-503E-FEB0-2030DE1780AE}"/>
                </a:ext>
              </a:extLst>
            </p:cNvPr>
            <p:cNvSpPr txBox="1"/>
            <p:nvPr/>
          </p:nvSpPr>
          <p:spPr>
            <a:xfrm>
              <a:off x="4928726" y="4417225"/>
              <a:ext cx="2133940" cy="46166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3B4660"/>
                  </a:solidFill>
                  <a:effectLst/>
                  <a:uLnTx/>
                  <a:uFillTx/>
                  <a:latin typeface="字魂58号-创中黑" panose="00000500000000000000" pitchFamily="2" charset="-122"/>
                  <a:ea typeface="字魂58号-创中黑" panose="00000500000000000000" pitchFamily="2" charset="-122"/>
                  <a:cs typeface="+mn-cs"/>
                </a:rPr>
                <a:t>《</a:t>
              </a:r>
              <a:r>
                <a:rPr kumimoji="0" lang="zh-CN" altLang="en-US" sz="2400" b="0" i="0" u="none" strike="noStrike" kern="1200" cap="none" spc="0" normalizeH="0" baseline="0" noProof="0" dirty="0">
                  <a:ln>
                    <a:noFill/>
                  </a:ln>
                  <a:solidFill>
                    <a:srgbClr val="3B4660"/>
                  </a:solidFill>
                  <a:effectLst/>
                  <a:uLnTx/>
                  <a:uFillTx/>
                  <a:latin typeface="字魂58号-创中黑" panose="00000500000000000000" pitchFamily="2" charset="-122"/>
                  <a:ea typeface="字魂58号-创中黑" panose="00000500000000000000" pitchFamily="2" charset="-122"/>
                  <a:cs typeface="+mn-cs"/>
                </a:rPr>
                <a:t>天球运行论</a:t>
              </a:r>
              <a:r>
                <a:rPr kumimoji="0" lang="en-US" altLang="zh-CN" sz="2400" b="0" i="0" u="none" strike="noStrike" kern="1200" cap="none" spc="0" normalizeH="0" baseline="0" noProof="0" dirty="0">
                  <a:ln>
                    <a:noFill/>
                  </a:ln>
                  <a:solidFill>
                    <a:srgbClr val="3B4660"/>
                  </a:solidFill>
                  <a:effectLst/>
                  <a:uLnTx/>
                  <a:uFillTx/>
                  <a:latin typeface="字魂58号-创中黑" panose="00000500000000000000" pitchFamily="2" charset="-122"/>
                  <a:ea typeface="字魂58号-创中黑" panose="00000500000000000000" pitchFamily="2" charset="-122"/>
                  <a:cs typeface="+mn-cs"/>
                </a:rPr>
                <a:t>》</a:t>
              </a:r>
              <a:endParaRPr kumimoji="0" lang="zh-CN" altLang="en-US" sz="2400" b="0" i="0" u="none" strike="noStrike" kern="1200" cap="none" spc="0" normalizeH="0" baseline="0" noProof="0" dirty="0">
                <a:ln>
                  <a:noFill/>
                </a:ln>
                <a:solidFill>
                  <a:srgbClr val="3B4660"/>
                </a:solidFill>
                <a:effectLst/>
                <a:uLnTx/>
                <a:uFillTx/>
                <a:latin typeface="字魂58号-创中黑" panose="00000500000000000000" pitchFamily="2" charset="-122"/>
                <a:ea typeface="字魂58号-创中黑" panose="00000500000000000000" pitchFamily="2" charset="-122"/>
                <a:cs typeface="+mn-cs"/>
              </a:endParaRPr>
            </a:p>
          </p:txBody>
        </p:sp>
        <p:pic>
          <p:nvPicPr>
            <p:cNvPr id="24" name="图片 23">
              <a:extLst>
                <a:ext uri="{FF2B5EF4-FFF2-40B4-BE49-F238E27FC236}">
                  <a16:creationId xmlns:a16="http://schemas.microsoft.com/office/drawing/2014/main" id="{C651C9B9-B97D-5B72-1E35-980D1B934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42890" y="1258349"/>
              <a:ext cx="2071207" cy="3033995"/>
            </a:xfrm>
            <a:prstGeom prst="rect">
              <a:avLst/>
            </a:prstGeom>
          </p:spPr>
        </p:pic>
      </p:grpSp>
      <p:grpSp>
        <p:nvGrpSpPr>
          <p:cNvPr id="4" name="组合 3">
            <a:extLst>
              <a:ext uri="{FF2B5EF4-FFF2-40B4-BE49-F238E27FC236}">
                <a16:creationId xmlns:a16="http://schemas.microsoft.com/office/drawing/2014/main" id="{A4C28D50-1274-43CE-8EEC-FBD75CB8BA92}"/>
              </a:ext>
            </a:extLst>
          </p:cNvPr>
          <p:cNvGrpSpPr/>
          <p:nvPr/>
        </p:nvGrpSpPr>
        <p:grpSpPr>
          <a:xfrm>
            <a:off x="5702673" y="2785839"/>
            <a:ext cx="2961566" cy="3686654"/>
            <a:chOff x="8295252" y="2784677"/>
            <a:chExt cx="2961566" cy="3686654"/>
          </a:xfrm>
        </p:grpSpPr>
        <p:sp>
          <p:nvSpPr>
            <p:cNvPr id="13" name="文本框 6">
              <a:extLst>
                <a:ext uri="{FF2B5EF4-FFF2-40B4-BE49-F238E27FC236}">
                  <a16:creationId xmlns:a16="http://schemas.microsoft.com/office/drawing/2014/main" id="{BFCE0E60-8BBA-1D86-75DA-79195EB9D040}"/>
                </a:ext>
              </a:extLst>
            </p:cNvPr>
            <p:cNvSpPr txBox="1"/>
            <p:nvPr/>
          </p:nvSpPr>
          <p:spPr>
            <a:xfrm>
              <a:off x="8927440" y="6010956"/>
              <a:ext cx="1676285"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2400" dirty="0">
                  <a:solidFill>
                    <a:srgbClr val="3B4660"/>
                  </a:solidFill>
                  <a:latin typeface="字魂58号-创中黑" panose="00000500000000000000" pitchFamily="2" charset="-122"/>
                  <a:ea typeface="字魂58号-创中黑" panose="00000500000000000000" pitchFamily="2" charset="-122"/>
                </a:rPr>
                <a:t>地心说</a:t>
              </a:r>
            </a:p>
          </p:txBody>
        </p:sp>
        <p:pic>
          <p:nvPicPr>
            <p:cNvPr id="27" name="图片 26">
              <a:extLst>
                <a:ext uri="{FF2B5EF4-FFF2-40B4-BE49-F238E27FC236}">
                  <a16:creationId xmlns:a16="http://schemas.microsoft.com/office/drawing/2014/main" id="{2AEAD763-9087-4055-860B-FC7ABB90427F}"/>
                </a:ext>
              </a:extLst>
            </p:cNvPr>
            <p:cNvPicPr>
              <a:picLocks noChangeAspect="1"/>
            </p:cNvPicPr>
            <p:nvPr>
              <p:custDataLst>
                <p:tags r:id="rId3"/>
              </p:custDataLst>
            </p:nvPr>
          </p:nvPicPr>
          <p:blipFill>
            <a:blip r:embed="rId8"/>
            <a:stretch>
              <a:fillRect/>
            </a:stretch>
          </p:blipFill>
          <p:spPr>
            <a:xfrm>
              <a:off x="8295252" y="2784677"/>
              <a:ext cx="2961566" cy="3035698"/>
            </a:xfrm>
            <a:prstGeom prst="rect">
              <a:avLst/>
            </a:prstGeom>
          </p:spPr>
        </p:pic>
      </p:grpSp>
      <p:pic>
        <p:nvPicPr>
          <p:cNvPr id="28" name="日心说">
            <a:hlinkClick r:id="" action="ppaction://media"/>
            <a:extLst>
              <a:ext uri="{FF2B5EF4-FFF2-40B4-BE49-F238E27FC236}">
                <a16:creationId xmlns:a16="http://schemas.microsoft.com/office/drawing/2014/main" id="{9F2975EB-75A2-43C7-A6AA-14FA82F25FC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9"/>
          <a:srcRect r="49830"/>
          <a:stretch/>
        </p:blipFill>
        <p:spPr>
          <a:xfrm>
            <a:off x="9050616" y="2822990"/>
            <a:ext cx="2696087" cy="3091918"/>
          </a:xfrm>
          <a:prstGeom prst="rect">
            <a:avLst/>
          </a:prstGeom>
        </p:spPr>
      </p:pic>
    </p:spTree>
    <p:extLst>
      <p:ext uri="{BB962C8B-B14F-4D97-AF65-F5344CB8AC3E}">
        <p14:creationId xmlns:p14="http://schemas.microsoft.com/office/powerpoint/2010/main" val="388582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75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8"/>
                                        </p:tgtEl>
                                      </p:cBhvr>
                                    </p:cmd>
                                  </p:childTnLst>
                                </p:cTn>
                              </p:par>
                            </p:childTnLst>
                          </p:cTn>
                        </p:par>
                      </p:childTnLst>
                    </p:cTn>
                  </p:par>
                </p:childTnLst>
              </p:cTn>
              <p:nextCondLst>
                <p:cond evt="onClick" delay="0">
                  <p:tgtEl>
                    <p:spTgt spid="28"/>
                  </p:tgtEl>
                </p:cond>
              </p:nextCondLst>
            </p:seq>
            <p:video>
              <p:cMediaNode vol="80000">
                <p:cTn id="12" fill="hold" display="0">
                  <p:stCondLst>
                    <p:cond delay="indefinite"/>
                  </p:stCondLst>
                </p:cTn>
                <p:tgtEl>
                  <p:spTgt spid="28"/>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9A117-DF6A-D32D-8972-48E16BBB600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E7E9CFF-A102-334F-D465-E17CB9C6D6ED}"/>
              </a:ext>
            </a:extLst>
          </p:cNvPr>
          <p:cNvSpPr txBox="1"/>
          <p:nvPr/>
        </p:nvSpPr>
        <p:spPr>
          <a:xfrm>
            <a:off x="334976" y="225894"/>
            <a:ext cx="2492990" cy="646331"/>
          </a:xfrm>
          <a:prstGeom prst="rect">
            <a:avLst/>
          </a:prstGeom>
          <a:noFill/>
        </p:spPr>
        <p:txBody>
          <a:bodyPr wrap="none" rtlCol="0">
            <a:spAutoFit/>
          </a:bodyPr>
          <a:lstStyle/>
          <a:p>
            <a:r>
              <a:rPr lang="zh-CN" altLang="en-US" sz="3600" b="1" dirty="0">
                <a:solidFill>
                  <a:srgbClr val="3B4660"/>
                </a:solidFill>
                <a:cs typeface="+mn-ea"/>
                <a:sym typeface="+mn-lt"/>
              </a:rPr>
              <a:t>开普勒定律</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p:sp>
        <p:nvSpPr>
          <p:cNvPr id="15" name="矩形 14">
            <a:extLst>
              <a:ext uri="{FF2B5EF4-FFF2-40B4-BE49-F238E27FC236}">
                <a16:creationId xmlns:a16="http://schemas.microsoft.com/office/drawing/2014/main" id="{33C9E3C2-2A86-B8A1-D54C-D90EC0A57B8E}"/>
              </a:ext>
            </a:extLst>
          </p:cNvPr>
          <p:cNvSpPr/>
          <p:nvPr/>
        </p:nvSpPr>
        <p:spPr>
          <a:xfrm>
            <a:off x="1181581" y="5702341"/>
            <a:ext cx="9221172" cy="874214"/>
          </a:xfrm>
          <a:prstGeom prst="rect">
            <a:avLst/>
          </a:prstGeom>
          <a:effectLst/>
        </p:spPr>
        <p:txBody>
          <a:bodyPr wrap="square">
            <a:spAutoFit/>
            <a:scene3d>
              <a:camera prst="orthographicFront"/>
              <a:lightRig rig="threePt" dir="t"/>
            </a:scene3d>
            <a:sp3d contourW="12700"/>
          </a:bodyPr>
          <a:lstStyle/>
          <a:p>
            <a:pPr marL="342900" indent="-342900" algn="just">
              <a:lnSpc>
                <a:spcPct val="150000"/>
              </a:lnSpc>
              <a:spcBef>
                <a:spcPts val="1200"/>
              </a:spcBef>
              <a:buClr>
                <a:srgbClr val="FEBF02"/>
              </a:buClr>
              <a:buFont typeface="Wingdings" panose="05000000000000000000" pitchFamily="2" charset="2"/>
              <a:buChar char="n"/>
            </a:pPr>
            <a:r>
              <a:rPr lang="zh-CN" altLang="en-US" b="1" dirty="0">
                <a:solidFill>
                  <a:srgbClr val="3B4660"/>
                </a:solidFill>
                <a:latin typeface="Times New Roman" panose="02020603050405020304" pitchFamily="18" charset="0"/>
                <a:cs typeface="Times New Roman" panose="02020603050405020304" pitchFamily="18" charset="0"/>
                <a:sym typeface="+mn-lt"/>
              </a:rPr>
              <a:t> 在按照匀速圆周运动的观念对行星轨道的计算中，开普勒无数次尝试的结果，都与第谷的观测数据相差</a:t>
            </a:r>
            <a:r>
              <a:rPr lang="en-US" altLang="zh-CN" b="1" dirty="0">
                <a:solidFill>
                  <a:srgbClr val="3B4660"/>
                </a:solidFill>
                <a:latin typeface="Times New Roman" panose="02020603050405020304" pitchFamily="18" charset="0"/>
                <a:cs typeface="Times New Roman" panose="02020603050405020304" pitchFamily="18" charset="0"/>
                <a:sym typeface="+mn-lt"/>
              </a:rPr>
              <a:t>8</a:t>
            </a:r>
            <a:r>
              <a:rPr lang="zh-CN" altLang="en-US" b="1" dirty="0">
                <a:solidFill>
                  <a:srgbClr val="3B4660"/>
                </a:solidFill>
                <a:latin typeface="Times New Roman" panose="02020603050405020304" pitchFamily="18" charset="0"/>
                <a:cs typeface="Times New Roman" panose="02020603050405020304" pitchFamily="18" charset="0"/>
                <a:sym typeface="+mn-lt"/>
              </a:rPr>
              <a:t>弧分（约</a:t>
            </a:r>
            <a:r>
              <a:rPr lang="en-US" altLang="zh-CN" b="1" dirty="0">
                <a:solidFill>
                  <a:srgbClr val="3B4660"/>
                </a:solidFill>
                <a:latin typeface="Times New Roman" panose="02020603050405020304" pitchFamily="18" charset="0"/>
                <a:cs typeface="Times New Roman" panose="02020603050405020304" pitchFamily="18" charset="0"/>
                <a:sym typeface="+mn-lt"/>
              </a:rPr>
              <a:t>0.133°</a:t>
            </a:r>
            <a:r>
              <a:rPr lang="zh-CN" altLang="en-US" b="1" dirty="0">
                <a:solidFill>
                  <a:srgbClr val="3B4660"/>
                </a:solidFill>
                <a:latin typeface="Times New Roman" panose="02020603050405020304" pitchFamily="18" charset="0"/>
                <a:cs typeface="Times New Roman" panose="02020603050405020304" pitchFamily="18" charset="0"/>
                <a:sym typeface="+mn-lt"/>
              </a:rPr>
              <a:t>）的微小误差。</a:t>
            </a:r>
            <a:endParaRPr lang="en-US" altLang="zh-CN" b="1" dirty="0">
              <a:solidFill>
                <a:srgbClr val="3B4660"/>
              </a:solidFill>
              <a:latin typeface="Times New Roman" panose="02020603050405020304" pitchFamily="18" charset="0"/>
              <a:cs typeface="Times New Roman" panose="02020603050405020304" pitchFamily="18" charset="0"/>
              <a:sym typeface="+mn-lt"/>
            </a:endParaRPr>
          </a:p>
        </p:txBody>
      </p:sp>
      <p:grpSp>
        <p:nvGrpSpPr>
          <p:cNvPr id="24" name="组合 23">
            <a:extLst>
              <a:ext uri="{FF2B5EF4-FFF2-40B4-BE49-F238E27FC236}">
                <a16:creationId xmlns:a16="http://schemas.microsoft.com/office/drawing/2014/main" id="{A17859DA-69C2-4DCE-9A90-FA9722C16881}"/>
              </a:ext>
            </a:extLst>
          </p:cNvPr>
          <p:cNvGrpSpPr/>
          <p:nvPr/>
        </p:nvGrpSpPr>
        <p:grpSpPr>
          <a:xfrm>
            <a:off x="1249932" y="1258513"/>
            <a:ext cx="3987745" cy="4147497"/>
            <a:chOff x="124380" y="1708892"/>
            <a:chExt cx="3987745" cy="4147497"/>
          </a:xfrm>
        </p:grpSpPr>
        <p:grpSp>
          <p:nvGrpSpPr>
            <p:cNvPr id="25" name="组合 24">
              <a:extLst>
                <a:ext uri="{FF2B5EF4-FFF2-40B4-BE49-F238E27FC236}">
                  <a16:creationId xmlns:a16="http://schemas.microsoft.com/office/drawing/2014/main" id="{386E4089-3C6B-4214-B4CA-243E57303AC6}"/>
                </a:ext>
              </a:extLst>
            </p:cNvPr>
            <p:cNvGrpSpPr/>
            <p:nvPr/>
          </p:nvGrpSpPr>
          <p:grpSpPr>
            <a:xfrm>
              <a:off x="124380" y="1708892"/>
              <a:ext cx="3987745" cy="4147497"/>
              <a:chOff x="7926805" y="1681986"/>
              <a:chExt cx="3987745" cy="4147497"/>
            </a:xfrm>
            <a:effectLst>
              <a:outerShdw blurRad="165100" sx="101000" sy="101000" algn="l" rotWithShape="0">
                <a:prstClr val="black">
                  <a:alpha val="36000"/>
                </a:prstClr>
              </a:outerShdw>
            </a:effectLst>
          </p:grpSpPr>
          <p:sp>
            <p:nvSpPr>
              <p:cNvPr id="29" name="矩形: 圆角 28">
                <a:extLst>
                  <a:ext uri="{FF2B5EF4-FFF2-40B4-BE49-F238E27FC236}">
                    <a16:creationId xmlns:a16="http://schemas.microsoft.com/office/drawing/2014/main" id="{78F744E0-1FFC-4BC2-B8C9-C638744BF05D}"/>
                  </a:ext>
                </a:extLst>
              </p:cNvPr>
              <p:cNvSpPr/>
              <p:nvPr/>
            </p:nvSpPr>
            <p:spPr>
              <a:xfrm>
                <a:off x="7926805" y="1681986"/>
                <a:ext cx="3987745" cy="1625959"/>
              </a:xfrm>
              <a:prstGeom prst="roundRect">
                <a:avLst>
                  <a:gd name="adj" fmla="val 0"/>
                </a:avLst>
              </a:prstGeom>
              <a:solidFill>
                <a:srgbClr val="29426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0" name="矩形 29">
                <a:extLst>
                  <a:ext uri="{FF2B5EF4-FFF2-40B4-BE49-F238E27FC236}">
                    <a16:creationId xmlns:a16="http://schemas.microsoft.com/office/drawing/2014/main" id="{61AB013A-563E-4822-9EB5-83B62B5FD227}"/>
                  </a:ext>
                </a:extLst>
              </p:cNvPr>
              <p:cNvSpPr/>
              <p:nvPr/>
            </p:nvSpPr>
            <p:spPr>
              <a:xfrm>
                <a:off x="7926805" y="3307945"/>
                <a:ext cx="3987745" cy="2521538"/>
              </a:xfrm>
              <a:prstGeom prst="rect">
                <a:avLst/>
              </a:prstGeom>
              <a:solidFill>
                <a:srgbClr val="D0DBE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26" name="TextBox 5">
              <a:extLst>
                <a:ext uri="{FF2B5EF4-FFF2-40B4-BE49-F238E27FC236}">
                  <a16:creationId xmlns:a16="http://schemas.microsoft.com/office/drawing/2014/main" id="{BAB565F8-0B82-4267-8A14-23C23347E005}"/>
                </a:ext>
              </a:extLst>
            </p:cNvPr>
            <p:cNvSpPr txBox="1"/>
            <p:nvPr/>
          </p:nvSpPr>
          <p:spPr>
            <a:xfrm>
              <a:off x="1420757" y="1792168"/>
              <a:ext cx="226866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4800" b="1">
                  <a:solidFill>
                    <a:prstClr val="white"/>
                  </a:solidFill>
                  <a:latin typeface="字魂58号-创中黑" panose="00000500000000000000" pitchFamily="2" charset="-122"/>
                  <a:ea typeface="字魂58号-创中黑" panose="00000500000000000000" pitchFamily="2" charset="-122"/>
                  <a:sym typeface="思源黑体" panose="020B0500000000000000" pitchFamily="34" charset="-122"/>
                </a:rPr>
                <a:t>第谷</a:t>
              </a:r>
              <a:endParaRPr kumimoji="0" lang="en-US" sz="4800" b="1" i="0" u="none" strike="noStrike" kern="1200" cap="none" spc="0" normalizeH="0" baseline="0" noProof="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思源黑体" panose="020B0500000000000000" pitchFamily="34" charset="-122"/>
              </a:endParaRPr>
            </a:p>
          </p:txBody>
        </p:sp>
        <p:sp>
          <p:nvSpPr>
            <p:cNvPr id="27" name="Rectangle 6">
              <a:extLst>
                <a:ext uri="{FF2B5EF4-FFF2-40B4-BE49-F238E27FC236}">
                  <a16:creationId xmlns:a16="http://schemas.microsoft.com/office/drawing/2014/main" id="{17D9560E-EC78-4287-B19D-80F50E0E0C0D}"/>
                </a:ext>
              </a:extLst>
            </p:cNvPr>
            <p:cNvSpPr/>
            <p:nvPr/>
          </p:nvSpPr>
          <p:spPr>
            <a:xfrm>
              <a:off x="1404111" y="2688663"/>
              <a:ext cx="1428281" cy="461665"/>
            </a:xfrm>
            <a:prstGeom prst="rect">
              <a:avLst/>
            </a:prstGeom>
          </p:spPr>
          <p:txBody>
            <a:bodyPr wrap="squar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mn-cs"/>
                  <a:sym typeface="思源黑体" panose="020B0500000000000000" pitchFamily="34" charset="-122"/>
                </a:rPr>
                <a:t>20</a:t>
              </a:r>
              <a:r>
                <a:rPr kumimoji="0" lang="zh-CN" altLang="en-US" sz="2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mn-cs"/>
                  <a:sym typeface="思源黑体" panose="020B0500000000000000" pitchFamily="34" charset="-122"/>
                </a:rPr>
                <a:t>年观测</a:t>
              </a:r>
              <a:endParaRPr kumimoji="0" lang="en-US" sz="2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mn-cs"/>
                <a:sym typeface="思源黑体" panose="020B0500000000000000" pitchFamily="34" charset="-122"/>
              </a:endParaRPr>
            </a:p>
          </p:txBody>
        </p:sp>
        <p:pic>
          <p:nvPicPr>
            <p:cNvPr id="28" name="图片 27">
              <a:extLst>
                <a:ext uri="{FF2B5EF4-FFF2-40B4-BE49-F238E27FC236}">
                  <a16:creationId xmlns:a16="http://schemas.microsoft.com/office/drawing/2014/main" id="{6FFA4EE4-0367-44F8-BF13-A0D199BEDE84}"/>
                </a:ext>
              </a:extLst>
            </p:cNvPr>
            <p:cNvPicPr>
              <a:picLocks noChangeAspect="1"/>
            </p:cNvPicPr>
            <p:nvPr/>
          </p:nvPicPr>
          <p:blipFill>
            <a:blip r:embed="rId3">
              <a:extLst>
                <a:ext uri="{28A0092B-C50C-407E-A947-70E740481C1C}">
                  <a14:useLocalDpi xmlns:a14="http://schemas.microsoft.com/office/drawing/2010/main" val="0"/>
                </a:ext>
              </a:extLst>
            </a:blip>
            <a:srcRect t="5357" b="39377"/>
            <a:stretch>
              <a:fillRect/>
            </a:stretch>
          </p:blipFill>
          <p:spPr>
            <a:xfrm>
              <a:off x="702623" y="3418127"/>
              <a:ext cx="2770632" cy="2274057"/>
            </a:xfrm>
            <a:prstGeom prst="rect">
              <a:avLst/>
            </a:prstGeom>
          </p:spPr>
        </p:pic>
      </p:grpSp>
      <p:grpSp>
        <p:nvGrpSpPr>
          <p:cNvPr id="32" name="组合 31">
            <a:extLst>
              <a:ext uri="{FF2B5EF4-FFF2-40B4-BE49-F238E27FC236}">
                <a16:creationId xmlns:a16="http://schemas.microsoft.com/office/drawing/2014/main" id="{EC028E73-14B7-4CF1-901B-E21E7A80BE6D}"/>
              </a:ext>
            </a:extLst>
          </p:cNvPr>
          <p:cNvGrpSpPr/>
          <p:nvPr/>
        </p:nvGrpSpPr>
        <p:grpSpPr>
          <a:xfrm>
            <a:off x="6740590" y="1258513"/>
            <a:ext cx="3987745" cy="4147497"/>
            <a:chOff x="7926805" y="1681986"/>
            <a:chExt cx="3987745" cy="4147497"/>
          </a:xfrm>
          <a:effectLst>
            <a:outerShdw blurRad="165100" sx="101000" sy="101000" algn="l" rotWithShape="0">
              <a:prstClr val="black">
                <a:alpha val="36000"/>
              </a:prstClr>
            </a:outerShdw>
          </a:effectLst>
        </p:grpSpPr>
        <p:sp>
          <p:nvSpPr>
            <p:cNvPr id="36" name="矩形: 圆角 35">
              <a:extLst>
                <a:ext uri="{FF2B5EF4-FFF2-40B4-BE49-F238E27FC236}">
                  <a16:creationId xmlns:a16="http://schemas.microsoft.com/office/drawing/2014/main" id="{E34F9A0F-880B-4E46-B340-A9FA1AC092CA}"/>
                </a:ext>
              </a:extLst>
            </p:cNvPr>
            <p:cNvSpPr/>
            <p:nvPr/>
          </p:nvSpPr>
          <p:spPr>
            <a:xfrm>
              <a:off x="7926805" y="1681986"/>
              <a:ext cx="3987745" cy="1625959"/>
            </a:xfrm>
            <a:prstGeom prst="roundRect">
              <a:avLst>
                <a:gd name="adj" fmla="val 0"/>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7" name="矩形 36">
              <a:extLst>
                <a:ext uri="{FF2B5EF4-FFF2-40B4-BE49-F238E27FC236}">
                  <a16:creationId xmlns:a16="http://schemas.microsoft.com/office/drawing/2014/main" id="{E4715976-A66B-47FF-9E0B-AB3DF68EF8F7}"/>
                </a:ext>
              </a:extLst>
            </p:cNvPr>
            <p:cNvSpPr/>
            <p:nvPr/>
          </p:nvSpPr>
          <p:spPr>
            <a:xfrm>
              <a:off x="7926805" y="3307945"/>
              <a:ext cx="3987745" cy="2521538"/>
            </a:xfrm>
            <a:prstGeom prst="rect">
              <a:avLst/>
            </a:prstGeom>
            <a:solidFill>
              <a:schemeClr val="tx2">
                <a:lumMod val="9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33" name="TextBox 5">
            <a:extLst>
              <a:ext uri="{FF2B5EF4-FFF2-40B4-BE49-F238E27FC236}">
                <a16:creationId xmlns:a16="http://schemas.microsoft.com/office/drawing/2014/main" id="{3BCE4BDC-D100-46DE-A012-80F26BD40904}"/>
              </a:ext>
            </a:extLst>
          </p:cNvPr>
          <p:cNvSpPr txBox="1"/>
          <p:nvPr/>
        </p:nvSpPr>
        <p:spPr>
          <a:xfrm>
            <a:off x="7777927" y="1396452"/>
            <a:ext cx="226866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4800" b="1"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思源黑体" panose="020B0500000000000000" pitchFamily="34" charset="-122"/>
              </a:rPr>
              <a:t>开普勒</a:t>
            </a:r>
            <a:endParaRPr kumimoji="0" lang="en-US" sz="4800" b="1"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思源黑体" panose="020B0500000000000000" pitchFamily="34" charset="-122"/>
            </a:endParaRPr>
          </a:p>
        </p:txBody>
      </p:sp>
      <p:sp>
        <p:nvSpPr>
          <p:cNvPr id="34" name="Rectangle 6">
            <a:extLst>
              <a:ext uri="{FF2B5EF4-FFF2-40B4-BE49-F238E27FC236}">
                <a16:creationId xmlns:a16="http://schemas.microsoft.com/office/drawing/2014/main" id="{8258BF71-D709-4AA2-A395-088AEC520920}"/>
              </a:ext>
            </a:extLst>
          </p:cNvPr>
          <p:cNvSpPr/>
          <p:nvPr/>
        </p:nvSpPr>
        <p:spPr>
          <a:xfrm>
            <a:off x="6852262" y="2292262"/>
            <a:ext cx="3913031" cy="461665"/>
          </a:xfrm>
          <a:prstGeom prst="rect">
            <a:avLst/>
          </a:prstGeom>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mn-cs"/>
                <a:sym typeface="思源黑体" panose="020B0500000000000000" pitchFamily="34" charset="-122"/>
              </a:rPr>
              <a:t>开普勒三定律</a:t>
            </a:r>
            <a:endParaRPr kumimoji="0" lang="en-US" sz="2400" b="1"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mn-cs"/>
              <a:sym typeface="思源黑体" panose="020B0500000000000000" pitchFamily="34" charset="-122"/>
            </a:endParaRPr>
          </a:p>
        </p:txBody>
      </p:sp>
      <p:pic>
        <p:nvPicPr>
          <p:cNvPr id="35" name="图片 34">
            <a:extLst>
              <a:ext uri="{FF2B5EF4-FFF2-40B4-BE49-F238E27FC236}">
                <a16:creationId xmlns:a16="http://schemas.microsoft.com/office/drawing/2014/main" id="{E10A52DC-97A6-43C1-8F8B-B08957F24CF4}"/>
              </a:ext>
            </a:extLst>
          </p:cNvPr>
          <p:cNvPicPr>
            <a:picLocks noChangeAspect="1"/>
          </p:cNvPicPr>
          <p:nvPr/>
        </p:nvPicPr>
        <p:blipFill>
          <a:blip r:embed="rId4">
            <a:extLst>
              <a:ext uri="{28A0092B-C50C-407E-A947-70E740481C1C}">
                <a14:useLocalDpi xmlns:a14="http://schemas.microsoft.com/office/drawing/2010/main" val="0"/>
              </a:ext>
            </a:extLst>
          </a:blip>
          <a:srcRect b="38925"/>
          <a:stretch>
            <a:fillRect/>
          </a:stretch>
        </p:blipFill>
        <p:spPr>
          <a:xfrm>
            <a:off x="7333557" y="2960543"/>
            <a:ext cx="2801809" cy="2342277"/>
          </a:xfrm>
          <a:prstGeom prst="rect">
            <a:avLst/>
          </a:prstGeom>
        </p:spPr>
      </p:pic>
    </p:spTree>
    <p:extLst>
      <p:ext uri="{BB962C8B-B14F-4D97-AF65-F5344CB8AC3E}">
        <p14:creationId xmlns:p14="http://schemas.microsoft.com/office/powerpoint/2010/main" val="4149226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占位符 14">
            <a:extLst>
              <a:ext uri="{FF2B5EF4-FFF2-40B4-BE49-F238E27FC236}">
                <a16:creationId xmlns:a16="http://schemas.microsoft.com/office/drawing/2014/main" id="{51433BF2-99A4-9398-442D-BD9DDE767175}"/>
              </a:ext>
            </a:extLst>
          </p:cNvPr>
          <p:cNvPicPr>
            <a:picLocks noGrp="1" noChangeAspect="1"/>
          </p:cNvPicPr>
          <p:nvPr>
            <p:ph type="pic" sz="quarter" idx="4294967295"/>
          </p:nvPr>
        </p:nvPicPr>
        <p:blipFill>
          <a:blip r:embed="rId3">
            <a:extLst>
              <a:ext uri="{28A0092B-C50C-407E-A947-70E740481C1C}">
                <a14:useLocalDpi xmlns:a14="http://schemas.microsoft.com/office/drawing/2010/main" val="0"/>
              </a:ext>
            </a:extLst>
          </a:blip>
          <a:srcRect t="2974" b="2974"/>
          <a:stretch>
            <a:fillRect/>
          </a:stretch>
        </p:blipFill>
        <p:spPr>
          <a:xfrm>
            <a:off x="7395586" y="1173875"/>
            <a:ext cx="4027487" cy="5184775"/>
          </a:xfrm>
          <a:prstGeom prst="roundRect">
            <a:avLst>
              <a:gd name="adj" fmla="val 4027"/>
            </a:avLst>
          </a:prstGeom>
        </p:spPr>
      </p:pic>
      <p:grpSp>
        <p:nvGrpSpPr>
          <p:cNvPr id="4" name="组合 3"/>
          <p:cNvGrpSpPr/>
          <p:nvPr/>
        </p:nvGrpSpPr>
        <p:grpSpPr>
          <a:xfrm>
            <a:off x="11563351" y="322686"/>
            <a:ext cx="228600" cy="133349"/>
            <a:chOff x="6429375" y="2386013"/>
            <a:chExt cx="85725" cy="92868"/>
          </a:xfrm>
        </p:grpSpPr>
        <p:cxnSp>
          <p:nvCxnSpPr>
            <p:cNvPr id="5" name="直接连接符 4"/>
            <p:cNvCxnSpPr/>
            <p:nvPr/>
          </p:nvCxnSpPr>
          <p:spPr>
            <a:xfrm>
              <a:off x="6429375" y="2386013"/>
              <a:ext cx="8572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429375" y="2432447"/>
              <a:ext cx="8572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429375" y="2478881"/>
              <a:ext cx="8572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5" name="矩形: 圆角 44"/>
          <p:cNvSpPr/>
          <p:nvPr/>
        </p:nvSpPr>
        <p:spPr>
          <a:xfrm>
            <a:off x="6216488" y="2092048"/>
            <a:ext cx="1827639" cy="484800"/>
          </a:xfrm>
          <a:prstGeom prst="roundRect">
            <a:avLst>
              <a:gd name="adj" fmla="val 50000"/>
            </a:avLst>
          </a:prstGeom>
          <a:solidFill>
            <a:srgbClr val="1BD9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r>
              <a:rPr lang="zh-CN" altLang="en-US" sz="1867" b="1">
                <a:solidFill>
                  <a:prstClr val="white"/>
                </a:solidFill>
                <a:latin typeface="Calibri Light"/>
                <a:ea typeface="微软雅黑"/>
              </a:rPr>
              <a:t>轨道定律</a:t>
            </a:r>
          </a:p>
        </p:txBody>
      </p:sp>
      <p:sp>
        <p:nvSpPr>
          <p:cNvPr id="46" name="矩形: 圆角 45"/>
          <p:cNvSpPr/>
          <p:nvPr/>
        </p:nvSpPr>
        <p:spPr>
          <a:xfrm>
            <a:off x="6216488" y="3608960"/>
            <a:ext cx="1827639" cy="484800"/>
          </a:xfrm>
          <a:prstGeom prst="roundRect">
            <a:avLst>
              <a:gd name="adj" fmla="val 50000"/>
            </a:avLst>
          </a:prstGeom>
          <a:solidFill>
            <a:srgbClr val="1BD9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r>
              <a:rPr lang="zh-CN" altLang="en-US" sz="1867" b="1">
                <a:solidFill>
                  <a:prstClr val="white"/>
                </a:solidFill>
                <a:latin typeface="Calibri Light"/>
                <a:ea typeface="微软雅黑"/>
              </a:rPr>
              <a:t>面积定律</a:t>
            </a:r>
          </a:p>
        </p:txBody>
      </p:sp>
      <p:sp>
        <p:nvSpPr>
          <p:cNvPr id="47" name="矩形: 圆角 46"/>
          <p:cNvSpPr/>
          <p:nvPr/>
        </p:nvSpPr>
        <p:spPr>
          <a:xfrm>
            <a:off x="6230666" y="5125871"/>
            <a:ext cx="1827639" cy="484800"/>
          </a:xfrm>
          <a:prstGeom prst="roundRect">
            <a:avLst>
              <a:gd name="adj" fmla="val 50000"/>
            </a:avLst>
          </a:prstGeom>
          <a:solidFill>
            <a:srgbClr val="1BD9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r>
              <a:rPr lang="zh-CN" altLang="en-US" sz="1867" b="1">
                <a:solidFill>
                  <a:prstClr val="white"/>
                </a:solidFill>
                <a:latin typeface="Calibri Light"/>
                <a:ea typeface="微软雅黑"/>
              </a:rPr>
              <a:t>周期定律</a:t>
            </a:r>
          </a:p>
        </p:txBody>
      </p:sp>
      <p:sp>
        <p:nvSpPr>
          <p:cNvPr id="49" name="矩形 48"/>
          <p:cNvSpPr/>
          <p:nvPr/>
        </p:nvSpPr>
        <p:spPr bwMode="auto">
          <a:xfrm>
            <a:off x="340198" y="181839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609585" fontAlgn="base">
              <a:spcBef>
                <a:spcPct val="0"/>
              </a:spcBef>
              <a:spcAft>
                <a:spcPct val="0"/>
              </a:spcAft>
            </a:pPr>
            <a:r>
              <a:rPr lang="zh-CN" altLang="en-US" sz="2800" b="1">
                <a:solidFill>
                  <a:srgbClr val="294261"/>
                </a:solidFill>
                <a:latin typeface="微软雅黑"/>
                <a:ea typeface="微软雅黑"/>
                <a:sym typeface="微软雅黑" panose="020B0503020204020204" pitchFamily="34" charset="-122"/>
              </a:rPr>
              <a:t>开普勒第一定律</a:t>
            </a:r>
          </a:p>
        </p:txBody>
      </p:sp>
      <p:sp>
        <p:nvSpPr>
          <p:cNvPr id="53" name="矩形 52"/>
          <p:cNvSpPr/>
          <p:nvPr/>
        </p:nvSpPr>
        <p:spPr bwMode="auto">
          <a:xfrm>
            <a:off x="294022" y="3306311"/>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609585" fontAlgn="base">
              <a:spcBef>
                <a:spcPct val="0"/>
              </a:spcBef>
              <a:spcAft>
                <a:spcPct val="0"/>
              </a:spcAft>
            </a:pPr>
            <a:r>
              <a:rPr lang="zh-CN" altLang="en-US" sz="2800" b="1">
                <a:solidFill>
                  <a:srgbClr val="294261"/>
                </a:solidFill>
                <a:latin typeface="微软雅黑"/>
                <a:ea typeface="微软雅黑"/>
                <a:sym typeface="微软雅黑" panose="020B0503020204020204" pitchFamily="34" charset="-122"/>
              </a:rPr>
              <a:t>开普勒第二定律</a:t>
            </a:r>
          </a:p>
        </p:txBody>
      </p:sp>
      <p:sp>
        <p:nvSpPr>
          <p:cNvPr id="55" name="矩形 54"/>
          <p:cNvSpPr/>
          <p:nvPr/>
        </p:nvSpPr>
        <p:spPr bwMode="auto">
          <a:xfrm>
            <a:off x="304799" y="4942110"/>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609585" fontAlgn="base">
              <a:spcBef>
                <a:spcPct val="0"/>
              </a:spcBef>
              <a:spcAft>
                <a:spcPct val="0"/>
              </a:spcAft>
            </a:pPr>
            <a:r>
              <a:rPr lang="zh-CN" altLang="en-US" sz="2800" b="1">
                <a:solidFill>
                  <a:srgbClr val="294261"/>
                </a:solidFill>
                <a:latin typeface="微软雅黑"/>
                <a:ea typeface="微软雅黑"/>
                <a:sym typeface="微软雅黑" panose="020B0503020204020204" pitchFamily="34" charset="-122"/>
              </a:rPr>
              <a:t>开普勒第三定律</a:t>
            </a:r>
          </a:p>
        </p:txBody>
      </p:sp>
      <p:cxnSp>
        <p:nvCxnSpPr>
          <p:cNvPr id="56" name="直接连接符 55"/>
          <p:cNvCxnSpPr/>
          <p:nvPr/>
        </p:nvCxnSpPr>
        <p:spPr>
          <a:xfrm>
            <a:off x="425302" y="2948984"/>
            <a:ext cx="6266121"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425301" y="4625679"/>
            <a:ext cx="6266121"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8" name="e7d195523061f1c0" hidden="1">
            <a:extLst>
              <a:ext uri="{FF2B5EF4-FFF2-40B4-BE49-F238E27FC236}">
                <a16:creationId xmlns:a16="http://schemas.microsoft.com/office/drawing/2014/main" id="{2497C23F-EBF5-B54E-EB31-D4E733E3995A}"/>
              </a:ext>
            </a:extLst>
          </p:cNvPr>
          <p:cNvSpPr txBox="1"/>
          <p:nvPr/>
        </p:nvSpPr>
        <p:spPr>
          <a:xfrm>
            <a:off x="-474133" y="2404533"/>
            <a:ext cx="330090" cy="1354667"/>
          </a:xfrm>
          <a:prstGeom prst="rect">
            <a:avLst/>
          </a:prstGeom>
          <a:noFill/>
        </p:spPr>
        <p:txBody>
          <a:bodyPr vert="wordArtVert" rtlCol="0">
            <a:spAutoFit/>
          </a:bodyPr>
          <a:lstStyle/>
          <a:p>
            <a:pPr defTabSz="609585"/>
            <a:r>
              <a:rPr lang="en-US" altLang="zh-CN" sz="133">
                <a:solidFill>
                  <a:prstClr val="black"/>
                </a:solidFill>
                <a:latin typeface="Calibri Light"/>
                <a:ea typeface="微软雅黑"/>
              </a:rPr>
              <a:t>e7d195523061f1c09e9d68d7cf438b91ef959ecb14fc25d26BBA7F7DBC18E55DFF4014AF651F0BF2569D4B6C1DA7F1A4683A481403BD872FC687266AD13265C1DE7C373772FD8728ABDD69ADD03BFF5BE2862BC891DBB79E950753400A011C7C3B99A25F820103BC51EA757209CB54CD5BE620EDB56A7486908F9B9260006C3940C1CCC47E83D4F0E18A2025A59CCA2D</a:t>
            </a:r>
            <a:endParaRPr lang="zh-CN" altLang="en-US" sz="133">
              <a:solidFill>
                <a:prstClr val="black"/>
              </a:solidFill>
              <a:latin typeface="Calibri Light"/>
              <a:ea typeface="微软雅黑"/>
            </a:endParaRPr>
          </a:p>
        </p:txBody>
      </p:sp>
      <p:sp>
        <p:nvSpPr>
          <p:cNvPr id="16" name="矩形 15">
            <a:extLst>
              <a:ext uri="{FF2B5EF4-FFF2-40B4-BE49-F238E27FC236}">
                <a16:creationId xmlns:a16="http://schemas.microsoft.com/office/drawing/2014/main" id="{BCC509F4-82B9-98BD-6FC1-CDB79EE31A9D}"/>
              </a:ext>
            </a:extLst>
          </p:cNvPr>
          <p:cNvSpPr/>
          <p:nvPr/>
        </p:nvSpPr>
        <p:spPr>
          <a:xfrm>
            <a:off x="304799" y="2279785"/>
            <a:ext cx="5112152" cy="400110"/>
          </a:xfrm>
          <a:prstGeom prst="rect">
            <a:avLst/>
          </a:prstGeom>
        </p:spPr>
        <p:txBody>
          <a:bodyPr wrap="square">
            <a:spAutoFit/>
          </a:bodyPr>
          <a:lstStyle/>
          <a:p>
            <a:pPr defTabSz="609585"/>
            <a:r>
              <a:rPr lang="zh-CN" altLang="en-US" sz="2000" kern="0">
                <a:solidFill>
                  <a:srgbClr val="ED6833"/>
                </a:solidFill>
                <a:latin typeface="华文楷体" panose="02010600040101010101" pitchFamily="2" charset="-122"/>
                <a:ea typeface="华文楷体" panose="02010600040101010101" pitchFamily="2" charset="-122"/>
                <a:sym typeface="微软雅黑" panose="020B0503020204020204" pitchFamily="34" charset="-122"/>
              </a:rPr>
              <a:t>解决了行星运动的轨道问题</a:t>
            </a:r>
          </a:p>
        </p:txBody>
      </p:sp>
      <p:sp>
        <p:nvSpPr>
          <p:cNvPr id="17" name="矩形 16">
            <a:extLst>
              <a:ext uri="{FF2B5EF4-FFF2-40B4-BE49-F238E27FC236}">
                <a16:creationId xmlns:a16="http://schemas.microsoft.com/office/drawing/2014/main" id="{414489EB-53FE-F70E-50FB-F5FA6A135734}"/>
              </a:ext>
            </a:extLst>
          </p:cNvPr>
          <p:cNvSpPr/>
          <p:nvPr/>
        </p:nvSpPr>
        <p:spPr>
          <a:xfrm>
            <a:off x="258623" y="3766263"/>
            <a:ext cx="7017224" cy="400110"/>
          </a:xfrm>
          <a:prstGeom prst="rect">
            <a:avLst/>
          </a:prstGeom>
        </p:spPr>
        <p:txBody>
          <a:bodyPr wrap="square">
            <a:spAutoFit/>
          </a:bodyPr>
          <a:lstStyle/>
          <a:p>
            <a:pPr defTabSz="609585"/>
            <a:r>
              <a:rPr lang="zh-CN" altLang="en-US" sz="2000" kern="0">
                <a:solidFill>
                  <a:srgbClr val="ED6833"/>
                </a:solidFill>
                <a:latin typeface="华文楷体" panose="02010600040101010101" pitchFamily="2" charset="-122"/>
                <a:ea typeface="华文楷体" panose="02010600040101010101" pitchFamily="2" charset="-122"/>
                <a:sym typeface="微软雅黑" panose="020B0503020204020204" pitchFamily="34" charset="-122"/>
              </a:rPr>
              <a:t>比较了行星在椭圆轨道上不同位置的速度大小问题</a:t>
            </a:r>
          </a:p>
        </p:txBody>
      </p:sp>
      <p:sp>
        <p:nvSpPr>
          <p:cNvPr id="18" name="矩形 17">
            <a:extLst>
              <a:ext uri="{FF2B5EF4-FFF2-40B4-BE49-F238E27FC236}">
                <a16:creationId xmlns:a16="http://schemas.microsoft.com/office/drawing/2014/main" id="{EB2BCC7A-7AFE-713A-8AF4-84A6C25A1232}"/>
              </a:ext>
            </a:extLst>
          </p:cNvPr>
          <p:cNvSpPr/>
          <p:nvPr/>
        </p:nvSpPr>
        <p:spPr>
          <a:xfrm>
            <a:off x="258623" y="5425011"/>
            <a:ext cx="7017224" cy="400110"/>
          </a:xfrm>
          <a:prstGeom prst="rect">
            <a:avLst/>
          </a:prstGeom>
        </p:spPr>
        <p:txBody>
          <a:bodyPr wrap="square">
            <a:spAutoFit/>
          </a:bodyPr>
          <a:lstStyle/>
          <a:p>
            <a:pPr defTabSz="609585"/>
            <a:r>
              <a:rPr lang="zh-CN" altLang="en-US" sz="2000" kern="0">
                <a:solidFill>
                  <a:srgbClr val="ED6833"/>
                </a:solidFill>
                <a:latin typeface="华文楷体" panose="02010600040101010101" pitchFamily="2" charset="-122"/>
                <a:ea typeface="华文楷体" panose="02010600040101010101" pitchFamily="2" charset="-122"/>
                <a:sym typeface="微软雅黑" panose="020B0503020204020204" pitchFamily="34" charset="-122"/>
              </a:rPr>
              <a:t>比较了不同行星周期的长短问题</a:t>
            </a:r>
          </a:p>
        </p:txBody>
      </p:sp>
      <p:sp>
        <p:nvSpPr>
          <p:cNvPr id="21" name="文本框 20">
            <a:extLst>
              <a:ext uri="{FF2B5EF4-FFF2-40B4-BE49-F238E27FC236}">
                <a16:creationId xmlns:a16="http://schemas.microsoft.com/office/drawing/2014/main" id="{87D3EA36-DC6C-48E3-9990-A21E053ED868}"/>
              </a:ext>
            </a:extLst>
          </p:cNvPr>
          <p:cNvSpPr txBox="1"/>
          <p:nvPr/>
        </p:nvSpPr>
        <p:spPr>
          <a:xfrm>
            <a:off x="334976" y="225894"/>
            <a:ext cx="2492990" cy="646331"/>
          </a:xfrm>
          <a:prstGeom prst="rect">
            <a:avLst/>
          </a:prstGeom>
          <a:noFill/>
        </p:spPr>
        <p:txBody>
          <a:bodyPr wrap="none" rtlCol="0">
            <a:spAutoFit/>
          </a:bodyPr>
          <a:lstStyle/>
          <a:p>
            <a:r>
              <a:rPr lang="zh-CN" altLang="en-US" sz="3600" b="1" dirty="0">
                <a:solidFill>
                  <a:srgbClr val="3B4660"/>
                </a:solidFill>
                <a:cs typeface="+mn-ea"/>
                <a:sym typeface="+mn-lt"/>
              </a:rPr>
              <a:t>开普勒定律</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p:spTree>
    <p:extLst>
      <p:ext uri="{BB962C8B-B14F-4D97-AF65-F5344CB8AC3E}">
        <p14:creationId xmlns:p14="http://schemas.microsoft.com/office/powerpoint/2010/main" val="3887778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23FCD7B-344B-4BB1-88F6-59BA61862462}"/>
              </a:ext>
            </a:extLst>
          </p:cNvPr>
          <p:cNvSpPr txBox="1"/>
          <p:nvPr/>
        </p:nvSpPr>
        <p:spPr>
          <a:xfrm>
            <a:off x="334976" y="225894"/>
            <a:ext cx="3416320" cy="646331"/>
          </a:xfrm>
          <a:prstGeom prst="rect">
            <a:avLst/>
          </a:prstGeom>
          <a:noFill/>
        </p:spPr>
        <p:txBody>
          <a:bodyPr wrap="none" rtlCol="0">
            <a:spAutoFit/>
          </a:bodyPr>
          <a:lstStyle/>
          <a:p>
            <a:r>
              <a:rPr lang="zh-CN" altLang="en-US" sz="3600" b="1" dirty="0">
                <a:solidFill>
                  <a:srgbClr val="3B4660"/>
                </a:solidFill>
                <a:latin typeface="Times New Roman" panose="02020603050405020304" pitchFamily="18" charset="0"/>
                <a:cs typeface="+mn-ea"/>
                <a:sym typeface="+mn-lt"/>
              </a:rPr>
              <a:t>开普勒第三定律</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EA3D371-D8F3-4A80-97E7-9ED85E325143}"/>
                  </a:ext>
                </a:extLst>
              </p:cNvPr>
              <p:cNvSpPr txBox="1"/>
              <p:nvPr/>
            </p:nvSpPr>
            <p:spPr>
              <a:xfrm>
                <a:off x="6696075" y="5303565"/>
                <a:ext cx="5027199" cy="1015663"/>
              </a:xfrm>
              <a:prstGeom prst="rect">
                <a:avLst/>
              </a:prstGeom>
              <a:noFill/>
              <a:extLst>
                <a:ext uri="{909E8E84-426E-40DD-AFC4-6F175D3DCCD1}">
                  <a14:hiddenFill>
                    <a:solidFill>
                      <a:srgbClr val="E84C53"/>
                    </a:solidFill>
                  </a14:hiddenFill>
                </a:ext>
              </a:extLst>
            </p:spPr>
            <p:txBody>
              <a:bodyPr wrap="square" rtlCol="0">
                <a:spAutoFit/>
              </a:bodyPr>
              <a:lstStyle/>
              <a:p>
                <a:pPr lvl="0">
                  <a:lnSpc>
                    <a:spcPct val="150000"/>
                  </a:lnSpc>
                  <a:spcBef>
                    <a:spcPct val="0"/>
                  </a:spcBef>
                  <a:spcAft>
                    <a:spcPct val="0"/>
                  </a:spcAft>
                  <a:defRPr/>
                </a:pPr>
                <a:r>
                  <a:rPr lang="zh-CN" altLang="en-US" sz="2000" kern="100" dirty="0">
                    <a:latin typeface="Arial" panose="020B0604020202020204" pitchFamily="34" charset="0"/>
                    <a:ea typeface="等线" panose="02010600030101010101" pitchFamily="2" charset="-122"/>
                    <a:cs typeface="Arial" panose="020B0604020202020204" pitchFamily="34" charset="0"/>
                  </a:rPr>
                  <a:t>寻找</a:t>
                </a:r>
                <a:r>
                  <a:rPr lang="zh-CN" altLang="zh-CN" sz="2000" kern="100" dirty="0">
                    <a:latin typeface="Arial" panose="020B0604020202020204" pitchFamily="34" charset="0"/>
                    <a:ea typeface="等线" panose="02010600030101010101" pitchFamily="2" charset="-122"/>
                    <a:cs typeface="Arial" panose="020B0604020202020204" pitchFamily="34" charset="0"/>
                  </a:rPr>
                  <a:t>绕转半径</a:t>
                </a:r>
                <a:r>
                  <a:rPr lang="zh-CN" altLang="zh-CN" sz="2000" kern="100" dirty="0">
                    <a:latin typeface="等线" panose="02010600030101010101" pitchFamily="2" charset="-122"/>
                    <a:ea typeface="Arial" panose="020B0604020202020204" pitchFamily="34" charset="0"/>
                    <a:cs typeface="Times New Roman" panose="02020603050405020304" pitchFamily="18" charset="0"/>
                  </a:rPr>
                  <a:t> </a:t>
                </a:r>
                <a14:m>
                  <m:oMath xmlns:m="http://schemas.openxmlformats.org/officeDocument/2006/math">
                    <m:r>
                      <a:rPr lang="en-US" altLang="zh-CN" sz="2000" b="0" i="1" kern="100">
                        <a:latin typeface="Cambria Math" panose="02040503050406030204" pitchFamily="18" charset="0"/>
                        <a:ea typeface="等线" panose="02010600030101010101" pitchFamily="2" charset="-122"/>
                        <a:cs typeface="Times New Roman" panose="02020603050405020304" pitchFamily="18" charset="0"/>
                      </a:rPr>
                      <m:t>𝑟</m:t>
                    </m:r>
                    <m:r>
                      <a:rPr lang="en-US" altLang="zh-CN" sz="2000" b="0" i="1" kern="100" smtClean="0">
                        <a:latin typeface="Cambria Math" panose="02040503050406030204" pitchFamily="18" charset="0"/>
                        <a:ea typeface="等线" panose="02010600030101010101" pitchFamily="2" charset="-122"/>
                        <a:cs typeface="Times New Roman" panose="02020603050405020304" pitchFamily="18" charset="0"/>
                      </a:rPr>
                      <m:t> </m:t>
                    </m:r>
                  </m:oMath>
                </a14:m>
                <a:r>
                  <a:rPr lang="zh-CN" altLang="en-US" sz="2000" kern="100" dirty="0">
                    <a:latin typeface="Arial" panose="020B0604020202020204" pitchFamily="34" charset="0"/>
                    <a:ea typeface="等线" panose="02010600030101010101" pitchFamily="2" charset="-122"/>
                    <a:cs typeface="Times New Roman" panose="02020603050405020304" pitchFamily="18" charset="0"/>
                  </a:rPr>
                  <a:t>和</a:t>
                </a:r>
                <a:r>
                  <a:rPr lang="zh-CN" altLang="zh-CN" sz="2000" kern="100" dirty="0">
                    <a:latin typeface="Arial" panose="020B0604020202020204" pitchFamily="34" charset="0"/>
                    <a:ea typeface="等线" panose="02010600030101010101" pitchFamily="2" charset="-122"/>
                    <a:cs typeface="Arial" panose="020B0604020202020204" pitchFamily="34" charset="0"/>
                  </a:rPr>
                  <a:t>绕转周期</a:t>
                </a:r>
                <a:r>
                  <a:rPr lang="zh-CN" altLang="zh-CN" sz="2000" kern="100" dirty="0">
                    <a:latin typeface="等线" panose="02010600030101010101" pitchFamily="2" charset="-122"/>
                    <a:ea typeface="Arial" panose="020B0604020202020204" pitchFamily="34" charset="0"/>
                    <a:cs typeface="Times New Roman" panose="02020603050405020304" pitchFamily="18" charset="0"/>
                  </a:rPr>
                  <a:t> </a:t>
                </a:r>
                <a14:m>
                  <m:oMath xmlns:m="http://schemas.openxmlformats.org/officeDocument/2006/math">
                    <m:r>
                      <a:rPr lang="en-US" altLang="zh-CN" sz="2000" b="0" i="1" kern="100">
                        <a:latin typeface="Cambria Math" panose="02040503050406030204" pitchFamily="18" charset="0"/>
                        <a:ea typeface="等线" panose="02010600030101010101" pitchFamily="2" charset="-122"/>
                        <a:cs typeface="Times New Roman" panose="02020603050405020304" pitchFamily="18" charset="0"/>
                      </a:rPr>
                      <m:t>𝑇</m:t>
                    </m:r>
                  </m:oMath>
                </a14:m>
                <a:r>
                  <a:rPr lang="en-US" altLang="zh-CN" sz="2000" kern="100" dirty="0">
                    <a:latin typeface="Arial" panose="020B0604020202020204" pitchFamily="34" charset="0"/>
                    <a:ea typeface="等线" panose="02010600030101010101" pitchFamily="2" charset="-122"/>
                    <a:cs typeface="Times New Roman" panose="02020603050405020304" pitchFamily="18" charset="0"/>
                  </a:rPr>
                  <a:t> </a:t>
                </a:r>
                <a:r>
                  <a:rPr lang="zh-CN" altLang="en-US" sz="2000" kern="100" dirty="0">
                    <a:latin typeface="Arial" panose="020B0604020202020204" pitchFamily="34" charset="0"/>
                    <a:ea typeface="等线" panose="02010600030101010101" pitchFamily="2" charset="-122"/>
                    <a:cs typeface="Times New Roman" panose="02020603050405020304" pitchFamily="18" charset="0"/>
                  </a:rPr>
                  <a:t>的关系</a:t>
                </a:r>
                <a:endParaRPr lang="en-US" altLang="zh-CN" sz="2000" kern="100" dirty="0">
                  <a:latin typeface="Arial" panose="020B0604020202020204" pitchFamily="34" charset="0"/>
                  <a:ea typeface="等线" panose="02010600030101010101" pitchFamily="2" charset="-122"/>
                  <a:cs typeface="Times New Roman" panose="02020603050405020304" pitchFamily="18" charset="0"/>
                </a:endParaRPr>
              </a:p>
              <a:p>
                <a:pPr lvl="0">
                  <a:lnSpc>
                    <a:spcPct val="150000"/>
                  </a:lnSpc>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𝑇</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b="0" i="1" kern="100" smtClean="0">
                          <a:latin typeface="Cambria Math" panose="02040503050406030204" pitchFamily="18" charset="0"/>
                          <a:ea typeface="等线" panose="02010600030101010101" pitchFamily="2" charset="-122"/>
                          <a:cs typeface="Times New Roman" panose="02020603050405020304" pitchFamily="18" charset="0"/>
                        </a:rPr>
                        <m:t>𝑘</m:t>
                      </m:r>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𝑟</m:t>
                          </m:r>
                        </m:e>
                        <m:sup>
                          <m:r>
                            <a:rPr lang="zh-CN" altLang="en-US" sz="2000" i="1" kern="100" smtClean="0">
                              <a:latin typeface="Cambria Math" panose="02040503050406030204" pitchFamily="18" charset="0"/>
                              <a:ea typeface="等线" panose="02010600030101010101" pitchFamily="2" charset="-122"/>
                              <a:cs typeface="Times New Roman" panose="02020603050405020304" pitchFamily="18" charset="0"/>
                            </a:rPr>
                            <m:t>𝛼</m:t>
                          </m:r>
                        </m:sup>
                      </m:sSup>
                    </m:oMath>
                  </m:oMathPara>
                </a14:m>
                <a:endParaRPr lang="en-US" altLang="zh-CN" sz="2000" kern="100" dirty="0">
                  <a:latin typeface="Arial" panose="020B0604020202020204" pitchFamily="34" charset="0"/>
                  <a:ea typeface="等线" panose="02010600030101010101" pitchFamily="2" charset="-122"/>
                  <a:cs typeface="Arial" panose="020B0604020202020204" pitchFamily="34" charset="0"/>
                </a:endParaRPr>
              </a:p>
            </p:txBody>
          </p:sp>
        </mc:Choice>
        <mc:Fallback xmlns="">
          <p:sp>
            <p:nvSpPr>
              <p:cNvPr id="13" name="文本框 12">
                <a:extLst>
                  <a:ext uri="{FF2B5EF4-FFF2-40B4-BE49-F238E27FC236}">
                    <a16:creationId xmlns:a16="http://schemas.microsoft.com/office/drawing/2014/main" id="{4EA3D371-D8F3-4A80-97E7-9ED85E325143}"/>
                  </a:ext>
                </a:extLst>
              </p:cNvPr>
              <p:cNvSpPr txBox="1">
                <a:spLocks noRot="1" noChangeAspect="1" noMove="1" noResize="1" noEditPoints="1" noAdjustHandles="1" noChangeArrowheads="1" noChangeShapeType="1" noTextEdit="1"/>
              </p:cNvSpPr>
              <p:nvPr/>
            </p:nvSpPr>
            <p:spPr>
              <a:xfrm>
                <a:off x="6696075" y="5303565"/>
                <a:ext cx="5027199" cy="1015663"/>
              </a:xfrm>
              <a:prstGeom prst="rect">
                <a:avLst/>
              </a:prstGeom>
              <a:blipFill>
                <a:blip r:embed="rId3"/>
                <a:stretch>
                  <a:fillRect l="-1212"/>
                </a:stretch>
              </a:blipFill>
              <a:extLst>
                <a:ext uri="{909E8E84-426E-40DD-AFC4-6F175D3DCCD1}">
                  <a14:hiddenFill xmlns:a14="http://schemas.microsoft.com/office/drawing/2010/main">
                    <a:solidFill>
                      <a:srgbClr val="E84C53"/>
                    </a:solidFill>
                  </a14:hiddenFill>
                </a:ext>
              </a:extLst>
            </p:spPr>
            <p:txBody>
              <a:bodyPr/>
              <a:lstStyle/>
              <a:p>
                <a:r>
                  <a:rPr lang="zh-CN" altLang="en-US">
                    <a:noFill/>
                  </a:rPr>
                  <a:t> </a:t>
                </a:r>
              </a:p>
            </p:txBody>
          </p:sp>
        </mc:Fallback>
      </mc:AlternateContent>
      <p:graphicFrame>
        <p:nvGraphicFramePr>
          <p:cNvPr id="2" name="表格 1">
            <a:extLst>
              <a:ext uri="{FF2B5EF4-FFF2-40B4-BE49-F238E27FC236}">
                <a16:creationId xmlns:a16="http://schemas.microsoft.com/office/drawing/2014/main" id="{454673BD-A5A3-458A-A7EA-DEE0087FF220}"/>
              </a:ext>
            </a:extLst>
          </p:cNvPr>
          <p:cNvGraphicFramePr>
            <a:graphicFrameLocks noGrp="1"/>
          </p:cNvGraphicFramePr>
          <p:nvPr>
            <p:extLst>
              <p:ext uri="{D42A27DB-BD31-4B8C-83A1-F6EECF244321}">
                <p14:modId xmlns:p14="http://schemas.microsoft.com/office/powerpoint/2010/main" val="944649567"/>
              </p:ext>
            </p:extLst>
          </p:nvPr>
        </p:nvGraphicFramePr>
        <p:xfrm>
          <a:off x="690628" y="1593429"/>
          <a:ext cx="5022986" cy="4856237"/>
        </p:xfrm>
        <a:graphic>
          <a:graphicData uri="http://schemas.openxmlformats.org/drawingml/2006/table">
            <a:tbl>
              <a:tblPr firstRow="1">
                <a:tableStyleId>{9D7B26C5-4107-4FEC-AEDC-1716B250A1EF}</a:tableStyleId>
              </a:tblPr>
              <a:tblGrid>
                <a:gridCol w="1338197">
                  <a:extLst>
                    <a:ext uri="{9D8B030D-6E8A-4147-A177-3AD203B41FA5}">
                      <a16:colId xmlns:a16="http://schemas.microsoft.com/office/drawing/2014/main" val="2118739328"/>
                    </a:ext>
                  </a:extLst>
                </a:gridCol>
                <a:gridCol w="2028825">
                  <a:extLst>
                    <a:ext uri="{9D8B030D-6E8A-4147-A177-3AD203B41FA5}">
                      <a16:colId xmlns:a16="http://schemas.microsoft.com/office/drawing/2014/main" val="159450020"/>
                    </a:ext>
                  </a:extLst>
                </a:gridCol>
                <a:gridCol w="1655964">
                  <a:extLst>
                    <a:ext uri="{9D8B030D-6E8A-4147-A177-3AD203B41FA5}">
                      <a16:colId xmlns:a16="http://schemas.microsoft.com/office/drawing/2014/main" val="1837033102"/>
                    </a:ext>
                  </a:extLst>
                </a:gridCol>
              </a:tblGrid>
              <a:tr h="642565">
                <a:tc>
                  <a:txBody>
                    <a:bodyPr/>
                    <a:lstStyle/>
                    <a:p>
                      <a:pPr algn="ctr"/>
                      <a:r>
                        <a:rPr lang="zh-CN" altLang="en-US" dirty="0">
                          <a:solidFill>
                            <a:schemeClr val="tx1"/>
                          </a:solidFill>
                          <a:effectLst/>
                          <a:latin typeface="Helvetica Neue"/>
                        </a:rPr>
                        <a:t>行星</a:t>
                      </a:r>
                    </a:p>
                  </a:txBody>
                  <a:tcPr anchor="ctr"/>
                </a:tc>
                <a:tc>
                  <a:txBody>
                    <a:bodyPr/>
                    <a:lstStyle/>
                    <a:p>
                      <a:pPr algn="ctr"/>
                      <a:r>
                        <a:rPr lang="zh-CN" altLang="en-US" dirty="0">
                          <a:solidFill>
                            <a:schemeClr val="tx1"/>
                          </a:solidFill>
                          <a:effectLst/>
                          <a:latin typeface="Helvetica Neue"/>
                        </a:rPr>
                        <a:t>轨道半径 </a:t>
                      </a:r>
                      <a:r>
                        <a:rPr lang="en-US" altLang="zh-CN" dirty="0">
                          <a:solidFill>
                            <a:schemeClr val="tx1"/>
                          </a:solidFill>
                          <a:effectLst/>
                          <a:latin typeface="Helvetica Neue"/>
                        </a:rPr>
                        <a:t>(</a:t>
                      </a:r>
                      <a:r>
                        <a:rPr lang="en-US" dirty="0">
                          <a:solidFill>
                            <a:schemeClr val="tx1"/>
                          </a:solidFill>
                          <a:effectLst/>
                          <a:latin typeface="Helvetica Neue"/>
                        </a:rPr>
                        <a:t>AU)</a:t>
                      </a:r>
                    </a:p>
                  </a:txBody>
                  <a:tcPr anchor="ctr"/>
                </a:tc>
                <a:tc>
                  <a:txBody>
                    <a:bodyPr/>
                    <a:lstStyle/>
                    <a:p>
                      <a:pPr algn="ctr"/>
                      <a:r>
                        <a:rPr lang="zh-CN" altLang="en-US" dirty="0">
                          <a:solidFill>
                            <a:schemeClr val="tx1"/>
                          </a:solidFill>
                          <a:effectLst/>
                          <a:latin typeface="Helvetica Neue"/>
                        </a:rPr>
                        <a:t>运行周期 </a:t>
                      </a:r>
                      <a:r>
                        <a:rPr lang="en-US" altLang="zh-CN" dirty="0">
                          <a:solidFill>
                            <a:schemeClr val="tx1"/>
                          </a:solidFill>
                          <a:effectLst/>
                          <a:latin typeface="Helvetica Neue"/>
                        </a:rPr>
                        <a:t>(</a:t>
                      </a:r>
                      <a:r>
                        <a:rPr lang="zh-CN" altLang="en-US" dirty="0">
                          <a:solidFill>
                            <a:schemeClr val="tx1"/>
                          </a:solidFill>
                          <a:effectLst/>
                          <a:latin typeface="Helvetica Neue"/>
                        </a:rPr>
                        <a:t>年</a:t>
                      </a:r>
                      <a:r>
                        <a:rPr lang="en-US" altLang="zh-CN" dirty="0">
                          <a:solidFill>
                            <a:schemeClr val="tx1"/>
                          </a:solidFill>
                          <a:effectLst/>
                          <a:latin typeface="Helvetica Neue"/>
                        </a:rPr>
                        <a:t>)</a:t>
                      </a:r>
                    </a:p>
                  </a:txBody>
                  <a:tcPr anchor="ctr"/>
                </a:tc>
                <a:extLst>
                  <a:ext uri="{0D108BD9-81ED-4DB2-BD59-A6C34878D82A}">
                    <a16:rowId xmlns:a16="http://schemas.microsoft.com/office/drawing/2014/main" val="1499247123"/>
                  </a:ext>
                </a:extLst>
              </a:tr>
              <a:tr h="526709">
                <a:tc>
                  <a:txBody>
                    <a:bodyPr/>
                    <a:lstStyle/>
                    <a:p>
                      <a:pPr algn="ctr"/>
                      <a:r>
                        <a:rPr lang="zh-CN" altLang="en-US" dirty="0">
                          <a:solidFill>
                            <a:schemeClr val="tx1"/>
                          </a:solidFill>
                          <a:effectLst/>
                          <a:latin typeface="Helvetica Neue"/>
                        </a:rPr>
                        <a:t>水星</a:t>
                      </a:r>
                    </a:p>
                  </a:txBody>
                  <a:tcPr anchor="ctr"/>
                </a:tc>
                <a:tc>
                  <a:txBody>
                    <a:bodyPr/>
                    <a:lstStyle/>
                    <a:p>
                      <a:pPr algn="ctr"/>
                      <a:r>
                        <a:rPr lang="en-US" altLang="zh-CN" dirty="0">
                          <a:solidFill>
                            <a:schemeClr val="tx1"/>
                          </a:solidFill>
                          <a:effectLst/>
                          <a:latin typeface="Helvetica Neue"/>
                        </a:rPr>
                        <a:t>0.387</a:t>
                      </a:r>
                    </a:p>
                  </a:txBody>
                  <a:tcPr anchor="ctr"/>
                </a:tc>
                <a:tc>
                  <a:txBody>
                    <a:bodyPr/>
                    <a:lstStyle/>
                    <a:p>
                      <a:pPr algn="ctr"/>
                      <a:r>
                        <a:rPr lang="en-US" altLang="zh-CN" dirty="0">
                          <a:solidFill>
                            <a:schemeClr val="tx1"/>
                          </a:solidFill>
                          <a:effectLst/>
                          <a:latin typeface="Helvetica Neue"/>
                        </a:rPr>
                        <a:t>0.241</a:t>
                      </a:r>
                    </a:p>
                  </a:txBody>
                  <a:tcPr anchor="ctr"/>
                </a:tc>
                <a:extLst>
                  <a:ext uri="{0D108BD9-81ED-4DB2-BD59-A6C34878D82A}">
                    <a16:rowId xmlns:a16="http://schemas.microsoft.com/office/drawing/2014/main" val="3219009316"/>
                  </a:ext>
                </a:extLst>
              </a:tr>
              <a:tr h="526709">
                <a:tc>
                  <a:txBody>
                    <a:bodyPr/>
                    <a:lstStyle/>
                    <a:p>
                      <a:pPr algn="ctr"/>
                      <a:r>
                        <a:rPr lang="zh-CN" altLang="en-US">
                          <a:solidFill>
                            <a:schemeClr val="tx1"/>
                          </a:solidFill>
                          <a:effectLst/>
                          <a:latin typeface="Helvetica Neue"/>
                        </a:rPr>
                        <a:t>金星</a:t>
                      </a:r>
                    </a:p>
                  </a:txBody>
                  <a:tcPr anchor="ctr"/>
                </a:tc>
                <a:tc>
                  <a:txBody>
                    <a:bodyPr/>
                    <a:lstStyle/>
                    <a:p>
                      <a:pPr algn="ctr"/>
                      <a:r>
                        <a:rPr lang="en-US" altLang="zh-CN" dirty="0">
                          <a:solidFill>
                            <a:schemeClr val="tx1"/>
                          </a:solidFill>
                          <a:effectLst/>
                          <a:latin typeface="Helvetica Neue"/>
                        </a:rPr>
                        <a:t>0.723</a:t>
                      </a:r>
                    </a:p>
                  </a:txBody>
                  <a:tcPr anchor="ctr"/>
                </a:tc>
                <a:tc>
                  <a:txBody>
                    <a:bodyPr/>
                    <a:lstStyle/>
                    <a:p>
                      <a:pPr algn="ctr"/>
                      <a:r>
                        <a:rPr lang="en-US" altLang="zh-CN" dirty="0">
                          <a:solidFill>
                            <a:schemeClr val="tx1"/>
                          </a:solidFill>
                          <a:effectLst/>
                          <a:latin typeface="Helvetica Neue"/>
                        </a:rPr>
                        <a:t>0.615</a:t>
                      </a:r>
                    </a:p>
                  </a:txBody>
                  <a:tcPr anchor="ctr"/>
                </a:tc>
                <a:extLst>
                  <a:ext uri="{0D108BD9-81ED-4DB2-BD59-A6C34878D82A}">
                    <a16:rowId xmlns:a16="http://schemas.microsoft.com/office/drawing/2014/main" val="269670456"/>
                  </a:ext>
                </a:extLst>
              </a:tr>
              <a:tr h="526709">
                <a:tc>
                  <a:txBody>
                    <a:bodyPr/>
                    <a:lstStyle/>
                    <a:p>
                      <a:pPr algn="ctr"/>
                      <a:r>
                        <a:rPr lang="zh-CN" altLang="en-US">
                          <a:solidFill>
                            <a:schemeClr val="tx1"/>
                          </a:solidFill>
                          <a:effectLst/>
                          <a:latin typeface="Helvetica Neue"/>
                        </a:rPr>
                        <a:t>地球</a:t>
                      </a:r>
                    </a:p>
                  </a:txBody>
                  <a:tcPr anchor="ctr"/>
                </a:tc>
                <a:tc>
                  <a:txBody>
                    <a:bodyPr/>
                    <a:lstStyle/>
                    <a:p>
                      <a:pPr algn="ctr"/>
                      <a:r>
                        <a:rPr lang="en-US" altLang="zh-CN" dirty="0">
                          <a:solidFill>
                            <a:schemeClr val="tx1"/>
                          </a:solidFill>
                          <a:effectLst/>
                          <a:latin typeface="Helvetica Neue"/>
                        </a:rPr>
                        <a:t>1.000</a:t>
                      </a:r>
                    </a:p>
                  </a:txBody>
                  <a:tcPr anchor="ctr"/>
                </a:tc>
                <a:tc>
                  <a:txBody>
                    <a:bodyPr/>
                    <a:lstStyle/>
                    <a:p>
                      <a:pPr algn="ctr"/>
                      <a:r>
                        <a:rPr lang="en-US" altLang="zh-CN" dirty="0">
                          <a:solidFill>
                            <a:schemeClr val="tx1"/>
                          </a:solidFill>
                          <a:effectLst/>
                          <a:latin typeface="Helvetica Neue"/>
                        </a:rPr>
                        <a:t>1.000</a:t>
                      </a:r>
                    </a:p>
                  </a:txBody>
                  <a:tcPr anchor="ctr"/>
                </a:tc>
                <a:extLst>
                  <a:ext uri="{0D108BD9-81ED-4DB2-BD59-A6C34878D82A}">
                    <a16:rowId xmlns:a16="http://schemas.microsoft.com/office/drawing/2014/main" val="2915728488"/>
                  </a:ext>
                </a:extLst>
              </a:tr>
              <a:tr h="526709">
                <a:tc>
                  <a:txBody>
                    <a:bodyPr/>
                    <a:lstStyle/>
                    <a:p>
                      <a:pPr algn="ctr"/>
                      <a:r>
                        <a:rPr lang="zh-CN" altLang="en-US">
                          <a:solidFill>
                            <a:schemeClr val="tx1"/>
                          </a:solidFill>
                          <a:effectLst/>
                          <a:latin typeface="Helvetica Neue"/>
                        </a:rPr>
                        <a:t>火星</a:t>
                      </a:r>
                    </a:p>
                  </a:txBody>
                  <a:tcPr anchor="ctr"/>
                </a:tc>
                <a:tc>
                  <a:txBody>
                    <a:bodyPr/>
                    <a:lstStyle/>
                    <a:p>
                      <a:pPr algn="ctr"/>
                      <a:r>
                        <a:rPr lang="en-US" altLang="zh-CN" dirty="0">
                          <a:solidFill>
                            <a:schemeClr val="tx1"/>
                          </a:solidFill>
                          <a:effectLst/>
                          <a:latin typeface="Helvetica Neue"/>
                        </a:rPr>
                        <a:t>1.524</a:t>
                      </a:r>
                    </a:p>
                  </a:txBody>
                  <a:tcPr anchor="ctr"/>
                </a:tc>
                <a:tc>
                  <a:txBody>
                    <a:bodyPr/>
                    <a:lstStyle/>
                    <a:p>
                      <a:pPr algn="ctr"/>
                      <a:r>
                        <a:rPr lang="en-US" altLang="zh-CN" dirty="0">
                          <a:solidFill>
                            <a:schemeClr val="tx1"/>
                          </a:solidFill>
                          <a:effectLst/>
                          <a:latin typeface="Helvetica Neue"/>
                        </a:rPr>
                        <a:t>1.881</a:t>
                      </a:r>
                    </a:p>
                  </a:txBody>
                  <a:tcPr anchor="ctr"/>
                </a:tc>
                <a:extLst>
                  <a:ext uri="{0D108BD9-81ED-4DB2-BD59-A6C34878D82A}">
                    <a16:rowId xmlns:a16="http://schemas.microsoft.com/office/drawing/2014/main" val="3434762243"/>
                  </a:ext>
                </a:extLst>
              </a:tr>
              <a:tr h="526709">
                <a:tc>
                  <a:txBody>
                    <a:bodyPr/>
                    <a:lstStyle/>
                    <a:p>
                      <a:pPr algn="ctr"/>
                      <a:r>
                        <a:rPr lang="zh-CN" altLang="en-US">
                          <a:solidFill>
                            <a:schemeClr val="tx1"/>
                          </a:solidFill>
                          <a:effectLst/>
                          <a:latin typeface="Helvetica Neue"/>
                        </a:rPr>
                        <a:t>木星</a:t>
                      </a:r>
                    </a:p>
                  </a:txBody>
                  <a:tcPr anchor="ctr"/>
                </a:tc>
                <a:tc>
                  <a:txBody>
                    <a:bodyPr/>
                    <a:lstStyle/>
                    <a:p>
                      <a:pPr algn="ctr"/>
                      <a:r>
                        <a:rPr lang="en-US" altLang="zh-CN" dirty="0">
                          <a:solidFill>
                            <a:schemeClr val="tx1"/>
                          </a:solidFill>
                          <a:effectLst/>
                          <a:latin typeface="Helvetica Neue"/>
                        </a:rPr>
                        <a:t>5.204</a:t>
                      </a:r>
                    </a:p>
                  </a:txBody>
                  <a:tcPr anchor="ctr"/>
                </a:tc>
                <a:tc>
                  <a:txBody>
                    <a:bodyPr/>
                    <a:lstStyle/>
                    <a:p>
                      <a:pPr algn="ctr"/>
                      <a:r>
                        <a:rPr lang="en-US" altLang="zh-CN" dirty="0">
                          <a:solidFill>
                            <a:schemeClr val="tx1"/>
                          </a:solidFill>
                          <a:effectLst/>
                          <a:latin typeface="Helvetica Neue"/>
                        </a:rPr>
                        <a:t>11.86</a:t>
                      </a:r>
                    </a:p>
                  </a:txBody>
                  <a:tcPr anchor="ctr"/>
                </a:tc>
                <a:extLst>
                  <a:ext uri="{0D108BD9-81ED-4DB2-BD59-A6C34878D82A}">
                    <a16:rowId xmlns:a16="http://schemas.microsoft.com/office/drawing/2014/main" val="2171718983"/>
                  </a:ext>
                </a:extLst>
              </a:tr>
              <a:tr h="526709">
                <a:tc>
                  <a:txBody>
                    <a:bodyPr/>
                    <a:lstStyle/>
                    <a:p>
                      <a:pPr algn="ctr"/>
                      <a:r>
                        <a:rPr lang="zh-CN" altLang="en-US" dirty="0">
                          <a:solidFill>
                            <a:schemeClr val="tx1"/>
                          </a:solidFill>
                          <a:effectLst/>
                          <a:latin typeface="Helvetica Neue"/>
                        </a:rPr>
                        <a:t>土星</a:t>
                      </a:r>
                    </a:p>
                  </a:txBody>
                  <a:tcPr anchor="ctr"/>
                </a:tc>
                <a:tc>
                  <a:txBody>
                    <a:bodyPr/>
                    <a:lstStyle/>
                    <a:p>
                      <a:pPr algn="ctr"/>
                      <a:r>
                        <a:rPr lang="en-US" altLang="zh-CN">
                          <a:solidFill>
                            <a:schemeClr val="tx1"/>
                          </a:solidFill>
                          <a:effectLst/>
                          <a:latin typeface="Helvetica Neue"/>
                        </a:rPr>
                        <a:t>9.582</a:t>
                      </a:r>
                    </a:p>
                  </a:txBody>
                  <a:tcPr anchor="ctr"/>
                </a:tc>
                <a:tc>
                  <a:txBody>
                    <a:bodyPr/>
                    <a:lstStyle/>
                    <a:p>
                      <a:pPr algn="ctr"/>
                      <a:r>
                        <a:rPr lang="en-US" altLang="zh-CN" dirty="0">
                          <a:solidFill>
                            <a:schemeClr val="tx1"/>
                          </a:solidFill>
                          <a:effectLst/>
                          <a:latin typeface="Helvetica Neue"/>
                        </a:rPr>
                        <a:t>29.46</a:t>
                      </a:r>
                    </a:p>
                  </a:txBody>
                  <a:tcPr anchor="ctr"/>
                </a:tc>
                <a:extLst>
                  <a:ext uri="{0D108BD9-81ED-4DB2-BD59-A6C34878D82A}">
                    <a16:rowId xmlns:a16="http://schemas.microsoft.com/office/drawing/2014/main" val="3417937587"/>
                  </a:ext>
                </a:extLst>
              </a:tr>
              <a:tr h="526709">
                <a:tc>
                  <a:txBody>
                    <a:bodyPr/>
                    <a:lstStyle/>
                    <a:p>
                      <a:pPr algn="ctr"/>
                      <a:r>
                        <a:rPr lang="zh-CN" altLang="en-US" dirty="0">
                          <a:solidFill>
                            <a:schemeClr val="tx1"/>
                          </a:solidFill>
                          <a:effectLst/>
                          <a:latin typeface="Helvetica Neue"/>
                        </a:rPr>
                        <a:t>天王星</a:t>
                      </a:r>
                    </a:p>
                  </a:txBody>
                  <a:tcPr anchor="ctr"/>
                </a:tc>
                <a:tc>
                  <a:txBody>
                    <a:bodyPr/>
                    <a:lstStyle/>
                    <a:p>
                      <a:pPr algn="ctr"/>
                      <a:r>
                        <a:rPr lang="en-US" altLang="zh-CN" dirty="0">
                          <a:solidFill>
                            <a:schemeClr val="tx1"/>
                          </a:solidFill>
                          <a:effectLst/>
                          <a:latin typeface="Helvetica Neue"/>
                        </a:rPr>
                        <a:t>19.19</a:t>
                      </a:r>
                    </a:p>
                  </a:txBody>
                  <a:tcPr anchor="ctr"/>
                </a:tc>
                <a:tc>
                  <a:txBody>
                    <a:bodyPr/>
                    <a:lstStyle/>
                    <a:p>
                      <a:pPr algn="ctr"/>
                      <a:r>
                        <a:rPr lang="en-US" altLang="zh-CN" dirty="0">
                          <a:solidFill>
                            <a:schemeClr val="tx1"/>
                          </a:solidFill>
                          <a:effectLst/>
                          <a:latin typeface="Helvetica Neue"/>
                        </a:rPr>
                        <a:t>84.01</a:t>
                      </a:r>
                    </a:p>
                  </a:txBody>
                  <a:tcPr anchor="ctr"/>
                </a:tc>
                <a:extLst>
                  <a:ext uri="{0D108BD9-81ED-4DB2-BD59-A6C34878D82A}">
                    <a16:rowId xmlns:a16="http://schemas.microsoft.com/office/drawing/2014/main" val="757545771"/>
                  </a:ext>
                </a:extLst>
              </a:tr>
              <a:tr h="526709">
                <a:tc>
                  <a:txBody>
                    <a:bodyPr/>
                    <a:lstStyle/>
                    <a:p>
                      <a:pPr algn="ctr"/>
                      <a:r>
                        <a:rPr lang="zh-CN" altLang="en-US">
                          <a:solidFill>
                            <a:schemeClr val="tx1"/>
                          </a:solidFill>
                          <a:effectLst/>
                          <a:latin typeface="Helvetica Neue"/>
                        </a:rPr>
                        <a:t>海王星</a:t>
                      </a:r>
                    </a:p>
                  </a:txBody>
                  <a:tcPr anchor="ctr"/>
                </a:tc>
                <a:tc>
                  <a:txBody>
                    <a:bodyPr/>
                    <a:lstStyle/>
                    <a:p>
                      <a:pPr algn="ctr"/>
                      <a:r>
                        <a:rPr lang="en-US" altLang="zh-CN" dirty="0">
                          <a:solidFill>
                            <a:schemeClr val="tx1"/>
                          </a:solidFill>
                          <a:effectLst/>
                          <a:latin typeface="Helvetica Neue"/>
                        </a:rPr>
                        <a:t>30.07</a:t>
                      </a:r>
                    </a:p>
                  </a:txBody>
                  <a:tcPr anchor="ctr"/>
                </a:tc>
                <a:tc>
                  <a:txBody>
                    <a:bodyPr/>
                    <a:lstStyle/>
                    <a:p>
                      <a:pPr algn="ctr"/>
                      <a:r>
                        <a:rPr lang="en-US" altLang="zh-CN" dirty="0">
                          <a:solidFill>
                            <a:schemeClr val="tx1"/>
                          </a:solidFill>
                          <a:effectLst/>
                          <a:latin typeface="Helvetica Neue"/>
                        </a:rPr>
                        <a:t>164.8</a:t>
                      </a:r>
                    </a:p>
                  </a:txBody>
                  <a:tcPr anchor="ctr"/>
                </a:tc>
                <a:extLst>
                  <a:ext uri="{0D108BD9-81ED-4DB2-BD59-A6C34878D82A}">
                    <a16:rowId xmlns:a16="http://schemas.microsoft.com/office/drawing/2014/main" val="3628158378"/>
                  </a:ext>
                </a:extLst>
              </a:tr>
            </a:tbl>
          </a:graphicData>
        </a:graphic>
      </p:graphicFrame>
      <p:graphicFrame>
        <p:nvGraphicFramePr>
          <p:cNvPr id="6" name="图表 5">
            <a:extLst>
              <a:ext uri="{FF2B5EF4-FFF2-40B4-BE49-F238E27FC236}">
                <a16:creationId xmlns:a16="http://schemas.microsoft.com/office/drawing/2014/main" id="{D6825042-96DA-4668-B1DE-846CE54BE14F}"/>
              </a:ext>
            </a:extLst>
          </p:cNvPr>
          <p:cNvGraphicFramePr>
            <a:graphicFrameLocks/>
          </p:cNvGraphicFramePr>
          <p:nvPr>
            <p:extLst>
              <p:ext uri="{D42A27DB-BD31-4B8C-83A1-F6EECF244321}">
                <p14:modId xmlns:p14="http://schemas.microsoft.com/office/powerpoint/2010/main" val="1301036976"/>
              </p:ext>
            </p:extLst>
          </p:nvPr>
        </p:nvGraphicFramePr>
        <p:xfrm>
          <a:off x="6478388" y="1757363"/>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127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23FCD7B-344B-4BB1-88F6-59BA61862462}"/>
              </a:ext>
            </a:extLst>
          </p:cNvPr>
          <p:cNvSpPr txBox="1"/>
          <p:nvPr/>
        </p:nvSpPr>
        <p:spPr>
          <a:xfrm>
            <a:off x="334976" y="225894"/>
            <a:ext cx="2031325" cy="646331"/>
          </a:xfrm>
          <a:prstGeom prst="rect">
            <a:avLst/>
          </a:prstGeom>
          <a:noFill/>
        </p:spPr>
        <p:txBody>
          <a:bodyPr wrap="none" rtlCol="0">
            <a:spAutoFit/>
          </a:bodyPr>
          <a:lstStyle/>
          <a:p>
            <a:r>
              <a:rPr lang="zh-CN" altLang="en-US" sz="3600" b="1" dirty="0">
                <a:solidFill>
                  <a:srgbClr val="3B4660"/>
                </a:solidFill>
                <a:latin typeface="Times New Roman" panose="02020603050405020304" pitchFamily="18" charset="0"/>
                <a:cs typeface="+mn-ea"/>
                <a:sym typeface="+mn-lt"/>
              </a:rPr>
              <a:t>数学工具</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0EC7F4C0-8EF2-4C9D-94FD-FB2A198BD55E}"/>
                  </a:ext>
                </a:extLst>
              </p:cNvPr>
              <p:cNvSpPr/>
              <p:nvPr/>
            </p:nvSpPr>
            <p:spPr>
              <a:xfrm>
                <a:off x="1316571" y="1750872"/>
                <a:ext cx="2692083" cy="8309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4800" i="1" kern="100" smtClean="0">
                          <a:latin typeface="Cambria Math" panose="02040503050406030204" pitchFamily="18" charset="0"/>
                          <a:ea typeface="等线" panose="02010600030101010101" pitchFamily="2" charset="-122"/>
                          <a:cs typeface="Times New Roman" panose="02020603050405020304" pitchFamily="18" charset="0"/>
                        </a:rPr>
                        <m:t>𝑇</m:t>
                      </m:r>
                      <m:r>
                        <a:rPr lang="en-US" altLang="zh-CN" sz="4800" i="1"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4800" b="0" i="1" kern="100" smtClean="0">
                          <a:latin typeface="Cambria Math" panose="02040503050406030204" pitchFamily="18" charset="0"/>
                          <a:ea typeface="等线" panose="02010600030101010101" pitchFamily="2" charset="-122"/>
                          <a:cs typeface="Times New Roman" panose="02020603050405020304" pitchFamily="18" charset="0"/>
                        </a:rPr>
                        <m:t>𝑘</m:t>
                      </m:r>
                      <m:sSup>
                        <m:sSupPr>
                          <m:ctrlPr>
                            <a:rPr lang="zh-CN" altLang="zh-CN" sz="48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4800" b="0" i="1" kern="10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sz="4800" i="1" kern="100">
                              <a:latin typeface="Cambria Math" panose="02040503050406030204" pitchFamily="18" charset="0"/>
                              <a:ea typeface="等线" panose="02010600030101010101" pitchFamily="2" charset="-122"/>
                              <a:cs typeface="Times New Roman" panose="02020603050405020304" pitchFamily="18" charset="0"/>
                            </a:rPr>
                            <m:t>𝑟</m:t>
                          </m:r>
                        </m:e>
                        <m:sup>
                          <m:r>
                            <a:rPr lang="en-US" altLang="zh-CN" sz="4800" i="1" kern="100">
                              <a:latin typeface="Cambria Math" panose="02040503050406030204" pitchFamily="18" charset="0"/>
                              <a:ea typeface="等线" panose="02010600030101010101" pitchFamily="2" charset="-122"/>
                              <a:cs typeface="Times New Roman" panose="02020603050405020304" pitchFamily="18" charset="0"/>
                            </a:rPr>
                            <m:t>𝛼</m:t>
                          </m:r>
                        </m:sup>
                      </m:sSup>
                    </m:oMath>
                  </m:oMathPara>
                </a14:m>
                <a:endParaRPr lang="zh-CN" altLang="en-US" sz="4800" dirty="0"/>
              </a:p>
            </p:txBody>
          </p:sp>
        </mc:Choice>
        <mc:Fallback xmlns="">
          <p:sp>
            <p:nvSpPr>
              <p:cNvPr id="9" name="矩形 8">
                <a:extLst>
                  <a:ext uri="{FF2B5EF4-FFF2-40B4-BE49-F238E27FC236}">
                    <a16:creationId xmlns:a16="http://schemas.microsoft.com/office/drawing/2014/main" id="{0EC7F4C0-8EF2-4C9D-94FD-FB2A198BD55E}"/>
                  </a:ext>
                </a:extLst>
              </p:cNvPr>
              <p:cNvSpPr>
                <a:spLocks noRot="1" noChangeAspect="1" noMove="1" noResize="1" noEditPoints="1" noAdjustHandles="1" noChangeArrowheads="1" noChangeShapeType="1" noTextEdit="1"/>
              </p:cNvSpPr>
              <p:nvPr/>
            </p:nvSpPr>
            <p:spPr>
              <a:xfrm>
                <a:off x="1316571" y="1750872"/>
                <a:ext cx="2692083" cy="830997"/>
              </a:xfrm>
              <a:prstGeom prst="rect">
                <a:avLst/>
              </a:prstGeom>
              <a:blipFill>
                <a:blip r:embed="rId2"/>
                <a:stretch>
                  <a:fillRect/>
                </a:stretch>
              </a:blipFill>
            </p:spPr>
            <p:txBody>
              <a:bodyPr/>
              <a:lstStyle/>
              <a:p>
                <a:r>
                  <a:rPr lang="zh-CN" altLang="en-US">
                    <a:noFill/>
                  </a:rPr>
                  <a:t> </a:t>
                </a:r>
              </a:p>
            </p:txBody>
          </p:sp>
        </mc:Fallback>
      </mc:AlternateContent>
      <p:grpSp>
        <p:nvGrpSpPr>
          <p:cNvPr id="18" name="组合 17">
            <a:extLst>
              <a:ext uri="{FF2B5EF4-FFF2-40B4-BE49-F238E27FC236}">
                <a16:creationId xmlns:a16="http://schemas.microsoft.com/office/drawing/2014/main" id="{E9338EF7-3EDC-450D-B696-11EAA4E0BA2E}"/>
              </a:ext>
            </a:extLst>
          </p:cNvPr>
          <p:cNvGrpSpPr/>
          <p:nvPr/>
        </p:nvGrpSpPr>
        <p:grpSpPr>
          <a:xfrm>
            <a:off x="3470663" y="1337919"/>
            <a:ext cx="1317041" cy="965399"/>
            <a:chOff x="4781605" y="2008825"/>
            <a:chExt cx="1317041" cy="965399"/>
          </a:xfrm>
        </p:grpSpPr>
        <p:sp>
          <p:nvSpPr>
            <p:cNvPr id="19" name="椭圆 18">
              <a:extLst>
                <a:ext uri="{FF2B5EF4-FFF2-40B4-BE49-F238E27FC236}">
                  <a16:creationId xmlns:a16="http://schemas.microsoft.com/office/drawing/2014/main" id="{DD4188DD-A22D-4738-8E41-CCAAD2F05DDA}"/>
                </a:ext>
              </a:extLst>
            </p:cNvPr>
            <p:cNvSpPr/>
            <p:nvPr/>
          </p:nvSpPr>
          <p:spPr>
            <a:xfrm>
              <a:off x="4781605" y="2511884"/>
              <a:ext cx="466495" cy="46234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a:extLst>
                <a:ext uri="{FF2B5EF4-FFF2-40B4-BE49-F238E27FC236}">
                  <a16:creationId xmlns:a16="http://schemas.microsoft.com/office/drawing/2014/main" id="{6238ED05-EBBD-4CD6-871A-8B1B4C5C2BBC}"/>
                </a:ext>
              </a:extLst>
            </p:cNvPr>
            <p:cNvCxnSpPr>
              <a:cxnSpLocks/>
              <a:stCxn id="19" idx="7"/>
            </p:cNvCxnSpPr>
            <p:nvPr/>
          </p:nvCxnSpPr>
          <p:spPr>
            <a:xfrm flipV="1">
              <a:off x="5179783" y="2369132"/>
              <a:ext cx="289990" cy="21046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21" name="文本框 20">
              <a:extLst>
                <a:ext uri="{FF2B5EF4-FFF2-40B4-BE49-F238E27FC236}">
                  <a16:creationId xmlns:a16="http://schemas.microsoft.com/office/drawing/2014/main" id="{1B19C9EE-3FF2-425F-A04D-03F2E036CF9E}"/>
                </a:ext>
              </a:extLst>
            </p:cNvPr>
            <p:cNvSpPr txBox="1"/>
            <p:nvPr/>
          </p:nvSpPr>
          <p:spPr>
            <a:xfrm>
              <a:off x="5452315" y="2008825"/>
              <a:ext cx="646331" cy="369332"/>
            </a:xfrm>
            <a:prstGeom prst="rect">
              <a:avLst/>
            </a:prstGeom>
            <a:noFill/>
          </p:spPr>
          <p:txBody>
            <a:bodyPr wrap="none" rtlCol="0">
              <a:spAutoFit/>
            </a:bodyPr>
            <a:lstStyle/>
            <a:p>
              <a:r>
                <a:rPr lang="zh-CN" altLang="en-US" dirty="0"/>
                <a:t>指数</a:t>
              </a:r>
            </a:p>
          </p:txBody>
        </p:sp>
      </p:gr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90F9EFA-7DD3-42FE-8381-D49C982DD8E1}"/>
                  </a:ext>
                </a:extLst>
              </p:cNvPr>
              <p:cNvSpPr/>
              <p:nvPr/>
            </p:nvSpPr>
            <p:spPr>
              <a:xfrm>
                <a:off x="1316571" y="3171579"/>
                <a:ext cx="5727209" cy="978217"/>
              </a:xfrm>
              <a:prstGeom prst="rect">
                <a:avLst/>
              </a:prstGeom>
            </p:spPr>
            <p:txBody>
              <a:bodyPr wrap="none">
                <a:spAutoFit/>
              </a:bodyPr>
              <a:lstStyle/>
              <a:p>
                <a:r>
                  <a:rPr lang="zh-CN" altLang="en-US" sz="2800" dirty="0"/>
                  <a:t>指数</a:t>
                </a:r>
                <a14:m>
                  <m:oMath xmlns:m="http://schemas.openxmlformats.org/officeDocument/2006/math">
                    <m:r>
                      <a:rPr lang="zh-CN" altLang="en-US" sz="2800" i="1">
                        <a:latin typeface="Cambria Math" panose="02040503050406030204" pitchFamily="18" charset="0"/>
                      </a:rPr>
                      <m:t>为</m:t>
                    </m:r>
                    <m:r>
                      <a:rPr lang="zh-CN" altLang="en-US" sz="2800" i="1" smtClean="0">
                        <a:latin typeface="Cambria Math" panose="02040503050406030204" pitchFamily="18" charset="0"/>
                      </a:rPr>
                      <m:t>整数</m:t>
                    </m:r>
                    <m:r>
                      <a:rPr lang="zh-CN" altLang="en-US" sz="2800" i="1">
                        <a:latin typeface="Cambria Math" panose="02040503050406030204" pitchFamily="18" charset="0"/>
                      </a:rPr>
                      <m:t>时</m:t>
                    </m:r>
                    <m:r>
                      <a:rPr lang="zh-CN" altLang="en-US" sz="2800" i="1" smtClean="0">
                        <a:latin typeface="Cambria Math" panose="02040503050406030204" pitchFamily="18" charset="0"/>
                      </a:rPr>
                      <m:t>，</m:t>
                    </m:r>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𝑎</m:t>
                        </m:r>
                      </m:e>
                      <m:sup>
                        <m:r>
                          <a:rPr lang="zh-CN" altLang="en-US" sz="2800" i="1">
                            <a:latin typeface="Cambria Math" panose="02040503050406030204" pitchFamily="18" charset="0"/>
                          </a:rPr>
                          <m:t>𝑛</m:t>
                        </m:r>
                      </m:sup>
                    </m:sSup>
                    <m:r>
                      <a:rPr lang="zh-CN" altLang="en-US" sz="2800" i="0">
                        <a:latin typeface="Cambria Math" panose="02040503050406030204" pitchFamily="18" charset="0"/>
                      </a:rPr>
                      <m:t>=</m:t>
                    </m:r>
                    <m:limLow>
                      <m:limLowPr>
                        <m:ctrlPr>
                          <a:rPr lang="zh-CN" altLang="en-US" sz="2800" i="1">
                            <a:latin typeface="Cambria Math" panose="02040503050406030204" pitchFamily="18" charset="0"/>
                          </a:rPr>
                        </m:ctrlPr>
                      </m:limLowPr>
                      <m:e>
                        <m:groupChr>
                          <m:groupChrPr>
                            <m:chr m:val="⏟"/>
                            <m:ctrlPr>
                              <a:rPr lang="zh-CN" altLang="en-US" sz="2800" i="1">
                                <a:latin typeface="Cambria Math" panose="02040503050406030204" pitchFamily="18" charset="0"/>
                              </a:rPr>
                            </m:ctrlPr>
                          </m:groupChrPr>
                          <m:e>
                            <m:r>
                              <a:rPr lang="zh-CN" altLang="en-US" sz="2800" i="1">
                                <a:latin typeface="Cambria Math" panose="02040503050406030204" pitchFamily="18" charset="0"/>
                              </a:rPr>
                              <m:t>𝑎</m:t>
                            </m:r>
                            <m:r>
                              <a:rPr lang="zh-CN" altLang="en-US" sz="2800" i="0">
                                <a:latin typeface="Cambria Math" panose="02040503050406030204" pitchFamily="18" charset="0"/>
                              </a:rPr>
                              <m:t>×</m:t>
                            </m:r>
                            <m:r>
                              <a:rPr lang="zh-CN" altLang="en-US" sz="2800" i="1">
                                <a:latin typeface="Cambria Math" panose="02040503050406030204" pitchFamily="18" charset="0"/>
                              </a:rPr>
                              <m:t>𝑎</m:t>
                            </m:r>
                            <m:r>
                              <a:rPr lang="zh-CN" altLang="en-US" sz="2800" i="0">
                                <a:latin typeface="Cambria Math" panose="02040503050406030204" pitchFamily="18" charset="0"/>
                              </a:rPr>
                              <m:t>×⋯×</m:t>
                            </m:r>
                            <m:r>
                              <a:rPr lang="zh-CN" altLang="en-US" sz="2800" i="1">
                                <a:latin typeface="Cambria Math" panose="02040503050406030204" pitchFamily="18" charset="0"/>
                              </a:rPr>
                              <m:t>𝑎</m:t>
                            </m:r>
                          </m:e>
                        </m:groupChr>
                      </m:e>
                      <m:lim>
                        <m:r>
                          <a:rPr lang="zh-CN" altLang="en-US" sz="2800" i="1">
                            <a:latin typeface="Cambria Math" panose="02040503050406030204" pitchFamily="18" charset="0"/>
                          </a:rPr>
                          <m:t>𝑛</m:t>
                        </m:r>
                        <m:r>
                          <a:rPr lang="zh-CN" altLang="en-US" sz="2800" i="0">
                            <a:latin typeface="Cambria Math" panose="02040503050406030204" pitchFamily="18" charset="0"/>
                          </a:rPr>
                          <m:t>个</m:t>
                        </m:r>
                      </m:lim>
                    </m:limLow>
                  </m:oMath>
                </a14:m>
                <a:endParaRPr lang="zh-CN" altLang="en-US" sz="2800" dirty="0"/>
              </a:p>
            </p:txBody>
          </p:sp>
        </mc:Choice>
        <mc:Fallback xmlns="">
          <p:sp>
            <p:nvSpPr>
              <p:cNvPr id="2" name="矩形 1">
                <a:extLst>
                  <a:ext uri="{FF2B5EF4-FFF2-40B4-BE49-F238E27FC236}">
                    <a16:creationId xmlns:a16="http://schemas.microsoft.com/office/drawing/2014/main" id="{890F9EFA-7DD3-42FE-8381-D49C982DD8E1}"/>
                  </a:ext>
                </a:extLst>
              </p:cNvPr>
              <p:cNvSpPr>
                <a:spLocks noRot="1" noChangeAspect="1" noMove="1" noResize="1" noEditPoints="1" noAdjustHandles="1" noChangeArrowheads="1" noChangeShapeType="1" noTextEdit="1"/>
              </p:cNvSpPr>
              <p:nvPr/>
            </p:nvSpPr>
            <p:spPr>
              <a:xfrm>
                <a:off x="1316571" y="3171579"/>
                <a:ext cx="5727209" cy="978217"/>
              </a:xfrm>
              <a:prstGeom prst="rect">
                <a:avLst/>
              </a:prstGeom>
              <a:blipFill>
                <a:blip r:embed="rId3"/>
                <a:stretch>
                  <a:fillRect l="-2236" t="-5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7CDD8B8B-D9D6-448F-ACD2-39AC14C0BF6C}"/>
                  </a:ext>
                </a:extLst>
              </p:cNvPr>
              <p:cNvSpPr/>
              <p:nvPr/>
            </p:nvSpPr>
            <p:spPr>
              <a:xfrm>
                <a:off x="1316571" y="4339252"/>
                <a:ext cx="6871819" cy="1336520"/>
              </a:xfrm>
              <a:prstGeom prst="rect">
                <a:avLst/>
              </a:prstGeom>
            </p:spPr>
            <p:txBody>
              <a:bodyPr wrap="square">
                <a:spAutoFit/>
              </a:bodyPr>
              <a:lstStyle/>
              <a:p>
                <a:r>
                  <a:rPr lang="zh-CN" altLang="zh-CN" sz="2800" dirty="0">
                    <a:latin typeface="+mn-ea"/>
                    <a:cs typeface="Times New Roman" panose="02020603050405020304" pitchFamily="18" charset="0"/>
                  </a:rPr>
                  <a:t>指数为分数时，</a:t>
                </a:r>
                <a14:m>
                  <m:oMath xmlns:m="http://schemas.openxmlformats.org/officeDocument/2006/math">
                    <m:sSup>
                      <m:sSupPr>
                        <m:ctrlPr>
                          <a:rPr lang="zh-CN" altLang="zh-CN" sz="2800" i="1">
                            <a:effectLst/>
                            <a:latin typeface="Cambria Math" panose="02040503050406030204" pitchFamily="18" charset="0"/>
                          </a:rPr>
                        </m:ctrlPr>
                      </m:sSupPr>
                      <m:e>
                        <m:r>
                          <a:rPr lang="en-US" altLang="zh-CN" sz="2800" i="1">
                            <a:latin typeface="Cambria Math" panose="02040503050406030204" pitchFamily="18" charset="0"/>
                            <a:cs typeface="Times New Roman" panose="02020603050405020304" pitchFamily="18" charset="0"/>
                          </a:rPr>
                          <m:t>𝑎</m:t>
                        </m:r>
                      </m:e>
                      <m:sup>
                        <m:f>
                          <m:fPr>
                            <m:ctrlPr>
                              <a:rPr lang="zh-CN" altLang="zh-CN" sz="2800" i="1">
                                <a:effectLst/>
                                <a:latin typeface="Cambria Math" panose="02040503050406030204" pitchFamily="18" charset="0"/>
                              </a:rPr>
                            </m:ctrlPr>
                          </m:fPr>
                          <m:num>
                            <m:r>
                              <a:rPr lang="en-US" altLang="zh-CN" sz="2800" i="1">
                                <a:latin typeface="Cambria Math" panose="02040503050406030204" pitchFamily="18" charset="0"/>
                                <a:cs typeface="Times New Roman" panose="02020603050405020304" pitchFamily="18" charset="0"/>
                              </a:rPr>
                              <m:t>1</m:t>
                            </m:r>
                          </m:num>
                          <m:den>
                            <m:r>
                              <a:rPr lang="en-US" altLang="zh-CN" sz="2800" i="1">
                                <a:latin typeface="Cambria Math" panose="02040503050406030204" pitchFamily="18" charset="0"/>
                                <a:cs typeface="Times New Roman" panose="02020603050405020304" pitchFamily="18" charset="0"/>
                              </a:rPr>
                              <m:t>𝑛</m:t>
                            </m:r>
                          </m:den>
                        </m:f>
                      </m:sup>
                    </m:sSup>
                    <m:r>
                      <a:rPr lang="en-US" altLang="zh-CN" sz="2800" i="1">
                        <a:latin typeface="Cambria Math" panose="02040503050406030204" pitchFamily="18" charset="0"/>
                        <a:cs typeface="Times New Roman" panose="02020603050405020304" pitchFamily="18" charset="0"/>
                      </a:rPr>
                      <m:t>=</m:t>
                    </m:r>
                    <m:rad>
                      <m:radPr>
                        <m:ctrlPr>
                          <a:rPr lang="zh-CN" altLang="zh-CN" sz="2800" i="1">
                            <a:effectLst/>
                            <a:latin typeface="Cambria Math" panose="02040503050406030204" pitchFamily="18" charset="0"/>
                          </a:rPr>
                        </m:ctrlPr>
                      </m:radPr>
                      <m:deg>
                        <m:r>
                          <a:rPr lang="en-US" altLang="zh-CN" sz="2800" i="1">
                            <a:latin typeface="Cambria Math" panose="02040503050406030204" pitchFamily="18" charset="0"/>
                            <a:cs typeface="Times New Roman" panose="02020603050405020304" pitchFamily="18" charset="0"/>
                          </a:rPr>
                          <m:t>𝑛</m:t>
                        </m:r>
                      </m:deg>
                      <m:e>
                        <m:r>
                          <a:rPr lang="en-US" altLang="zh-CN" sz="2800" i="1">
                            <a:latin typeface="Cambria Math" panose="02040503050406030204" pitchFamily="18" charset="0"/>
                            <a:cs typeface="Times New Roman" panose="02020603050405020304" pitchFamily="18" charset="0"/>
                          </a:rPr>
                          <m:t>𝑎</m:t>
                        </m:r>
                      </m:e>
                    </m:rad>
                  </m:oMath>
                </a14:m>
                <a:endParaRPr lang="en-US" altLang="zh-CN" sz="2800" i="1" dirty="0">
                  <a:latin typeface="+mn-ea"/>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zh-CN" altLang="zh-CN" sz="2800" i="1">
                              <a:effectLst/>
                              <a:latin typeface="Cambria Math" panose="02040503050406030204" pitchFamily="18" charset="0"/>
                            </a:rPr>
                          </m:ctrlPr>
                        </m:sSupPr>
                        <m:e>
                          <m:r>
                            <a:rPr lang="en-US" altLang="zh-CN" sz="2800" i="1">
                              <a:latin typeface="Cambria Math" panose="02040503050406030204" pitchFamily="18" charset="0"/>
                              <a:cs typeface="Times New Roman" panose="02020603050405020304" pitchFamily="18" charset="0"/>
                            </a:rPr>
                            <m:t>𝑎</m:t>
                          </m:r>
                        </m:e>
                        <m:sup>
                          <m:f>
                            <m:fPr>
                              <m:ctrlPr>
                                <a:rPr lang="zh-CN" altLang="zh-CN" sz="2800" i="1">
                                  <a:effectLst/>
                                  <a:latin typeface="Cambria Math" panose="02040503050406030204" pitchFamily="18" charset="0"/>
                                </a:rPr>
                              </m:ctrlPr>
                            </m:fPr>
                            <m:num>
                              <m:r>
                                <a:rPr lang="en-US" altLang="zh-CN" sz="2800" i="1">
                                  <a:latin typeface="Cambria Math" panose="02040503050406030204" pitchFamily="18" charset="0"/>
                                  <a:cs typeface="Times New Roman" panose="02020603050405020304" pitchFamily="18" charset="0"/>
                                </a:rPr>
                                <m:t>𝑚</m:t>
                              </m:r>
                            </m:num>
                            <m:den>
                              <m:r>
                                <a:rPr lang="en-US" altLang="zh-CN" sz="2800" i="1">
                                  <a:latin typeface="Cambria Math" panose="02040503050406030204" pitchFamily="18" charset="0"/>
                                  <a:cs typeface="Times New Roman" panose="02020603050405020304" pitchFamily="18" charset="0"/>
                                </a:rPr>
                                <m:t>𝑛</m:t>
                              </m:r>
                            </m:den>
                          </m:f>
                        </m:sup>
                      </m:sSup>
                      <m:r>
                        <a:rPr lang="en-US" altLang="zh-CN" sz="2800" i="1">
                          <a:latin typeface="Cambria Math" panose="02040503050406030204" pitchFamily="18" charset="0"/>
                          <a:cs typeface="Times New Roman" panose="02020603050405020304" pitchFamily="18" charset="0"/>
                        </a:rPr>
                        <m:t>=</m:t>
                      </m:r>
                      <m:sSup>
                        <m:sSupPr>
                          <m:ctrlPr>
                            <a:rPr lang="zh-CN" altLang="zh-CN" sz="2800" i="1">
                              <a:effectLst/>
                              <a:latin typeface="Cambria Math" panose="02040503050406030204" pitchFamily="18" charset="0"/>
                            </a:rPr>
                          </m:ctrlPr>
                        </m:sSupPr>
                        <m:e>
                          <m:r>
                            <a:rPr lang="en-US" altLang="zh-CN" sz="2800" i="1">
                              <a:latin typeface="Cambria Math" panose="02040503050406030204" pitchFamily="18" charset="0"/>
                              <a:cs typeface="Times New Roman" panose="02020603050405020304" pitchFamily="18" charset="0"/>
                            </a:rPr>
                            <m:t>(</m:t>
                          </m:r>
                          <m:sSup>
                            <m:sSupPr>
                              <m:ctrlPr>
                                <a:rPr lang="zh-CN" altLang="zh-CN" sz="2800" i="1">
                                  <a:effectLst/>
                                  <a:latin typeface="Cambria Math" panose="02040503050406030204" pitchFamily="18" charset="0"/>
                                </a:rPr>
                              </m:ctrlPr>
                            </m:sSupPr>
                            <m:e>
                              <m:r>
                                <a:rPr lang="en-US" altLang="zh-CN" sz="2800" i="1">
                                  <a:latin typeface="Cambria Math" panose="02040503050406030204" pitchFamily="18" charset="0"/>
                                  <a:cs typeface="Times New Roman" panose="02020603050405020304" pitchFamily="18" charset="0"/>
                                </a:rPr>
                                <m:t>𝑎</m:t>
                              </m:r>
                            </m:e>
                            <m:sup>
                              <m:f>
                                <m:fPr>
                                  <m:ctrlPr>
                                    <a:rPr lang="zh-CN" altLang="zh-CN" sz="2800" i="1">
                                      <a:effectLst/>
                                      <a:latin typeface="Cambria Math" panose="02040503050406030204" pitchFamily="18" charset="0"/>
                                    </a:rPr>
                                  </m:ctrlPr>
                                </m:fPr>
                                <m:num>
                                  <m:r>
                                    <a:rPr lang="en-US" altLang="zh-CN" sz="2800" i="1">
                                      <a:latin typeface="Cambria Math" panose="02040503050406030204" pitchFamily="18" charset="0"/>
                                      <a:cs typeface="Times New Roman" panose="02020603050405020304" pitchFamily="18" charset="0"/>
                                    </a:rPr>
                                    <m:t>1</m:t>
                                  </m:r>
                                </m:num>
                                <m:den>
                                  <m:r>
                                    <a:rPr lang="en-US" altLang="zh-CN" sz="2800" i="1">
                                      <a:latin typeface="Cambria Math" panose="02040503050406030204" pitchFamily="18" charset="0"/>
                                      <a:cs typeface="Times New Roman" panose="02020603050405020304" pitchFamily="18" charset="0"/>
                                    </a:rPr>
                                    <m:t>𝑛</m:t>
                                  </m:r>
                                </m:den>
                              </m:f>
                            </m:sup>
                          </m:sSup>
                          <m:r>
                            <a:rPr lang="en-US" altLang="zh-CN" sz="2800" i="1">
                              <a:latin typeface="Cambria Math" panose="02040503050406030204" pitchFamily="18" charset="0"/>
                              <a:cs typeface="Times New Roman" panose="02020603050405020304" pitchFamily="18" charset="0"/>
                            </a:rPr>
                            <m:t>)</m:t>
                          </m:r>
                        </m:e>
                        <m:sup>
                          <m:r>
                            <a:rPr lang="en-US" altLang="zh-CN" sz="2800" i="1">
                              <a:latin typeface="Cambria Math" panose="02040503050406030204" pitchFamily="18" charset="0"/>
                              <a:cs typeface="Times New Roman" panose="02020603050405020304" pitchFamily="18" charset="0"/>
                            </a:rPr>
                            <m:t>𝑚</m:t>
                          </m:r>
                        </m:sup>
                      </m:sSup>
                    </m:oMath>
                  </m:oMathPara>
                </a14:m>
                <a:endParaRPr lang="zh-CN" altLang="en-US" sz="2800" dirty="0">
                  <a:latin typeface="+mn-ea"/>
                </a:endParaRPr>
              </a:p>
            </p:txBody>
          </p:sp>
        </mc:Choice>
        <mc:Fallback xmlns="">
          <p:sp>
            <p:nvSpPr>
              <p:cNvPr id="5" name="矩形 4">
                <a:extLst>
                  <a:ext uri="{FF2B5EF4-FFF2-40B4-BE49-F238E27FC236}">
                    <a16:creationId xmlns:a16="http://schemas.microsoft.com/office/drawing/2014/main" id="{7CDD8B8B-D9D6-448F-ACD2-39AC14C0BF6C}"/>
                  </a:ext>
                </a:extLst>
              </p:cNvPr>
              <p:cNvSpPr>
                <a:spLocks noRot="1" noChangeAspect="1" noMove="1" noResize="1" noEditPoints="1" noAdjustHandles="1" noChangeArrowheads="1" noChangeShapeType="1" noTextEdit="1"/>
              </p:cNvSpPr>
              <p:nvPr/>
            </p:nvSpPr>
            <p:spPr>
              <a:xfrm>
                <a:off x="1316571" y="4339252"/>
                <a:ext cx="6871819" cy="1336520"/>
              </a:xfrm>
              <a:prstGeom prst="rect">
                <a:avLst/>
              </a:prstGeom>
              <a:blipFill>
                <a:blip r:embed="rId4"/>
                <a:stretch>
                  <a:fillRect l="-18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720C787-C2A9-4403-A414-6D8659012997}"/>
                  </a:ext>
                </a:extLst>
              </p:cNvPr>
              <p:cNvSpPr/>
              <p:nvPr/>
            </p:nvSpPr>
            <p:spPr>
              <a:xfrm>
                <a:off x="8040473" y="2836071"/>
                <a:ext cx="3482396" cy="2799869"/>
              </a:xfrm>
              <a:prstGeom prst="rect">
                <a:avLst/>
              </a:prstGeom>
              <a:ln w="28575"/>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zh-CN" altLang="en-US" sz="2400" dirty="0">
                    <a:latin typeface="+mn-ea"/>
                    <a:cs typeface="Times New Roman" panose="02020603050405020304" pitchFamily="18" charset="0"/>
                  </a:rPr>
                  <a:t>运算性质：</a:t>
                </a:r>
                <a:endParaRPr lang="en-US" altLang="zh-CN" sz="2400" dirty="0">
                  <a:latin typeface="+mn-ea"/>
                  <a:cs typeface="Times New Roman" panose="02020603050405020304" pitchFamily="18" charset="0"/>
                </a:endParaRPr>
              </a:p>
              <a:p>
                <a:pPr>
                  <a:lnSpc>
                    <a:spcPct val="150000"/>
                  </a:lnSpc>
                </a:pPr>
                <a14:m>
                  <m:oMath xmlns:m="http://schemas.openxmlformats.org/officeDocument/2006/math">
                    <m:r>
                      <a:rPr lang="en-US" altLang="zh-CN" sz="2400" i="1">
                        <a:latin typeface="Cambria Math" panose="02040503050406030204" pitchFamily="18" charset="0"/>
                        <a:cs typeface="Times New Roman" panose="02020603050405020304" pitchFamily="18" charset="0"/>
                      </a:rPr>
                      <m:t>𝑠</m:t>
                    </m:r>
                    <m:r>
                      <a:rPr lang="zh-CN" altLang="zh-CN" sz="2400">
                        <a:latin typeface="Cambria Math" panose="02040503050406030204" pitchFamily="18" charset="0"/>
                        <a:cs typeface="Times New Roman" panose="02020603050405020304" pitchFamily="18" charset="0"/>
                      </a:rPr>
                      <m:t>、</m:t>
                    </m:r>
                    <m:r>
                      <a:rPr lang="en-US" altLang="zh-CN" sz="2400" i="1">
                        <a:latin typeface="Cambria Math" panose="02040503050406030204" pitchFamily="18" charset="0"/>
                        <a:cs typeface="Times New Roman" panose="02020603050405020304" pitchFamily="18" charset="0"/>
                      </a:rPr>
                      <m:t>𝑡</m:t>
                    </m:r>
                    <m:r>
                      <a:rPr lang="zh-CN" altLang="zh-CN" sz="2400">
                        <a:latin typeface="Cambria Math" panose="02040503050406030204" pitchFamily="18" charset="0"/>
                        <a:cs typeface="Times New Roman" panose="02020603050405020304" pitchFamily="18" charset="0"/>
                      </a:rPr>
                      <m:t>为有理数</m:t>
                    </m:r>
                  </m:oMath>
                </a14:m>
                <a:r>
                  <a:rPr lang="zh-CN" altLang="en-US" sz="2400" dirty="0">
                    <a:latin typeface="+mn-ea"/>
                    <a:cs typeface="Times New Roman" panose="02020603050405020304" pitchFamily="18" charset="0"/>
                  </a:rPr>
                  <a:t>，</a:t>
                </a:r>
                <a:endParaRPr lang="en-US" altLang="zh-CN" sz="2400" dirty="0">
                  <a:latin typeface="+mn-ea"/>
                  <a:cs typeface="Times New Roman" panose="02020603050405020304" pitchFamily="18" charset="0"/>
                </a:endParaRPr>
              </a:p>
              <a:p>
                <a:pPr>
                  <a:lnSpc>
                    <a:spcPct val="150000"/>
                  </a:lnSpc>
                </a:pPr>
                <a14:m>
                  <m:oMath xmlns:m="http://schemas.openxmlformats.org/officeDocument/2006/math">
                    <m:sSup>
                      <m:sSupPr>
                        <m:ctrlPr>
                          <a:rPr lang="zh-CN" altLang="zh-CN" sz="2400" i="1">
                            <a:effectLst/>
                            <a:latin typeface="Cambria Math" panose="02040503050406030204" pitchFamily="18" charset="0"/>
                          </a:rPr>
                        </m:ctrlPr>
                      </m:sSupPr>
                      <m:e>
                        <m:r>
                          <a:rPr lang="en-US" altLang="zh-CN" sz="2400" i="1">
                            <a:latin typeface="Cambria Math" panose="02040503050406030204" pitchFamily="18" charset="0"/>
                            <a:cs typeface="Times New Roman" panose="02020603050405020304" pitchFamily="18" charset="0"/>
                          </a:rPr>
                          <m:t>𝑎</m:t>
                        </m:r>
                      </m:e>
                      <m:sup>
                        <m:r>
                          <a:rPr lang="en-US" altLang="zh-CN" sz="2400" i="1">
                            <a:latin typeface="Cambria Math" panose="02040503050406030204" pitchFamily="18" charset="0"/>
                            <a:cs typeface="Times New Roman" panose="02020603050405020304" pitchFamily="18" charset="0"/>
                          </a:rPr>
                          <m:t>𝑠</m:t>
                        </m:r>
                      </m:sup>
                    </m:sSup>
                    <m:sSup>
                      <m:sSupPr>
                        <m:ctrlPr>
                          <a:rPr lang="zh-CN" altLang="zh-CN" sz="2400" i="1">
                            <a:effectLst/>
                            <a:latin typeface="Cambria Math" panose="02040503050406030204" pitchFamily="18" charset="0"/>
                          </a:rPr>
                        </m:ctrlPr>
                      </m:sSupPr>
                      <m:e>
                        <m:r>
                          <a:rPr lang="en-US" altLang="zh-CN" sz="2400" i="1">
                            <a:latin typeface="Cambria Math" panose="02040503050406030204" pitchFamily="18" charset="0"/>
                            <a:cs typeface="Times New Roman" panose="02020603050405020304" pitchFamily="18" charset="0"/>
                          </a:rPr>
                          <m:t>𝑎</m:t>
                        </m:r>
                      </m:e>
                      <m:sup>
                        <m:r>
                          <a:rPr lang="en-US" altLang="zh-CN" sz="2400" i="1">
                            <a:latin typeface="Cambria Math" panose="02040503050406030204" pitchFamily="18" charset="0"/>
                            <a:cs typeface="Times New Roman" panose="02020603050405020304" pitchFamily="18" charset="0"/>
                          </a:rPr>
                          <m:t>𝑡</m:t>
                        </m:r>
                      </m:sup>
                    </m:sSup>
                    <m:r>
                      <a:rPr lang="en-US" altLang="zh-CN" sz="2400" i="1">
                        <a:latin typeface="Cambria Math" panose="02040503050406030204" pitchFamily="18" charset="0"/>
                        <a:cs typeface="Times New Roman" panose="02020603050405020304" pitchFamily="18" charset="0"/>
                      </a:rPr>
                      <m:t>=</m:t>
                    </m:r>
                    <m:sSup>
                      <m:sSupPr>
                        <m:ctrlPr>
                          <a:rPr lang="zh-CN" altLang="zh-CN" sz="2400" i="1">
                            <a:effectLst/>
                            <a:latin typeface="Cambria Math" panose="02040503050406030204" pitchFamily="18" charset="0"/>
                          </a:rPr>
                        </m:ctrlPr>
                      </m:sSupPr>
                      <m:e>
                        <m:r>
                          <a:rPr lang="en-US" altLang="zh-CN" sz="2400" i="1">
                            <a:latin typeface="Cambria Math" panose="02040503050406030204" pitchFamily="18" charset="0"/>
                            <a:cs typeface="Times New Roman" panose="02020603050405020304" pitchFamily="18" charset="0"/>
                          </a:rPr>
                          <m:t>𝑎</m:t>
                        </m:r>
                      </m:e>
                      <m:sup>
                        <m:r>
                          <a:rPr lang="en-US" altLang="zh-CN" sz="2400" i="1">
                            <a:latin typeface="Cambria Math" panose="02040503050406030204" pitchFamily="18" charset="0"/>
                            <a:cs typeface="Times New Roman" panose="02020603050405020304" pitchFamily="18" charset="0"/>
                          </a:rPr>
                          <m:t>𝑠</m:t>
                        </m:r>
                        <m:r>
                          <a:rPr lang="en-US" altLang="zh-CN" sz="2400" i="1">
                            <a:latin typeface="Cambria Math" panose="02040503050406030204" pitchFamily="18" charset="0"/>
                            <a:cs typeface="Times New Roman" panose="02020603050405020304" pitchFamily="18" charset="0"/>
                          </a:rPr>
                          <m:t>+</m:t>
                        </m:r>
                        <m:r>
                          <a:rPr lang="en-US" altLang="zh-CN" sz="2400" i="1">
                            <a:latin typeface="Cambria Math" panose="02040503050406030204" pitchFamily="18" charset="0"/>
                            <a:cs typeface="Times New Roman" panose="02020603050405020304" pitchFamily="18" charset="0"/>
                          </a:rPr>
                          <m:t>𝑡</m:t>
                        </m:r>
                      </m:sup>
                    </m:sSup>
                  </m:oMath>
                </a14:m>
                <a:r>
                  <a:rPr lang="zh-CN" altLang="zh-CN" sz="2400" dirty="0">
                    <a:latin typeface="+mn-ea"/>
                    <a:cs typeface="Times New Roman" panose="02020603050405020304" pitchFamily="18" charset="0"/>
                  </a:rPr>
                  <a:t>；</a:t>
                </a:r>
                <a:endParaRPr lang="en-US" altLang="zh-CN" sz="2400" dirty="0">
                  <a:latin typeface="+mn-ea"/>
                  <a:cs typeface="Times New Roman" panose="02020603050405020304" pitchFamily="18" charset="0"/>
                </a:endParaRPr>
              </a:p>
              <a:p>
                <a:pPr>
                  <a:lnSpc>
                    <a:spcPct val="150000"/>
                  </a:lnSpc>
                </a:pPr>
                <a14:m>
                  <m:oMath xmlns:m="http://schemas.openxmlformats.org/officeDocument/2006/math">
                    <m:sSup>
                      <m:sSupPr>
                        <m:ctrlPr>
                          <a:rPr lang="zh-CN" altLang="zh-CN" sz="2400" i="1">
                            <a:effectLst/>
                            <a:latin typeface="Cambria Math" panose="02040503050406030204" pitchFamily="18" charset="0"/>
                          </a:rPr>
                        </m:ctrlPr>
                      </m:sSupPr>
                      <m:e>
                        <m:r>
                          <a:rPr lang="en-US" altLang="zh-CN" sz="2400" i="1">
                            <a:latin typeface="Cambria Math" panose="02040503050406030204" pitchFamily="18" charset="0"/>
                            <a:cs typeface="Times New Roman" panose="02020603050405020304" pitchFamily="18" charset="0"/>
                          </a:rPr>
                          <m:t>(</m:t>
                        </m:r>
                        <m:sSup>
                          <m:sSupPr>
                            <m:ctrlPr>
                              <a:rPr lang="zh-CN" altLang="zh-CN" sz="2400" i="1">
                                <a:effectLst/>
                                <a:latin typeface="Cambria Math" panose="02040503050406030204" pitchFamily="18" charset="0"/>
                              </a:rPr>
                            </m:ctrlPr>
                          </m:sSupPr>
                          <m:e>
                            <m:r>
                              <a:rPr lang="en-US" altLang="zh-CN" sz="2400" i="1">
                                <a:latin typeface="Cambria Math" panose="02040503050406030204" pitchFamily="18" charset="0"/>
                                <a:cs typeface="Times New Roman" panose="02020603050405020304" pitchFamily="18" charset="0"/>
                              </a:rPr>
                              <m:t>𝑎</m:t>
                            </m:r>
                          </m:e>
                          <m:sup>
                            <m:r>
                              <a:rPr lang="en-US" altLang="zh-CN" sz="2400" i="1">
                                <a:latin typeface="Cambria Math" panose="02040503050406030204" pitchFamily="18" charset="0"/>
                                <a:cs typeface="Times New Roman" panose="02020603050405020304" pitchFamily="18" charset="0"/>
                              </a:rPr>
                              <m:t>𝑠</m:t>
                            </m:r>
                          </m:sup>
                        </m:sSup>
                        <m:r>
                          <a:rPr lang="en-US" altLang="zh-CN" sz="2400" i="1">
                            <a:latin typeface="Cambria Math" panose="02040503050406030204" pitchFamily="18" charset="0"/>
                            <a:cs typeface="Times New Roman" panose="02020603050405020304" pitchFamily="18" charset="0"/>
                          </a:rPr>
                          <m:t>)</m:t>
                        </m:r>
                      </m:e>
                      <m:sup>
                        <m:r>
                          <a:rPr lang="en-US" altLang="zh-CN" sz="2400" i="1">
                            <a:latin typeface="Cambria Math" panose="02040503050406030204" pitchFamily="18" charset="0"/>
                            <a:cs typeface="Times New Roman" panose="02020603050405020304" pitchFamily="18" charset="0"/>
                          </a:rPr>
                          <m:t>𝑡</m:t>
                        </m:r>
                      </m:sup>
                    </m:sSup>
                    <m:r>
                      <a:rPr lang="en-US" altLang="zh-CN" sz="2400" i="1">
                        <a:latin typeface="Cambria Math" panose="02040503050406030204" pitchFamily="18" charset="0"/>
                        <a:cs typeface="Times New Roman" panose="02020603050405020304" pitchFamily="18" charset="0"/>
                      </a:rPr>
                      <m:t>=</m:t>
                    </m:r>
                    <m:sSup>
                      <m:sSupPr>
                        <m:ctrlPr>
                          <a:rPr lang="zh-CN" altLang="zh-CN" sz="2400" i="1">
                            <a:effectLst/>
                            <a:latin typeface="Cambria Math" panose="02040503050406030204" pitchFamily="18" charset="0"/>
                          </a:rPr>
                        </m:ctrlPr>
                      </m:sSupPr>
                      <m:e>
                        <m:r>
                          <a:rPr lang="en-US" altLang="zh-CN" sz="2400" i="1">
                            <a:latin typeface="Cambria Math" panose="02040503050406030204" pitchFamily="18" charset="0"/>
                            <a:cs typeface="Times New Roman" panose="02020603050405020304" pitchFamily="18" charset="0"/>
                          </a:rPr>
                          <m:t>𝑎</m:t>
                        </m:r>
                      </m:e>
                      <m:sup>
                        <m:r>
                          <a:rPr lang="en-US" altLang="zh-CN" sz="2400" i="1">
                            <a:latin typeface="Cambria Math" panose="02040503050406030204" pitchFamily="18" charset="0"/>
                            <a:cs typeface="Times New Roman" panose="02020603050405020304" pitchFamily="18" charset="0"/>
                          </a:rPr>
                          <m:t>𝑠𝑡</m:t>
                        </m:r>
                      </m:sup>
                    </m:sSup>
                  </m:oMath>
                </a14:m>
                <a:r>
                  <a:rPr lang="zh-CN" altLang="zh-CN" sz="2400" dirty="0">
                    <a:latin typeface="+mn-ea"/>
                    <a:cs typeface="Times New Roman" panose="02020603050405020304" pitchFamily="18" charset="0"/>
                  </a:rPr>
                  <a:t>；</a:t>
                </a:r>
                <a:endParaRPr lang="en-US" altLang="zh-CN" sz="2400" dirty="0">
                  <a:latin typeface="+mn-ea"/>
                  <a:cs typeface="Times New Roman" panose="02020603050405020304" pitchFamily="18" charset="0"/>
                </a:endParaRPr>
              </a:p>
              <a:p>
                <a:pPr>
                  <a:lnSpc>
                    <a:spcPct val="150000"/>
                  </a:lnSpc>
                </a:pPr>
                <a14:m>
                  <m:oMath xmlns:m="http://schemas.openxmlformats.org/officeDocument/2006/math">
                    <m:sSup>
                      <m:sSupPr>
                        <m:ctrlPr>
                          <a:rPr lang="zh-CN" altLang="zh-CN" sz="2400" i="1">
                            <a:effectLst/>
                            <a:latin typeface="Cambria Math" panose="02040503050406030204" pitchFamily="18" charset="0"/>
                          </a:rPr>
                        </m:ctrlPr>
                      </m:sSupPr>
                      <m:e>
                        <m:r>
                          <a:rPr lang="en-US" altLang="zh-CN" sz="2400" i="1">
                            <a:latin typeface="Cambria Math" panose="02040503050406030204" pitchFamily="18" charset="0"/>
                            <a:cs typeface="Times New Roman" panose="02020603050405020304" pitchFamily="18" charset="0"/>
                          </a:rPr>
                          <m:t>(</m:t>
                        </m:r>
                        <m:r>
                          <a:rPr lang="en-US" altLang="zh-CN" sz="2400" i="1">
                            <a:latin typeface="Cambria Math" panose="02040503050406030204" pitchFamily="18" charset="0"/>
                            <a:cs typeface="Times New Roman" panose="02020603050405020304" pitchFamily="18" charset="0"/>
                          </a:rPr>
                          <m:t>𝑎𝑏</m:t>
                        </m:r>
                        <m:r>
                          <a:rPr lang="en-US" altLang="zh-CN" sz="2400" i="1">
                            <a:latin typeface="Cambria Math" panose="02040503050406030204" pitchFamily="18" charset="0"/>
                            <a:cs typeface="Times New Roman" panose="02020603050405020304" pitchFamily="18" charset="0"/>
                          </a:rPr>
                          <m:t>)</m:t>
                        </m:r>
                      </m:e>
                      <m:sup>
                        <m:r>
                          <a:rPr lang="en-US" altLang="zh-CN" sz="2400" i="1">
                            <a:latin typeface="Cambria Math" panose="02040503050406030204" pitchFamily="18" charset="0"/>
                            <a:cs typeface="Times New Roman" panose="02020603050405020304" pitchFamily="18" charset="0"/>
                          </a:rPr>
                          <m:t>𝑠</m:t>
                        </m:r>
                      </m:sup>
                    </m:sSup>
                    <m:r>
                      <a:rPr lang="en-US" altLang="zh-CN" sz="2400" i="1">
                        <a:latin typeface="Cambria Math" panose="02040503050406030204" pitchFamily="18" charset="0"/>
                        <a:cs typeface="Times New Roman" panose="02020603050405020304" pitchFamily="18" charset="0"/>
                      </a:rPr>
                      <m:t>=</m:t>
                    </m:r>
                    <m:sSup>
                      <m:sSupPr>
                        <m:ctrlPr>
                          <a:rPr lang="zh-CN" altLang="zh-CN" sz="2400" i="1">
                            <a:effectLst/>
                            <a:latin typeface="Cambria Math" panose="02040503050406030204" pitchFamily="18" charset="0"/>
                          </a:rPr>
                        </m:ctrlPr>
                      </m:sSupPr>
                      <m:e>
                        <m:r>
                          <a:rPr lang="en-US" altLang="zh-CN" sz="2400" i="1">
                            <a:latin typeface="Cambria Math" panose="02040503050406030204" pitchFamily="18" charset="0"/>
                            <a:cs typeface="Times New Roman" panose="02020603050405020304" pitchFamily="18" charset="0"/>
                          </a:rPr>
                          <m:t>𝑎</m:t>
                        </m:r>
                      </m:e>
                      <m:sup>
                        <m:r>
                          <a:rPr lang="en-US" altLang="zh-CN" sz="2400" i="1">
                            <a:latin typeface="Cambria Math" panose="02040503050406030204" pitchFamily="18" charset="0"/>
                            <a:cs typeface="Times New Roman" panose="02020603050405020304" pitchFamily="18" charset="0"/>
                          </a:rPr>
                          <m:t>𝑠</m:t>
                        </m:r>
                      </m:sup>
                    </m:sSup>
                    <m:sSup>
                      <m:sSupPr>
                        <m:ctrlPr>
                          <a:rPr lang="zh-CN" altLang="zh-CN" sz="2400" i="1">
                            <a:effectLst/>
                            <a:latin typeface="Cambria Math" panose="02040503050406030204" pitchFamily="18" charset="0"/>
                          </a:rPr>
                        </m:ctrlPr>
                      </m:sSupPr>
                      <m:e>
                        <m:r>
                          <a:rPr lang="en-US" altLang="zh-CN" sz="2400" i="1">
                            <a:latin typeface="Cambria Math" panose="02040503050406030204" pitchFamily="18" charset="0"/>
                            <a:cs typeface="Times New Roman" panose="02020603050405020304" pitchFamily="18" charset="0"/>
                          </a:rPr>
                          <m:t>𝑏</m:t>
                        </m:r>
                      </m:e>
                      <m:sup>
                        <m:r>
                          <a:rPr lang="en-US" altLang="zh-CN" sz="2400" i="1">
                            <a:latin typeface="Cambria Math" panose="02040503050406030204" pitchFamily="18" charset="0"/>
                            <a:cs typeface="Times New Roman" panose="02020603050405020304" pitchFamily="18" charset="0"/>
                          </a:rPr>
                          <m:t>𝑠</m:t>
                        </m:r>
                      </m:sup>
                    </m:sSup>
                  </m:oMath>
                </a14:m>
                <a:r>
                  <a:rPr lang="zh-CN" altLang="en-US" sz="2400" dirty="0">
                    <a:latin typeface="+mn-ea"/>
                  </a:rPr>
                  <a:t>；</a:t>
                </a:r>
              </a:p>
            </p:txBody>
          </p:sp>
        </mc:Choice>
        <mc:Fallback xmlns="">
          <p:sp>
            <p:nvSpPr>
              <p:cNvPr id="6" name="矩形 5">
                <a:extLst>
                  <a:ext uri="{FF2B5EF4-FFF2-40B4-BE49-F238E27FC236}">
                    <a16:creationId xmlns:a16="http://schemas.microsoft.com/office/drawing/2014/main" id="{E720C787-C2A9-4403-A414-6D8659012997}"/>
                  </a:ext>
                </a:extLst>
              </p:cNvPr>
              <p:cNvSpPr>
                <a:spLocks noRot="1" noChangeAspect="1" noMove="1" noResize="1" noEditPoints="1" noAdjustHandles="1" noChangeArrowheads="1" noChangeShapeType="1" noTextEdit="1"/>
              </p:cNvSpPr>
              <p:nvPr/>
            </p:nvSpPr>
            <p:spPr>
              <a:xfrm>
                <a:off x="8040473" y="2836071"/>
                <a:ext cx="3482396" cy="2799869"/>
              </a:xfrm>
              <a:prstGeom prst="rect">
                <a:avLst/>
              </a:prstGeom>
              <a:blipFill>
                <a:blip r:embed="rId5"/>
                <a:stretch>
                  <a:fillRect l="-2431" b="-3226"/>
                </a:stretch>
              </a:blipFill>
              <a:ln w="28575"/>
            </p:spPr>
            <p:txBody>
              <a:bodyPr/>
              <a:lstStyle/>
              <a:p>
                <a:r>
                  <a:rPr lang="zh-CN" altLang="en-US">
                    <a:noFill/>
                  </a:rPr>
                  <a:t> </a:t>
                </a:r>
              </a:p>
            </p:txBody>
          </p:sp>
        </mc:Fallback>
      </mc:AlternateContent>
    </p:spTree>
    <p:extLst>
      <p:ext uri="{BB962C8B-B14F-4D97-AF65-F5344CB8AC3E}">
        <p14:creationId xmlns:p14="http://schemas.microsoft.com/office/powerpoint/2010/main" val="77530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23FCD7B-344B-4BB1-88F6-59BA61862462}"/>
              </a:ext>
            </a:extLst>
          </p:cNvPr>
          <p:cNvSpPr txBox="1"/>
          <p:nvPr/>
        </p:nvSpPr>
        <p:spPr>
          <a:xfrm>
            <a:off x="334976" y="225894"/>
            <a:ext cx="2031325" cy="646331"/>
          </a:xfrm>
          <a:prstGeom prst="rect">
            <a:avLst/>
          </a:prstGeom>
          <a:noFill/>
        </p:spPr>
        <p:txBody>
          <a:bodyPr wrap="none" rtlCol="0">
            <a:spAutoFit/>
          </a:bodyPr>
          <a:lstStyle/>
          <a:p>
            <a:r>
              <a:rPr lang="zh-CN" altLang="en-US" sz="3600" b="1" dirty="0">
                <a:solidFill>
                  <a:srgbClr val="3B4660"/>
                </a:solidFill>
                <a:latin typeface="Times New Roman" panose="02020603050405020304" pitchFamily="18" charset="0"/>
                <a:cs typeface="+mn-ea"/>
                <a:sym typeface="+mn-lt"/>
              </a:rPr>
              <a:t>数学工具</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04107647-2032-4A3B-B4F5-AF172D9D37F6}"/>
                  </a:ext>
                </a:extLst>
              </p:cNvPr>
              <p:cNvSpPr txBox="1"/>
              <p:nvPr/>
            </p:nvSpPr>
            <p:spPr>
              <a:xfrm>
                <a:off x="563050" y="1338873"/>
                <a:ext cx="7003819" cy="580865"/>
              </a:xfrm>
              <a:prstGeom prst="rect">
                <a:avLst/>
              </a:prstGeom>
              <a:noFill/>
              <a:extLst>
                <a:ext uri="{909E8E84-426E-40DD-AFC4-6F175D3DCCD1}">
                  <a14:hiddenFill>
                    <a:solidFill>
                      <a:srgbClr val="E84C53"/>
                    </a:solidFill>
                  </a14:hiddenFill>
                </a:ext>
              </a:extLst>
            </p:spPr>
            <p:txBody>
              <a:bodyPr wrap="square" rtlCol="0">
                <a:spAutoFit/>
              </a:bodyPr>
              <a:lstStyle/>
              <a:p>
                <a:pPr lvl="0">
                  <a:lnSpc>
                    <a:spcPct val="150000"/>
                  </a:lnSpc>
                  <a:spcBef>
                    <a:spcPct val="0"/>
                  </a:spcBef>
                  <a:spcAft>
                    <a:spcPct val="0"/>
                  </a:spcAft>
                  <a:defRPr/>
                </a:pPr>
                <a:r>
                  <a:rPr lang="zh-CN" altLang="en-US"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已知 </a:t>
                </a:r>
                <a:r>
                  <a:rPr lang="en-US" altLang="zh-CN" sz="2400" i="1"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T</a:t>
                </a:r>
                <a:r>
                  <a:rPr lang="en-US" altLang="zh-CN"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 </a:t>
                </a:r>
                <a:r>
                  <a:rPr lang="zh-CN" altLang="en-US"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和 </a:t>
                </a:r>
                <a:r>
                  <a:rPr lang="en-US" altLang="zh-CN" sz="2400" i="1"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r</a:t>
                </a:r>
                <a:r>
                  <a:rPr lang="en-US" altLang="zh-CN"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 </a:t>
                </a:r>
                <a:r>
                  <a:rPr lang="zh-CN" altLang="en-US"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，求指数 </a:t>
                </a:r>
                <a14:m>
                  <m:oMath xmlns:m="http://schemas.openxmlformats.org/officeDocument/2006/math">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oMath>
                </a14:m>
                <a:r>
                  <a:rPr kumimoji="0" lang="en-US" altLang="zh-CN" sz="2400" u="none" strike="noStrike" kern="1200" cap="none" spc="0" normalizeH="0" baseline="0" noProof="0" dirty="0">
                    <a:ln>
                      <a:noFill/>
                    </a:ln>
                    <a:solidFill>
                      <a:prstClr val="black"/>
                    </a:solidFill>
                    <a:effectLst/>
                    <a:uLnTx/>
                    <a:uFillTx/>
                    <a:latin typeface="Times New Roman" panose="02020603050405020304" pitchFamily="18" charset="0"/>
                    <a:ea typeface="字魂58号-创中黑" panose="00000500000000000000" pitchFamily="2" charset="-122"/>
                    <a:cs typeface="Times New Roman" panose="02020603050405020304" pitchFamily="18" charset="0"/>
                  </a:rPr>
                  <a:t> </a:t>
                </a:r>
                <a:r>
                  <a:rPr kumimoji="0" lang="zh-CN" altLang="en-US" sz="2400" u="none" strike="noStrike" kern="1200" cap="none" spc="0" normalizeH="0" baseline="0" noProof="0" dirty="0">
                    <a:ln>
                      <a:noFill/>
                    </a:ln>
                    <a:solidFill>
                      <a:prstClr val="black"/>
                    </a:solidFill>
                    <a:effectLst/>
                    <a:uLnTx/>
                    <a:uFillTx/>
                    <a:latin typeface="Times New Roman" panose="02020603050405020304" pitchFamily="18" charset="0"/>
                    <a:ea typeface="字魂58号-创中黑" panose="00000500000000000000" pitchFamily="2" charset="-122"/>
                    <a:cs typeface="Times New Roman" panose="02020603050405020304" pitchFamily="18" charset="0"/>
                  </a:rPr>
                  <a:t>和系数</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𝑘</m:t>
                    </m:r>
                  </m:oMath>
                </a14:m>
                <a:endParaRPr kumimoji="0" lang="en-US" altLang="zh-CN" sz="2400" u="none" strike="noStrike" kern="1200" cap="none" spc="0" normalizeH="0" baseline="0" noProof="0" dirty="0">
                  <a:ln>
                    <a:noFill/>
                  </a:ln>
                  <a:solidFill>
                    <a:prstClr val="black"/>
                  </a:solidFill>
                  <a:effectLst/>
                  <a:uLnTx/>
                  <a:uFillTx/>
                  <a:latin typeface="Times New Roman" panose="02020603050405020304" pitchFamily="18" charset="0"/>
                  <a:ea typeface="字魂58号-创中黑" panose="00000500000000000000" pitchFamily="2" charset="-122"/>
                  <a:cs typeface="Times New Roman" panose="02020603050405020304" pitchFamily="18" charset="0"/>
                </a:endParaRPr>
              </a:p>
            </p:txBody>
          </p:sp>
        </mc:Choice>
        <mc:Fallback xmlns="">
          <p:sp>
            <p:nvSpPr>
              <p:cNvPr id="33" name="文本框 32">
                <a:extLst>
                  <a:ext uri="{FF2B5EF4-FFF2-40B4-BE49-F238E27FC236}">
                    <a16:creationId xmlns:a16="http://schemas.microsoft.com/office/drawing/2014/main" id="{04107647-2032-4A3B-B4F5-AF172D9D37F6}"/>
                  </a:ext>
                </a:extLst>
              </p:cNvPr>
              <p:cNvSpPr txBox="1">
                <a:spLocks noRot="1" noChangeAspect="1" noMove="1" noResize="1" noEditPoints="1" noAdjustHandles="1" noChangeArrowheads="1" noChangeShapeType="1" noTextEdit="1"/>
              </p:cNvSpPr>
              <p:nvPr/>
            </p:nvSpPr>
            <p:spPr>
              <a:xfrm>
                <a:off x="563050" y="1338873"/>
                <a:ext cx="7003819" cy="580865"/>
              </a:xfrm>
              <a:prstGeom prst="rect">
                <a:avLst/>
              </a:prstGeom>
              <a:blipFill>
                <a:blip r:embed="rId5"/>
                <a:stretch>
                  <a:fillRect l="-1305" b="-24211"/>
                </a:stretch>
              </a:blipFill>
              <a:extLst>
                <a:ext uri="{909E8E84-426E-40DD-AFC4-6F175D3DCCD1}">
                  <a14:hiddenFill xmlns:a14="http://schemas.microsoft.com/office/drawing/2010/main">
                    <a:solidFill>
                      <a:srgbClr val="E84C53"/>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C2B5FE5A-7C48-4D6C-A5A5-1B39B652F44B}"/>
                  </a:ext>
                </a:extLst>
              </p:cNvPr>
              <p:cNvSpPr/>
              <p:nvPr/>
            </p:nvSpPr>
            <p:spPr>
              <a:xfrm>
                <a:off x="2771298" y="2063220"/>
                <a:ext cx="1960986"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t>𝑇</m:t>
                      </m:r>
                      <m: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3600" b="0" i="1" kern="100" smtClean="0">
                          <a:latin typeface="Cambria Math" panose="02040503050406030204" pitchFamily="18" charset="0"/>
                          <a:ea typeface="等线" panose="02010600030101010101" pitchFamily="2" charset="-122"/>
                          <a:cs typeface="Times New Roman" panose="02020603050405020304" pitchFamily="18" charset="0"/>
                        </a:rPr>
                        <m:t>𝑘</m:t>
                      </m:r>
                      <m:sSup>
                        <m:sSupPr>
                          <m:ctrlPr>
                            <a:rPr lang="zh-CN" altLang="zh-CN" sz="3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𝑟</m:t>
                          </m:r>
                        </m:e>
                        <m:sup>
                          <m:r>
                            <a:rPr lang="en-US" altLang="zh-CN" sz="3600" i="1" kern="100">
                              <a:latin typeface="Cambria Math" panose="02040503050406030204" pitchFamily="18" charset="0"/>
                              <a:ea typeface="Cambria Math" panose="02040503050406030204" pitchFamily="18" charset="0"/>
                              <a:cs typeface="Times New Roman" panose="02020603050405020304" pitchFamily="18" charset="0"/>
                            </a:rPr>
                            <m:t>𝛼</m:t>
                          </m:r>
                        </m:sup>
                      </m:sSup>
                    </m:oMath>
                  </m:oMathPara>
                </a14:m>
                <a:endParaRPr lang="zh-CN" altLang="en-US" sz="3600" dirty="0"/>
              </a:p>
            </p:txBody>
          </p:sp>
        </mc:Choice>
        <mc:Fallback xmlns="">
          <p:sp>
            <p:nvSpPr>
              <p:cNvPr id="4" name="矩形 3">
                <a:extLst>
                  <a:ext uri="{FF2B5EF4-FFF2-40B4-BE49-F238E27FC236}">
                    <a16:creationId xmlns:a16="http://schemas.microsoft.com/office/drawing/2014/main" id="{C2B5FE5A-7C48-4D6C-A5A5-1B39B652F44B}"/>
                  </a:ext>
                </a:extLst>
              </p:cNvPr>
              <p:cNvSpPr>
                <a:spLocks noRot="1" noChangeAspect="1" noMove="1" noResize="1" noEditPoints="1" noAdjustHandles="1" noChangeArrowheads="1" noChangeShapeType="1" noTextEdit="1"/>
              </p:cNvSpPr>
              <p:nvPr/>
            </p:nvSpPr>
            <p:spPr>
              <a:xfrm>
                <a:off x="2771298" y="2063220"/>
                <a:ext cx="1960986" cy="646331"/>
              </a:xfrm>
              <a:prstGeom prst="rect">
                <a:avLst/>
              </a:prstGeom>
              <a:blipFill>
                <a:blip r:embed="rId6"/>
                <a:stretch>
                  <a:fillRect/>
                </a:stretch>
              </a:blipFill>
            </p:spPr>
            <p:txBody>
              <a:bodyPr/>
              <a:lstStyle/>
              <a:p>
                <a:r>
                  <a:rPr lang="zh-CN" altLang="en-US">
                    <a:noFill/>
                  </a:rPr>
                  <a:t> </a:t>
                </a:r>
              </a:p>
            </p:txBody>
          </p:sp>
        </mc:Fallback>
      </mc:AlternateContent>
      <p:grpSp>
        <p:nvGrpSpPr>
          <p:cNvPr id="24" name="组合 23">
            <a:extLst>
              <a:ext uri="{FF2B5EF4-FFF2-40B4-BE49-F238E27FC236}">
                <a16:creationId xmlns:a16="http://schemas.microsoft.com/office/drawing/2014/main" id="{D7C15CAF-DE35-4FDD-AB24-F54365B1F555}"/>
              </a:ext>
            </a:extLst>
          </p:cNvPr>
          <p:cNvGrpSpPr/>
          <p:nvPr>
            <p:custDataLst>
              <p:tags r:id="rId1"/>
            </p:custDataLst>
          </p:nvPr>
        </p:nvGrpSpPr>
        <p:grpSpPr>
          <a:xfrm>
            <a:off x="2237509" y="3643866"/>
            <a:ext cx="9143754" cy="2048466"/>
            <a:chOff x="-1144" y="280"/>
            <a:chExt cx="18620" cy="31195"/>
          </a:xfrm>
        </p:grpSpPr>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1A85BB3-283E-40D6-8C79-781AAC00D9D4}"/>
                    </a:ext>
                  </a:extLst>
                </p:cNvPr>
                <p:cNvSpPr txBox="1"/>
                <p:nvPr>
                  <p:custDataLst>
                    <p:tags r:id="rId2"/>
                  </p:custDataLst>
                </p:nvPr>
              </p:nvSpPr>
              <p:spPr>
                <a:xfrm>
                  <a:off x="-758" y="2205"/>
                  <a:ext cx="18057" cy="26027"/>
                </a:xfrm>
                <a:prstGeom prst="rect">
                  <a:avLst/>
                </a:prstGeom>
                <a:noFill/>
                <a:ln>
                  <a:noFill/>
                </a:ln>
              </p:spPr>
              <p:txBody>
                <a:bodyPr wrap="square" rtlCol="0" anchor="t">
                  <a:spAutoFit/>
                </a:bodyPr>
                <a:lstStyle/>
                <a:p>
                  <a:pPr algn="l">
                    <a:lnSpc>
                      <a:spcPct val="130000"/>
                    </a:lnSpc>
                  </a:pPr>
                  <a:r>
                    <a:rPr lang="zh-CN" altLang="en-US"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sym typeface="+mn-ea"/>
                    </a:rPr>
                    <a:t>一般地，如果</a:t>
                  </a:r>
                  <a14:m>
                    <m:oMath xmlns:m="http://schemas.openxmlformats.org/officeDocument/2006/math">
                      <m:sSup>
                        <m:sSupPr>
                          <m:ctrlPr>
                            <a:rPr lang="zh-CN" altLang="en-US" sz="2800" i="1">
                              <a:solidFill>
                                <a:srgbClr val="C00000"/>
                              </a:solidFill>
                              <a:latin typeface="Cambria Math" panose="02040503050406030204" pitchFamily="18" charset="0"/>
                              <a:ea typeface="楷体" panose="02010609060101010101" pitchFamily="49" charset="-122"/>
                            </a:rPr>
                          </m:ctrlPr>
                        </m:sSupPr>
                        <m:e>
                          <m:r>
                            <a:rPr lang="zh-CN" altLang="en-US" sz="2800" i="1">
                              <a:solidFill>
                                <a:srgbClr val="C00000"/>
                              </a:solidFill>
                              <a:latin typeface="Cambria Math" panose="02040503050406030204" pitchFamily="18" charset="0"/>
                              <a:ea typeface="楷体" panose="02010609060101010101" pitchFamily="49" charset="-122"/>
                            </a:rPr>
                            <m:t>𝑎</m:t>
                          </m:r>
                        </m:e>
                        <m:sup>
                          <m:r>
                            <a:rPr lang="zh-CN" altLang="en-US" sz="2800" i="1">
                              <a:solidFill>
                                <a:srgbClr val="C00000"/>
                              </a:solidFill>
                              <a:latin typeface="Cambria Math" panose="02040503050406030204" pitchFamily="18" charset="0"/>
                              <a:ea typeface="楷体" panose="02010609060101010101" pitchFamily="49" charset="-122"/>
                            </a:rPr>
                            <m:t>𝑥</m:t>
                          </m:r>
                        </m:sup>
                      </m:sSup>
                      <m:r>
                        <a:rPr lang="zh-CN" altLang="en-US" sz="2800">
                          <a:solidFill>
                            <a:srgbClr val="C00000"/>
                          </a:solidFill>
                          <a:latin typeface="Cambria Math" panose="02040503050406030204" pitchFamily="18" charset="0"/>
                          <a:ea typeface="楷体" panose="02010609060101010101" pitchFamily="49" charset="-122"/>
                        </a:rPr>
                        <m:t>=</m:t>
                      </m:r>
                      <m:r>
                        <a:rPr lang="zh-CN" altLang="en-US" sz="2800" i="1">
                          <a:solidFill>
                            <a:srgbClr val="C00000"/>
                          </a:solidFill>
                          <a:latin typeface="Cambria Math" panose="02040503050406030204" pitchFamily="18" charset="0"/>
                          <a:ea typeface="楷体" panose="02010609060101010101" pitchFamily="49" charset="-122"/>
                        </a:rPr>
                        <m:t>𝑁</m:t>
                      </m:r>
                      <m:r>
                        <a:rPr lang="zh-CN" altLang="en-US" sz="2800">
                          <a:solidFill>
                            <a:srgbClr val="C00000"/>
                          </a:solidFill>
                          <a:latin typeface="Cambria Math" panose="02040503050406030204" pitchFamily="18" charset="0"/>
                          <a:ea typeface="楷体" panose="02010609060101010101" pitchFamily="49" charset="-122"/>
                        </a:rPr>
                        <m:t>(</m:t>
                      </m:r>
                      <m:r>
                        <a:rPr lang="zh-CN" altLang="en-US" sz="2800" i="1">
                          <a:solidFill>
                            <a:srgbClr val="C00000"/>
                          </a:solidFill>
                          <a:latin typeface="Cambria Math" panose="02040503050406030204" pitchFamily="18" charset="0"/>
                          <a:ea typeface="楷体" panose="02010609060101010101" pitchFamily="49" charset="-122"/>
                        </a:rPr>
                        <m:t>𝑎</m:t>
                      </m:r>
                      <m:r>
                        <a:rPr lang="zh-CN" altLang="en-US" sz="2800">
                          <a:solidFill>
                            <a:srgbClr val="C00000"/>
                          </a:solidFill>
                          <a:latin typeface="Cambria Math" panose="02040503050406030204" pitchFamily="18" charset="0"/>
                          <a:ea typeface="楷体" panose="02010609060101010101" pitchFamily="49" charset="-122"/>
                        </a:rPr>
                        <m:t>&gt;0</m:t>
                      </m:r>
                      <m:r>
                        <a:rPr lang="zh-CN" altLang="en-US" sz="2800">
                          <a:solidFill>
                            <a:srgbClr val="C00000"/>
                          </a:solidFill>
                          <a:latin typeface="Cambria Math" panose="02040503050406030204" pitchFamily="18" charset="0"/>
                          <a:ea typeface="楷体" panose="02010609060101010101" pitchFamily="49" charset="-122"/>
                        </a:rPr>
                        <m:t>且</m:t>
                      </m:r>
                      <m:r>
                        <a:rPr lang="zh-CN" altLang="en-US" sz="2800" i="1">
                          <a:solidFill>
                            <a:srgbClr val="C00000"/>
                          </a:solidFill>
                          <a:latin typeface="Cambria Math" panose="02040503050406030204" pitchFamily="18" charset="0"/>
                          <a:ea typeface="楷体" panose="02010609060101010101" pitchFamily="49" charset="-122"/>
                        </a:rPr>
                        <m:t>𝑎</m:t>
                      </m:r>
                      <m:r>
                        <a:rPr lang="zh-CN" altLang="en-US" sz="2800">
                          <a:solidFill>
                            <a:srgbClr val="C00000"/>
                          </a:solidFill>
                          <a:latin typeface="Cambria Math" panose="02040503050406030204" pitchFamily="18" charset="0"/>
                          <a:ea typeface="楷体" panose="02010609060101010101" pitchFamily="49" charset="-122"/>
                        </a:rPr>
                        <m:t>≠1)</m:t>
                      </m:r>
                    </m:oMath>
                  </a14:m>
                  <a:r>
                    <a:rPr lang="zh-CN" altLang="en-US" sz="2800" dirty="0">
                      <a:solidFill>
                        <a:srgbClr val="C00000"/>
                      </a:solidFill>
                      <a:latin typeface="楷体" panose="02010609060101010101" pitchFamily="49" charset="-122"/>
                      <a:ea typeface="楷体" panose="02010609060101010101" pitchFamily="49" charset="-122"/>
                      <a:sym typeface="+mn-ea"/>
                    </a:rPr>
                    <a:t>，</a:t>
                  </a:r>
                  <a:r>
                    <a:rPr lang="zh-CN" altLang="en-US" sz="2800" dirty="0">
                      <a:latin typeface="楷体" panose="02010609060101010101" pitchFamily="49" charset="-122"/>
                      <a:ea typeface="楷体" panose="02010609060101010101" pitchFamily="49" charset="-122"/>
                      <a:sym typeface="+mn-ea"/>
                    </a:rPr>
                    <a:t>那么数</a:t>
                  </a:r>
                  <a14:m>
                    <m:oMath xmlns:m="http://schemas.openxmlformats.org/officeDocument/2006/math">
                      <m:r>
                        <a:rPr lang="zh-CN" altLang="en-US" sz="2800" i="1">
                          <a:latin typeface="Cambria Math" panose="02040503050406030204" pitchFamily="18" charset="0"/>
                          <a:ea typeface="楷体" panose="02010609060101010101" pitchFamily="49" charset="-122"/>
                        </a:rPr>
                        <m:t>𝑥</m:t>
                      </m:r>
                    </m:oMath>
                  </a14:m>
                  <a:r>
                    <a:rPr lang="zh-CN" altLang="en-US" sz="2800" dirty="0">
                      <a:latin typeface="楷体" panose="02010609060101010101" pitchFamily="49" charset="-122"/>
                      <a:ea typeface="楷体" panose="02010609060101010101" pitchFamily="49" charset="-122"/>
                      <a:sym typeface="+mn-ea"/>
                    </a:rPr>
                    <a:t>叫做以</a:t>
                  </a:r>
                  <a14:m>
                    <m:oMath xmlns:m="http://schemas.openxmlformats.org/officeDocument/2006/math">
                      <m:r>
                        <a:rPr lang="zh-CN" altLang="en-US" sz="2800" i="1">
                          <a:latin typeface="Cambria Math" panose="02040503050406030204" pitchFamily="18" charset="0"/>
                          <a:ea typeface="楷体" panose="02010609060101010101" pitchFamily="49" charset="-122"/>
                        </a:rPr>
                        <m:t>𝑎</m:t>
                      </m:r>
                    </m:oMath>
                  </a14:m>
                  <a:r>
                    <a:rPr lang="zh-CN" altLang="en-US" sz="2800" dirty="0">
                      <a:latin typeface="楷体" panose="02010609060101010101" pitchFamily="49" charset="-122"/>
                      <a:ea typeface="楷体" panose="02010609060101010101" pitchFamily="49" charset="-122"/>
                      <a:sym typeface="+mn-ea"/>
                    </a:rPr>
                    <a:t>为底</a:t>
                  </a:r>
                  <a14:m>
                    <m:oMath xmlns:m="http://schemas.openxmlformats.org/officeDocument/2006/math">
                      <m:r>
                        <a:rPr lang="zh-CN" altLang="en-US" sz="2800" i="1">
                          <a:latin typeface="Cambria Math" panose="02040503050406030204" pitchFamily="18" charset="0"/>
                          <a:ea typeface="楷体" panose="02010609060101010101" pitchFamily="49" charset="-122"/>
                        </a:rPr>
                        <m:t>𝑁</m:t>
                      </m:r>
                    </m:oMath>
                  </a14:m>
                  <a:r>
                    <a:rPr lang="zh-CN" altLang="en-US" sz="2800" dirty="0">
                      <a:latin typeface="楷体" panose="02010609060101010101" pitchFamily="49" charset="-122"/>
                      <a:ea typeface="楷体" panose="02010609060101010101" pitchFamily="49" charset="-122"/>
                      <a:sym typeface="+mn-ea"/>
                    </a:rPr>
                    <a:t>的对数，记作：</a:t>
                  </a:r>
                  <a14:m>
                    <m:oMath xmlns:m="http://schemas.openxmlformats.org/officeDocument/2006/math">
                      <m:r>
                        <a:rPr lang="zh-CN" altLang="en-US" sz="2800" i="1">
                          <a:solidFill>
                            <a:srgbClr val="C00000"/>
                          </a:solidFill>
                          <a:latin typeface="Cambria Math" panose="02040503050406030204" pitchFamily="18" charset="0"/>
                          <a:ea typeface="楷体" panose="02010609060101010101" pitchFamily="49" charset="-122"/>
                        </a:rPr>
                        <m:t>𝑥</m:t>
                      </m:r>
                      <m:r>
                        <a:rPr lang="zh-CN" altLang="en-US" sz="2800">
                          <a:solidFill>
                            <a:srgbClr val="C00000"/>
                          </a:solidFill>
                          <a:latin typeface="Cambria Math" panose="02040503050406030204" pitchFamily="18" charset="0"/>
                          <a:ea typeface="楷体" panose="02010609060101010101" pitchFamily="49" charset="-122"/>
                        </a:rPr>
                        <m:t>=</m:t>
                      </m:r>
                      <m:sSub>
                        <m:sSubPr>
                          <m:ctrlPr>
                            <a:rPr lang="zh-CN" altLang="en-US" sz="2800" i="1">
                              <a:solidFill>
                                <a:srgbClr val="C00000"/>
                              </a:solidFill>
                              <a:latin typeface="Cambria Math" panose="02040503050406030204" pitchFamily="18" charset="0"/>
                              <a:ea typeface="楷体" panose="02010609060101010101" pitchFamily="49" charset="-122"/>
                            </a:rPr>
                          </m:ctrlPr>
                        </m:sSubPr>
                        <m:e>
                          <m:r>
                            <a:rPr lang="zh-CN" altLang="en-US" sz="2800" i="1">
                              <a:solidFill>
                                <a:srgbClr val="C00000"/>
                              </a:solidFill>
                              <a:latin typeface="Cambria Math" panose="02040503050406030204" pitchFamily="18" charset="0"/>
                              <a:ea typeface="楷体" panose="02010609060101010101" pitchFamily="49" charset="-122"/>
                            </a:rPr>
                            <m:t>𝑙𝑜𝑔</m:t>
                          </m:r>
                        </m:e>
                        <m:sub>
                          <m:r>
                            <a:rPr lang="zh-CN" altLang="en-US" sz="2800" i="1">
                              <a:solidFill>
                                <a:srgbClr val="C00000"/>
                              </a:solidFill>
                              <a:latin typeface="Cambria Math" panose="02040503050406030204" pitchFamily="18" charset="0"/>
                              <a:ea typeface="楷体" panose="02010609060101010101" pitchFamily="49" charset="-122"/>
                            </a:rPr>
                            <m:t>𝑎</m:t>
                          </m:r>
                        </m:sub>
                      </m:sSub>
                      <m:r>
                        <a:rPr lang="zh-CN" altLang="en-US" sz="2800" i="1">
                          <a:solidFill>
                            <a:srgbClr val="C00000"/>
                          </a:solidFill>
                          <a:latin typeface="Cambria Math" panose="02040503050406030204" pitchFamily="18" charset="0"/>
                          <a:ea typeface="楷体" panose="02010609060101010101" pitchFamily="49" charset="-122"/>
                        </a:rPr>
                        <m:t>𝑁</m:t>
                      </m:r>
                    </m:oMath>
                  </a14:m>
                  <a:r>
                    <a:rPr lang="zh-CN" altLang="en-US" sz="2800" dirty="0">
                      <a:solidFill>
                        <a:srgbClr val="C00000"/>
                      </a:solidFill>
                      <a:latin typeface="楷体" panose="02010609060101010101" pitchFamily="49" charset="-122"/>
                      <a:ea typeface="楷体" panose="02010609060101010101" pitchFamily="49" charset="-122"/>
                      <a:sym typeface="+mn-ea"/>
                    </a:rPr>
                    <a:t>，</a:t>
                  </a:r>
                  <a:r>
                    <a:rPr lang="zh-CN" altLang="en-US" sz="2800" dirty="0">
                      <a:latin typeface="楷体" panose="02010609060101010101" pitchFamily="49" charset="-122"/>
                      <a:ea typeface="楷体" panose="02010609060101010101" pitchFamily="49" charset="-122"/>
                      <a:sym typeface="+mn-ea"/>
                    </a:rPr>
                    <a:t>其中</a:t>
                  </a:r>
                  <a14:m>
                    <m:oMath xmlns:m="http://schemas.openxmlformats.org/officeDocument/2006/math">
                      <m:r>
                        <a:rPr lang="zh-CN" altLang="en-US" sz="2800" i="1">
                          <a:latin typeface="Cambria Math" panose="02040503050406030204" pitchFamily="18" charset="0"/>
                          <a:ea typeface="楷体" panose="02010609060101010101" pitchFamily="49" charset="-122"/>
                        </a:rPr>
                        <m:t>𝑎</m:t>
                      </m:r>
                    </m:oMath>
                  </a14:m>
                  <a:r>
                    <a:rPr lang="zh-CN" altLang="en-US" sz="2800" dirty="0">
                      <a:latin typeface="楷体" panose="02010609060101010101" pitchFamily="49" charset="-122"/>
                      <a:ea typeface="楷体" panose="02010609060101010101" pitchFamily="49" charset="-122"/>
                      <a:sym typeface="+mn-ea"/>
                    </a:rPr>
                    <a:t>叫做对数的底数，</a:t>
                  </a:r>
                  <a14:m>
                    <m:oMath xmlns:m="http://schemas.openxmlformats.org/officeDocument/2006/math">
                      <m:r>
                        <a:rPr lang="zh-CN" altLang="en-US" sz="2800" i="1">
                          <a:latin typeface="Cambria Math" panose="02040503050406030204" pitchFamily="18" charset="0"/>
                          <a:ea typeface="楷体" panose="02010609060101010101" pitchFamily="49" charset="-122"/>
                        </a:rPr>
                        <m:t>𝑁</m:t>
                      </m:r>
                    </m:oMath>
                  </a14:m>
                  <a:r>
                    <a:rPr lang="zh-CN" altLang="en-US" sz="2800" dirty="0">
                      <a:latin typeface="楷体" panose="02010609060101010101" pitchFamily="49" charset="-122"/>
                      <a:ea typeface="楷体" panose="02010609060101010101" pitchFamily="49" charset="-122"/>
                      <a:sym typeface="+mn-ea"/>
                    </a:rPr>
                    <a:t>叫做真数.注：</a:t>
                  </a:r>
                  <a:r>
                    <a:rPr lang="zh-CN" altLang="en-US" sz="2800" dirty="0">
                      <a:solidFill>
                        <a:srgbClr val="C00000"/>
                      </a:solidFill>
                      <a:latin typeface="楷体" panose="02010609060101010101" pitchFamily="49" charset="-122"/>
                      <a:ea typeface="楷体" panose="02010609060101010101" pitchFamily="49" charset="-122"/>
                      <a:sym typeface="+mn-ea"/>
                    </a:rPr>
                    <a:t>真数</a:t>
                  </a:r>
                  <a14:m>
                    <m:oMath xmlns:m="http://schemas.openxmlformats.org/officeDocument/2006/math">
                      <m:r>
                        <a:rPr lang="zh-CN" altLang="en-US" sz="2800" i="1">
                          <a:solidFill>
                            <a:srgbClr val="C00000"/>
                          </a:solidFill>
                          <a:latin typeface="Cambria Math" panose="02040503050406030204" pitchFamily="18" charset="0"/>
                          <a:ea typeface="楷体" panose="02010609060101010101" pitchFamily="49" charset="-122"/>
                        </a:rPr>
                        <m:t>𝑁</m:t>
                      </m:r>
                      <m:r>
                        <a:rPr lang="zh-CN" altLang="en-US" sz="2800">
                          <a:solidFill>
                            <a:srgbClr val="C00000"/>
                          </a:solidFill>
                          <a:latin typeface="Cambria Math" panose="02040503050406030204" pitchFamily="18" charset="0"/>
                          <a:ea typeface="楷体" panose="02010609060101010101" pitchFamily="49" charset="-122"/>
                        </a:rPr>
                        <m:t>&gt;0.</m:t>
                      </m:r>
                    </m:oMath>
                  </a14:m>
                  <a:endParaRPr lang="zh-CN" altLang="en-US" sz="2800" dirty="0">
                    <a:solidFill>
                      <a:srgbClr val="C00000"/>
                    </a:solidFill>
                    <a:latin typeface="楷体" panose="02010609060101010101" pitchFamily="49" charset="-122"/>
                    <a:ea typeface="楷体" panose="02010609060101010101" pitchFamily="49" charset="-122"/>
                  </a:endParaRPr>
                </a:p>
              </p:txBody>
            </p:sp>
          </mc:Choice>
          <mc:Fallback xmlns="">
            <p:sp>
              <p:nvSpPr>
                <p:cNvPr id="25" name="文本框 24">
                  <a:extLst>
                    <a:ext uri="{FF2B5EF4-FFF2-40B4-BE49-F238E27FC236}">
                      <a16:creationId xmlns:a16="http://schemas.microsoft.com/office/drawing/2014/main" id="{41A85BB3-283E-40D6-8C79-781AAC00D9D4}"/>
                    </a:ext>
                  </a:extLst>
                </p:cNvPr>
                <p:cNvSpPr txBox="1">
                  <a:spLocks noRot="1" noChangeAspect="1" noMove="1" noResize="1" noEditPoints="1" noAdjustHandles="1" noChangeArrowheads="1" noChangeShapeType="1" noTextEdit="1"/>
                </p:cNvSpPr>
                <p:nvPr>
                  <p:custDataLst>
                    <p:tags r:id="rId7"/>
                  </p:custDataLst>
                </p:nvPr>
              </p:nvSpPr>
              <p:spPr>
                <a:xfrm>
                  <a:off x="-758" y="2205"/>
                  <a:ext cx="18057" cy="26027"/>
                </a:xfrm>
                <a:prstGeom prst="rect">
                  <a:avLst/>
                </a:prstGeom>
                <a:blipFill>
                  <a:blip r:embed="rId8"/>
                  <a:stretch>
                    <a:fillRect l="-1375" t="-1071" b="-8214"/>
                  </a:stretch>
                </a:blipFill>
                <a:ln>
                  <a:noFill/>
                </a:ln>
              </p:spPr>
              <p:txBody>
                <a:bodyPr/>
                <a:lstStyle/>
                <a:p>
                  <a:r>
                    <a:rPr lang="zh-CN" altLang="en-US">
                      <a:noFill/>
                    </a:rPr>
                    <a:t> </a:t>
                  </a:r>
                </a:p>
              </p:txBody>
            </p:sp>
          </mc:Fallback>
        </mc:AlternateContent>
        <p:sp>
          <p:nvSpPr>
            <p:cNvPr id="26" name="圆角矩形 1">
              <a:extLst>
                <a:ext uri="{FF2B5EF4-FFF2-40B4-BE49-F238E27FC236}">
                  <a16:creationId xmlns:a16="http://schemas.microsoft.com/office/drawing/2014/main" id="{488DAE02-0364-4E18-8786-CD8339100AC8}"/>
                </a:ext>
              </a:extLst>
            </p:cNvPr>
            <p:cNvSpPr/>
            <p:nvPr>
              <p:custDataLst>
                <p:tags r:id="rId3"/>
              </p:custDataLst>
            </p:nvPr>
          </p:nvSpPr>
          <p:spPr>
            <a:xfrm>
              <a:off x="-1144" y="280"/>
              <a:ext cx="18620" cy="31195"/>
            </a:xfrm>
            <a:prstGeom prst="roundRect">
              <a:avLst/>
            </a:prstGeom>
            <a:noFill/>
            <a:ln w="19050">
              <a:solidFill>
                <a:srgbClr val="00525A"/>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21">
            <a:extLst>
              <a:ext uri="{FF2B5EF4-FFF2-40B4-BE49-F238E27FC236}">
                <a16:creationId xmlns:a16="http://schemas.microsoft.com/office/drawing/2014/main" id="{D00C7A41-4E34-4868-9854-B558569C05F8}"/>
              </a:ext>
            </a:extLst>
          </p:cNvPr>
          <p:cNvSpPr/>
          <p:nvPr/>
        </p:nvSpPr>
        <p:spPr>
          <a:xfrm>
            <a:off x="681108" y="4283424"/>
            <a:ext cx="902811" cy="523220"/>
          </a:xfrm>
          <a:prstGeom prst="rect">
            <a:avLst/>
          </a:prstGeom>
        </p:spPr>
        <p:txBody>
          <a:bodyPr wrap="none">
            <a:spAutoFit/>
          </a:bodyPr>
          <a:lstStyle/>
          <a:p>
            <a:r>
              <a:rPr lang="zh-CN" altLang="en-US" sz="28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对数</a:t>
            </a:r>
            <a:endParaRPr lang="zh-CN" altLang="en-US" sz="2800" dirty="0"/>
          </a:p>
        </p:txBody>
      </p:sp>
    </p:spTree>
    <p:extLst>
      <p:ext uri="{BB962C8B-B14F-4D97-AF65-F5344CB8AC3E}">
        <p14:creationId xmlns:p14="http://schemas.microsoft.com/office/powerpoint/2010/main" val="2452193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23FCD7B-344B-4BB1-88F6-59BA61862462}"/>
              </a:ext>
            </a:extLst>
          </p:cNvPr>
          <p:cNvSpPr txBox="1"/>
          <p:nvPr/>
        </p:nvSpPr>
        <p:spPr>
          <a:xfrm>
            <a:off x="334976" y="225894"/>
            <a:ext cx="2031325" cy="646331"/>
          </a:xfrm>
          <a:prstGeom prst="rect">
            <a:avLst/>
          </a:prstGeom>
          <a:noFill/>
        </p:spPr>
        <p:txBody>
          <a:bodyPr wrap="none" rtlCol="0">
            <a:spAutoFit/>
          </a:bodyPr>
          <a:lstStyle/>
          <a:p>
            <a:r>
              <a:rPr lang="zh-CN" altLang="en-US" sz="3600" b="1" dirty="0">
                <a:solidFill>
                  <a:srgbClr val="3B4660"/>
                </a:solidFill>
                <a:latin typeface="Times New Roman" panose="02020603050405020304" pitchFamily="18" charset="0"/>
                <a:cs typeface="+mn-ea"/>
                <a:sym typeface="+mn-lt"/>
              </a:rPr>
              <a:t>数学工具</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p:grpSp>
        <p:nvGrpSpPr>
          <p:cNvPr id="24" name="组合 23">
            <a:extLst>
              <a:ext uri="{FF2B5EF4-FFF2-40B4-BE49-F238E27FC236}">
                <a16:creationId xmlns:a16="http://schemas.microsoft.com/office/drawing/2014/main" id="{D7C15CAF-DE35-4FDD-AB24-F54365B1F555}"/>
              </a:ext>
            </a:extLst>
          </p:cNvPr>
          <p:cNvGrpSpPr/>
          <p:nvPr>
            <p:custDataLst>
              <p:tags r:id="rId1"/>
            </p:custDataLst>
          </p:nvPr>
        </p:nvGrpSpPr>
        <p:grpSpPr>
          <a:xfrm>
            <a:off x="2816153" y="1264997"/>
            <a:ext cx="9143754" cy="2048466"/>
            <a:chOff x="-1144" y="280"/>
            <a:chExt cx="18620" cy="31195"/>
          </a:xfrm>
        </p:grpSpPr>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1A85BB3-283E-40D6-8C79-781AAC00D9D4}"/>
                    </a:ext>
                  </a:extLst>
                </p:cNvPr>
                <p:cNvSpPr txBox="1"/>
                <p:nvPr>
                  <p:custDataLst>
                    <p:tags r:id="rId4"/>
                  </p:custDataLst>
                </p:nvPr>
              </p:nvSpPr>
              <p:spPr>
                <a:xfrm>
                  <a:off x="-758" y="2205"/>
                  <a:ext cx="18057" cy="26027"/>
                </a:xfrm>
                <a:prstGeom prst="rect">
                  <a:avLst/>
                </a:prstGeom>
                <a:noFill/>
                <a:ln>
                  <a:noFill/>
                </a:ln>
              </p:spPr>
              <p:txBody>
                <a:bodyPr wrap="square" rtlCol="0" anchor="t">
                  <a:spAutoFit/>
                </a:bodyPr>
                <a:lstStyle/>
                <a:p>
                  <a:pPr algn="l">
                    <a:lnSpc>
                      <a:spcPct val="130000"/>
                    </a:lnSpc>
                  </a:pPr>
                  <a:r>
                    <a:rPr lang="zh-CN" altLang="en-US"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sym typeface="+mn-ea"/>
                    </a:rPr>
                    <a:t>一般地，如果</a:t>
                  </a:r>
                  <a14:m>
                    <m:oMath xmlns:m="http://schemas.openxmlformats.org/officeDocument/2006/math">
                      <m:sSup>
                        <m:sSupPr>
                          <m:ctrlPr>
                            <a:rPr lang="zh-CN" altLang="en-US" sz="2800" i="1">
                              <a:solidFill>
                                <a:srgbClr val="C00000"/>
                              </a:solidFill>
                              <a:latin typeface="Cambria Math" panose="02040503050406030204" pitchFamily="18" charset="0"/>
                              <a:ea typeface="楷体" panose="02010609060101010101" pitchFamily="49" charset="-122"/>
                            </a:rPr>
                          </m:ctrlPr>
                        </m:sSupPr>
                        <m:e>
                          <m:r>
                            <a:rPr lang="zh-CN" altLang="en-US" sz="2800" i="1">
                              <a:solidFill>
                                <a:srgbClr val="C00000"/>
                              </a:solidFill>
                              <a:latin typeface="Cambria Math" panose="02040503050406030204" pitchFamily="18" charset="0"/>
                              <a:ea typeface="楷体" panose="02010609060101010101" pitchFamily="49" charset="-122"/>
                            </a:rPr>
                            <m:t>𝑎</m:t>
                          </m:r>
                        </m:e>
                        <m:sup>
                          <m:r>
                            <a:rPr lang="zh-CN" altLang="en-US" sz="2800" i="1">
                              <a:solidFill>
                                <a:srgbClr val="C00000"/>
                              </a:solidFill>
                              <a:latin typeface="Cambria Math" panose="02040503050406030204" pitchFamily="18" charset="0"/>
                              <a:ea typeface="楷体" panose="02010609060101010101" pitchFamily="49" charset="-122"/>
                            </a:rPr>
                            <m:t>𝑥</m:t>
                          </m:r>
                        </m:sup>
                      </m:sSup>
                      <m:r>
                        <a:rPr lang="zh-CN" altLang="en-US" sz="2800">
                          <a:solidFill>
                            <a:srgbClr val="C00000"/>
                          </a:solidFill>
                          <a:latin typeface="Cambria Math" panose="02040503050406030204" pitchFamily="18" charset="0"/>
                          <a:ea typeface="楷体" panose="02010609060101010101" pitchFamily="49" charset="-122"/>
                        </a:rPr>
                        <m:t>=</m:t>
                      </m:r>
                      <m:r>
                        <a:rPr lang="zh-CN" altLang="en-US" sz="2800" i="1">
                          <a:solidFill>
                            <a:srgbClr val="C00000"/>
                          </a:solidFill>
                          <a:latin typeface="Cambria Math" panose="02040503050406030204" pitchFamily="18" charset="0"/>
                          <a:ea typeface="楷体" panose="02010609060101010101" pitchFamily="49" charset="-122"/>
                        </a:rPr>
                        <m:t>𝑁</m:t>
                      </m:r>
                      <m:r>
                        <a:rPr lang="zh-CN" altLang="en-US" sz="2800">
                          <a:solidFill>
                            <a:srgbClr val="C00000"/>
                          </a:solidFill>
                          <a:latin typeface="Cambria Math" panose="02040503050406030204" pitchFamily="18" charset="0"/>
                          <a:ea typeface="楷体" panose="02010609060101010101" pitchFamily="49" charset="-122"/>
                        </a:rPr>
                        <m:t>(</m:t>
                      </m:r>
                      <m:r>
                        <a:rPr lang="zh-CN" altLang="en-US" sz="2800" i="1">
                          <a:solidFill>
                            <a:srgbClr val="C00000"/>
                          </a:solidFill>
                          <a:latin typeface="Cambria Math" panose="02040503050406030204" pitchFamily="18" charset="0"/>
                          <a:ea typeface="楷体" panose="02010609060101010101" pitchFamily="49" charset="-122"/>
                        </a:rPr>
                        <m:t>𝑎</m:t>
                      </m:r>
                      <m:r>
                        <a:rPr lang="zh-CN" altLang="en-US" sz="2800">
                          <a:solidFill>
                            <a:srgbClr val="C00000"/>
                          </a:solidFill>
                          <a:latin typeface="Cambria Math" panose="02040503050406030204" pitchFamily="18" charset="0"/>
                          <a:ea typeface="楷体" panose="02010609060101010101" pitchFamily="49" charset="-122"/>
                        </a:rPr>
                        <m:t>&gt;0</m:t>
                      </m:r>
                      <m:r>
                        <a:rPr lang="zh-CN" altLang="en-US" sz="2800">
                          <a:solidFill>
                            <a:srgbClr val="C00000"/>
                          </a:solidFill>
                          <a:latin typeface="Cambria Math" panose="02040503050406030204" pitchFamily="18" charset="0"/>
                          <a:ea typeface="楷体" panose="02010609060101010101" pitchFamily="49" charset="-122"/>
                        </a:rPr>
                        <m:t>且</m:t>
                      </m:r>
                      <m:r>
                        <a:rPr lang="zh-CN" altLang="en-US" sz="2800" i="1">
                          <a:solidFill>
                            <a:srgbClr val="C00000"/>
                          </a:solidFill>
                          <a:latin typeface="Cambria Math" panose="02040503050406030204" pitchFamily="18" charset="0"/>
                          <a:ea typeface="楷体" panose="02010609060101010101" pitchFamily="49" charset="-122"/>
                        </a:rPr>
                        <m:t>𝑎</m:t>
                      </m:r>
                      <m:r>
                        <a:rPr lang="zh-CN" altLang="en-US" sz="2800">
                          <a:solidFill>
                            <a:srgbClr val="C00000"/>
                          </a:solidFill>
                          <a:latin typeface="Cambria Math" panose="02040503050406030204" pitchFamily="18" charset="0"/>
                          <a:ea typeface="楷体" panose="02010609060101010101" pitchFamily="49" charset="-122"/>
                        </a:rPr>
                        <m:t>≠1)</m:t>
                      </m:r>
                    </m:oMath>
                  </a14:m>
                  <a:r>
                    <a:rPr lang="zh-CN" altLang="en-US" sz="2800" dirty="0">
                      <a:solidFill>
                        <a:srgbClr val="C00000"/>
                      </a:solidFill>
                      <a:latin typeface="楷体" panose="02010609060101010101" pitchFamily="49" charset="-122"/>
                      <a:ea typeface="楷体" panose="02010609060101010101" pitchFamily="49" charset="-122"/>
                      <a:sym typeface="+mn-ea"/>
                    </a:rPr>
                    <a:t>，</a:t>
                  </a:r>
                  <a:r>
                    <a:rPr lang="zh-CN" altLang="en-US" sz="2800" dirty="0">
                      <a:latin typeface="楷体" panose="02010609060101010101" pitchFamily="49" charset="-122"/>
                      <a:ea typeface="楷体" panose="02010609060101010101" pitchFamily="49" charset="-122"/>
                      <a:sym typeface="+mn-ea"/>
                    </a:rPr>
                    <a:t>那么数</a:t>
                  </a:r>
                  <a14:m>
                    <m:oMath xmlns:m="http://schemas.openxmlformats.org/officeDocument/2006/math">
                      <m:r>
                        <a:rPr lang="zh-CN" altLang="en-US" sz="2800" i="1">
                          <a:latin typeface="Cambria Math" panose="02040503050406030204" pitchFamily="18" charset="0"/>
                          <a:ea typeface="楷体" panose="02010609060101010101" pitchFamily="49" charset="-122"/>
                        </a:rPr>
                        <m:t>𝑥</m:t>
                      </m:r>
                    </m:oMath>
                  </a14:m>
                  <a:r>
                    <a:rPr lang="zh-CN" altLang="en-US" sz="2800" dirty="0">
                      <a:latin typeface="楷体" panose="02010609060101010101" pitchFamily="49" charset="-122"/>
                      <a:ea typeface="楷体" panose="02010609060101010101" pitchFamily="49" charset="-122"/>
                      <a:sym typeface="+mn-ea"/>
                    </a:rPr>
                    <a:t>叫做以</a:t>
                  </a:r>
                  <a14:m>
                    <m:oMath xmlns:m="http://schemas.openxmlformats.org/officeDocument/2006/math">
                      <m:r>
                        <a:rPr lang="zh-CN" altLang="en-US" sz="2800" i="1">
                          <a:latin typeface="Cambria Math" panose="02040503050406030204" pitchFamily="18" charset="0"/>
                          <a:ea typeface="楷体" panose="02010609060101010101" pitchFamily="49" charset="-122"/>
                        </a:rPr>
                        <m:t>𝑎</m:t>
                      </m:r>
                    </m:oMath>
                  </a14:m>
                  <a:r>
                    <a:rPr lang="zh-CN" altLang="en-US" sz="2800" dirty="0">
                      <a:latin typeface="楷体" panose="02010609060101010101" pitchFamily="49" charset="-122"/>
                      <a:ea typeface="楷体" panose="02010609060101010101" pitchFamily="49" charset="-122"/>
                      <a:sym typeface="+mn-ea"/>
                    </a:rPr>
                    <a:t>为底</a:t>
                  </a:r>
                  <a14:m>
                    <m:oMath xmlns:m="http://schemas.openxmlformats.org/officeDocument/2006/math">
                      <m:r>
                        <a:rPr lang="zh-CN" altLang="en-US" sz="2800" i="1">
                          <a:latin typeface="Cambria Math" panose="02040503050406030204" pitchFamily="18" charset="0"/>
                          <a:ea typeface="楷体" panose="02010609060101010101" pitchFamily="49" charset="-122"/>
                        </a:rPr>
                        <m:t>𝑁</m:t>
                      </m:r>
                    </m:oMath>
                  </a14:m>
                  <a:r>
                    <a:rPr lang="zh-CN" altLang="en-US" sz="2800" dirty="0">
                      <a:latin typeface="楷体" panose="02010609060101010101" pitchFamily="49" charset="-122"/>
                      <a:ea typeface="楷体" panose="02010609060101010101" pitchFamily="49" charset="-122"/>
                      <a:sym typeface="+mn-ea"/>
                    </a:rPr>
                    <a:t>的对数，记作：</a:t>
                  </a:r>
                  <a14:m>
                    <m:oMath xmlns:m="http://schemas.openxmlformats.org/officeDocument/2006/math">
                      <m:r>
                        <a:rPr lang="zh-CN" altLang="en-US" sz="2800" i="1">
                          <a:solidFill>
                            <a:srgbClr val="C00000"/>
                          </a:solidFill>
                          <a:latin typeface="Cambria Math" panose="02040503050406030204" pitchFamily="18" charset="0"/>
                          <a:ea typeface="楷体" panose="02010609060101010101" pitchFamily="49" charset="-122"/>
                        </a:rPr>
                        <m:t>𝑥</m:t>
                      </m:r>
                      <m:r>
                        <a:rPr lang="zh-CN" altLang="en-US" sz="2800">
                          <a:solidFill>
                            <a:srgbClr val="C00000"/>
                          </a:solidFill>
                          <a:latin typeface="Cambria Math" panose="02040503050406030204" pitchFamily="18" charset="0"/>
                          <a:ea typeface="楷体" panose="02010609060101010101" pitchFamily="49" charset="-122"/>
                        </a:rPr>
                        <m:t>=</m:t>
                      </m:r>
                      <m:sSub>
                        <m:sSubPr>
                          <m:ctrlPr>
                            <a:rPr lang="zh-CN" altLang="en-US" sz="2800" i="1">
                              <a:solidFill>
                                <a:srgbClr val="C00000"/>
                              </a:solidFill>
                              <a:latin typeface="Cambria Math" panose="02040503050406030204" pitchFamily="18" charset="0"/>
                              <a:ea typeface="楷体" panose="02010609060101010101" pitchFamily="49" charset="-122"/>
                            </a:rPr>
                          </m:ctrlPr>
                        </m:sSubPr>
                        <m:e>
                          <m:r>
                            <a:rPr lang="zh-CN" altLang="en-US" sz="2800" i="1">
                              <a:solidFill>
                                <a:srgbClr val="C00000"/>
                              </a:solidFill>
                              <a:latin typeface="Cambria Math" panose="02040503050406030204" pitchFamily="18" charset="0"/>
                              <a:ea typeface="楷体" panose="02010609060101010101" pitchFamily="49" charset="-122"/>
                            </a:rPr>
                            <m:t>𝑙𝑜𝑔</m:t>
                          </m:r>
                        </m:e>
                        <m:sub>
                          <m:r>
                            <a:rPr lang="zh-CN" altLang="en-US" sz="2800" i="1">
                              <a:solidFill>
                                <a:srgbClr val="C00000"/>
                              </a:solidFill>
                              <a:latin typeface="Cambria Math" panose="02040503050406030204" pitchFamily="18" charset="0"/>
                              <a:ea typeface="楷体" panose="02010609060101010101" pitchFamily="49" charset="-122"/>
                            </a:rPr>
                            <m:t>𝑎</m:t>
                          </m:r>
                        </m:sub>
                      </m:sSub>
                      <m:r>
                        <a:rPr lang="zh-CN" altLang="en-US" sz="2800" i="1">
                          <a:solidFill>
                            <a:srgbClr val="C00000"/>
                          </a:solidFill>
                          <a:latin typeface="Cambria Math" panose="02040503050406030204" pitchFamily="18" charset="0"/>
                          <a:ea typeface="楷体" panose="02010609060101010101" pitchFamily="49" charset="-122"/>
                        </a:rPr>
                        <m:t>𝑁</m:t>
                      </m:r>
                    </m:oMath>
                  </a14:m>
                  <a:r>
                    <a:rPr lang="zh-CN" altLang="en-US" sz="2800" dirty="0">
                      <a:solidFill>
                        <a:srgbClr val="C00000"/>
                      </a:solidFill>
                      <a:latin typeface="楷体" panose="02010609060101010101" pitchFamily="49" charset="-122"/>
                      <a:ea typeface="楷体" panose="02010609060101010101" pitchFamily="49" charset="-122"/>
                      <a:sym typeface="+mn-ea"/>
                    </a:rPr>
                    <a:t>，</a:t>
                  </a:r>
                  <a:r>
                    <a:rPr lang="zh-CN" altLang="en-US" sz="2800" dirty="0">
                      <a:latin typeface="楷体" panose="02010609060101010101" pitchFamily="49" charset="-122"/>
                      <a:ea typeface="楷体" panose="02010609060101010101" pitchFamily="49" charset="-122"/>
                      <a:sym typeface="+mn-ea"/>
                    </a:rPr>
                    <a:t>其中</a:t>
                  </a:r>
                  <a14:m>
                    <m:oMath xmlns:m="http://schemas.openxmlformats.org/officeDocument/2006/math">
                      <m:r>
                        <a:rPr lang="zh-CN" altLang="en-US" sz="2800" i="1">
                          <a:latin typeface="Cambria Math" panose="02040503050406030204" pitchFamily="18" charset="0"/>
                          <a:ea typeface="楷体" panose="02010609060101010101" pitchFamily="49" charset="-122"/>
                        </a:rPr>
                        <m:t>𝑎</m:t>
                      </m:r>
                    </m:oMath>
                  </a14:m>
                  <a:r>
                    <a:rPr lang="zh-CN" altLang="en-US" sz="2800" dirty="0">
                      <a:latin typeface="楷体" panose="02010609060101010101" pitchFamily="49" charset="-122"/>
                      <a:ea typeface="楷体" panose="02010609060101010101" pitchFamily="49" charset="-122"/>
                      <a:sym typeface="+mn-ea"/>
                    </a:rPr>
                    <a:t>叫做对数的底数，</a:t>
                  </a:r>
                  <a14:m>
                    <m:oMath xmlns:m="http://schemas.openxmlformats.org/officeDocument/2006/math">
                      <m:r>
                        <a:rPr lang="zh-CN" altLang="en-US" sz="2800" i="1">
                          <a:latin typeface="Cambria Math" panose="02040503050406030204" pitchFamily="18" charset="0"/>
                          <a:ea typeface="楷体" panose="02010609060101010101" pitchFamily="49" charset="-122"/>
                        </a:rPr>
                        <m:t>𝑁</m:t>
                      </m:r>
                    </m:oMath>
                  </a14:m>
                  <a:r>
                    <a:rPr lang="zh-CN" altLang="en-US" sz="2800" dirty="0">
                      <a:latin typeface="楷体" panose="02010609060101010101" pitchFamily="49" charset="-122"/>
                      <a:ea typeface="楷体" panose="02010609060101010101" pitchFamily="49" charset="-122"/>
                      <a:sym typeface="+mn-ea"/>
                    </a:rPr>
                    <a:t>叫做真数.注：</a:t>
                  </a:r>
                  <a:r>
                    <a:rPr lang="zh-CN" altLang="en-US" sz="2800" dirty="0">
                      <a:solidFill>
                        <a:srgbClr val="C00000"/>
                      </a:solidFill>
                      <a:latin typeface="楷体" panose="02010609060101010101" pitchFamily="49" charset="-122"/>
                      <a:ea typeface="楷体" panose="02010609060101010101" pitchFamily="49" charset="-122"/>
                      <a:sym typeface="+mn-ea"/>
                    </a:rPr>
                    <a:t>真数</a:t>
                  </a:r>
                  <a14:m>
                    <m:oMath xmlns:m="http://schemas.openxmlformats.org/officeDocument/2006/math">
                      <m:r>
                        <a:rPr lang="zh-CN" altLang="en-US" sz="2800" i="1">
                          <a:solidFill>
                            <a:srgbClr val="C00000"/>
                          </a:solidFill>
                          <a:latin typeface="Cambria Math" panose="02040503050406030204" pitchFamily="18" charset="0"/>
                          <a:ea typeface="楷体" panose="02010609060101010101" pitchFamily="49" charset="-122"/>
                        </a:rPr>
                        <m:t>𝑁</m:t>
                      </m:r>
                      <m:r>
                        <a:rPr lang="zh-CN" altLang="en-US" sz="2800">
                          <a:solidFill>
                            <a:srgbClr val="C00000"/>
                          </a:solidFill>
                          <a:latin typeface="Cambria Math" panose="02040503050406030204" pitchFamily="18" charset="0"/>
                          <a:ea typeface="楷体" panose="02010609060101010101" pitchFamily="49" charset="-122"/>
                        </a:rPr>
                        <m:t>&gt;0.</m:t>
                      </m:r>
                    </m:oMath>
                  </a14:m>
                  <a:endParaRPr lang="zh-CN" altLang="en-US" sz="2800" dirty="0">
                    <a:solidFill>
                      <a:srgbClr val="C00000"/>
                    </a:solidFill>
                    <a:latin typeface="楷体" panose="02010609060101010101" pitchFamily="49" charset="-122"/>
                    <a:ea typeface="楷体" panose="02010609060101010101" pitchFamily="49" charset="-122"/>
                  </a:endParaRPr>
                </a:p>
              </p:txBody>
            </p:sp>
          </mc:Choice>
          <mc:Fallback xmlns="">
            <p:sp>
              <p:nvSpPr>
                <p:cNvPr id="25" name="文本框 24">
                  <a:extLst>
                    <a:ext uri="{FF2B5EF4-FFF2-40B4-BE49-F238E27FC236}">
                      <a16:creationId xmlns:a16="http://schemas.microsoft.com/office/drawing/2014/main" id="{41A85BB3-283E-40D6-8C79-781AAC00D9D4}"/>
                    </a:ext>
                  </a:extLst>
                </p:cNvPr>
                <p:cNvSpPr txBox="1">
                  <a:spLocks noRot="1" noChangeAspect="1" noMove="1" noResize="1" noEditPoints="1" noAdjustHandles="1" noChangeArrowheads="1" noChangeShapeType="1" noTextEdit="1"/>
                </p:cNvSpPr>
                <p:nvPr>
                  <p:custDataLst>
                    <p:tags r:id="rId7"/>
                  </p:custDataLst>
                </p:nvPr>
              </p:nvSpPr>
              <p:spPr>
                <a:xfrm>
                  <a:off x="-758" y="2205"/>
                  <a:ext cx="18057" cy="26027"/>
                </a:xfrm>
                <a:prstGeom prst="rect">
                  <a:avLst/>
                </a:prstGeom>
                <a:blipFill>
                  <a:blip r:embed="rId8"/>
                  <a:stretch>
                    <a:fillRect l="-1375" t="-1071" b="-8214"/>
                  </a:stretch>
                </a:blipFill>
                <a:ln>
                  <a:noFill/>
                </a:ln>
              </p:spPr>
              <p:txBody>
                <a:bodyPr/>
                <a:lstStyle/>
                <a:p>
                  <a:r>
                    <a:rPr lang="zh-CN" altLang="en-US">
                      <a:noFill/>
                    </a:rPr>
                    <a:t> </a:t>
                  </a:r>
                </a:p>
              </p:txBody>
            </p:sp>
          </mc:Fallback>
        </mc:AlternateContent>
        <p:sp>
          <p:nvSpPr>
            <p:cNvPr id="26" name="圆角矩形 1">
              <a:extLst>
                <a:ext uri="{FF2B5EF4-FFF2-40B4-BE49-F238E27FC236}">
                  <a16:creationId xmlns:a16="http://schemas.microsoft.com/office/drawing/2014/main" id="{488DAE02-0364-4E18-8786-CD8339100AC8}"/>
                </a:ext>
              </a:extLst>
            </p:cNvPr>
            <p:cNvSpPr/>
            <p:nvPr>
              <p:custDataLst>
                <p:tags r:id="rId5"/>
              </p:custDataLst>
            </p:nvPr>
          </p:nvSpPr>
          <p:spPr>
            <a:xfrm>
              <a:off x="-1144" y="280"/>
              <a:ext cx="18620" cy="31195"/>
            </a:xfrm>
            <a:prstGeom prst="roundRect">
              <a:avLst/>
            </a:prstGeom>
            <a:noFill/>
            <a:ln w="19050">
              <a:solidFill>
                <a:srgbClr val="00525A"/>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21">
            <a:extLst>
              <a:ext uri="{FF2B5EF4-FFF2-40B4-BE49-F238E27FC236}">
                <a16:creationId xmlns:a16="http://schemas.microsoft.com/office/drawing/2014/main" id="{D00C7A41-4E34-4868-9854-B558569C05F8}"/>
              </a:ext>
            </a:extLst>
          </p:cNvPr>
          <p:cNvSpPr/>
          <p:nvPr/>
        </p:nvSpPr>
        <p:spPr>
          <a:xfrm>
            <a:off x="899232" y="1984346"/>
            <a:ext cx="902811" cy="523220"/>
          </a:xfrm>
          <a:prstGeom prst="rect">
            <a:avLst/>
          </a:prstGeom>
        </p:spPr>
        <p:txBody>
          <a:bodyPr wrap="none">
            <a:spAutoFit/>
          </a:bodyPr>
          <a:lstStyle/>
          <a:p>
            <a:r>
              <a:rPr lang="zh-CN" altLang="en-US" sz="28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对数</a:t>
            </a:r>
            <a:endParaRPr lang="zh-CN" altLang="en-US" sz="280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114C2AF-EAD2-49A8-91F8-EEAB4A246DDD}"/>
                  </a:ext>
                </a:extLst>
              </p:cNvPr>
              <p:cNvSpPr txBox="1"/>
              <p:nvPr>
                <p:custDataLst>
                  <p:tags r:id="rId2"/>
                </p:custDataLst>
              </p:nvPr>
            </p:nvSpPr>
            <p:spPr>
              <a:xfrm>
                <a:off x="319012" y="4619948"/>
                <a:ext cx="11793855" cy="1946110"/>
              </a:xfrm>
              <a:prstGeom prst="rect">
                <a:avLst/>
              </a:prstGeom>
              <a:noFill/>
            </p:spPr>
            <p:txBody>
              <a:bodyPr wrap="square" rtlCol="0">
                <a:spAutoFit/>
              </a:bodyPr>
              <a:lstStyle/>
              <a:p>
                <a:pPr indent="0" fontAlgn="auto">
                  <a:lnSpc>
                    <a:spcPct val="150000"/>
                  </a:lnSpc>
                </a:pPr>
                <a:r>
                  <a:rPr lang="zh-CN" altLang="en-US" sz="2800" dirty="0">
                    <a:latin typeface="黑体" panose="02010600030101010101" pitchFamily="2" charset="-122"/>
                    <a:ea typeface="黑体" panose="02010600030101010101" pitchFamily="2" charset="-122"/>
                  </a:rPr>
                  <a:t>牛刀小试：</a:t>
                </a:r>
              </a:p>
              <a:p>
                <a:pPr indent="0" fontAlgn="auto">
                  <a:lnSpc>
                    <a:spcPct val="150000"/>
                  </a:lnSpc>
                </a:pPr>
                <a:r>
                  <a:rPr lang="en-US" altLang="zh-CN" sz="2800" dirty="0">
                    <a:latin typeface="黑体" panose="02010600030101010101" pitchFamily="2" charset="-122"/>
                    <a:ea typeface="黑体" panose="02010600030101010101" pitchFamily="2" charset="-122"/>
                  </a:rPr>
                  <a:t>(1)</a:t>
                </a:r>
                <a14:m>
                  <m:oMath xmlns:m="http://schemas.openxmlformats.org/officeDocument/2006/math">
                    <m:func>
                      <m:func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funcPr>
                      <m:fName>
                        <m:sSub>
                          <m:sSub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sSubPr>
                          <m:e>
                            <m:r>
                              <m:rPr>
                                <m:sty m:val="p"/>
                              </m:rPr>
                              <a:rPr lang="en-US" altLang="zh-CN" sz="2800">
                                <a:latin typeface="Cambria Math" panose="02040503050406030204"/>
                                <a:ea typeface="黑体" panose="02010600030101010101" pitchFamily="2" charset="-122"/>
                                <a:cs typeface="Cambria Math" panose="02040503050406030204" pitchFamily="18" charset="0"/>
                              </a:rPr>
                              <m:t>log</m:t>
                            </m:r>
                          </m:e>
                          <m:sub>
                            <m:r>
                              <a:rPr lang="en-US" altLang="zh-CN" sz="2800" i="1">
                                <a:latin typeface="Cambria Math" panose="02040503050406030204"/>
                                <a:ea typeface="黑体" panose="02010600030101010101" pitchFamily="2" charset="-122"/>
                                <a:cs typeface="Cambria Math" panose="02040503050406030204" pitchFamily="18" charset="0"/>
                              </a:rPr>
                              <m:t>2</m:t>
                            </m:r>
                          </m:sub>
                        </m:sSub>
                      </m:fName>
                      <m:e>
                        <m:r>
                          <a:rPr lang="en-US" altLang="zh-CN" sz="2800" i="1">
                            <a:latin typeface="Cambria Math" panose="02040503050406030204"/>
                            <a:ea typeface="黑体" panose="02010600030101010101" pitchFamily="2" charset="-122"/>
                            <a:cs typeface="Cambria Math" panose="02040503050406030204" pitchFamily="18" charset="0"/>
                          </a:rPr>
                          <m:t>4</m:t>
                        </m:r>
                      </m:e>
                    </m:func>
                    <m:r>
                      <a:rPr lang="en-US" altLang="zh-CN" sz="2800" i="1">
                        <a:latin typeface="Cambria Math" panose="02040503050406030204"/>
                        <a:ea typeface="黑体" panose="02010600030101010101" pitchFamily="2" charset="-122"/>
                        <a:cs typeface="Cambria Math" panose="02040503050406030204" pitchFamily="18" charset="0"/>
                      </a:rPr>
                      <m:t>=</m:t>
                    </m:r>
                  </m:oMath>
                </a14:m>
                <a:r>
                  <a:rPr lang="en-US" altLang="zh-CN" sz="2800" dirty="0">
                    <a:latin typeface="黑体" panose="02010600030101010101" pitchFamily="2" charset="-122"/>
                    <a:ea typeface="黑体" panose="02010600030101010101" pitchFamily="2" charset="-122"/>
                  </a:rPr>
                  <a:t>_______.    (2)</a:t>
                </a:r>
                <a14:m>
                  <m:oMath xmlns:m="http://schemas.openxmlformats.org/officeDocument/2006/math">
                    <m:func>
                      <m:func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funcPr>
                      <m:fName>
                        <m:sSub>
                          <m:sSub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sSubPr>
                          <m:e>
                            <m:r>
                              <m:rPr>
                                <m:sty m:val="p"/>
                              </m:rPr>
                              <a:rPr lang="en-US" altLang="zh-CN" sz="2800">
                                <a:latin typeface="Cambria Math" panose="02040503050406030204"/>
                                <a:ea typeface="黑体" panose="02010600030101010101" pitchFamily="2" charset="-122"/>
                                <a:cs typeface="Cambria Math" panose="02040503050406030204" pitchFamily="18" charset="0"/>
                              </a:rPr>
                              <m:t>log</m:t>
                            </m:r>
                          </m:e>
                          <m:sub>
                            <m:r>
                              <a:rPr lang="en-US" altLang="zh-CN" sz="2800" i="1">
                                <a:latin typeface="Cambria Math" panose="02040503050406030204"/>
                                <a:ea typeface="黑体" panose="02010600030101010101" pitchFamily="2" charset="-122"/>
                                <a:cs typeface="Cambria Math" panose="02040503050406030204" pitchFamily="18" charset="0"/>
                              </a:rPr>
                              <m:t>2</m:t>
                            </m:r>
                          </m:sub>
                        </m:sSub>
                      </m:fName>
                      <m:e>
                        <m:r>
                          <a:rPr lang="en-US" altLang="zh-CN" sz="2800" i="1">
                            <a:latin typeface="Cambria Math" panose="02040503050406030204"/>
                            <a:ea typeface="黑体" panose="02010600030101010101" pitchFamily="2" charset="-122"/>
                            <a:cs typeface="Cambria Math" panose="02040503050406030204" pitchFamily="18" charset="0"/>
                          </a:rPr>
                          <m:t>8</m:t>
                        </m:r>
                      </m:e>
                    </m:func>
                    <m:r>
                      <a:rPr lang="en-US" altLang="zh-CN" sz="2800" i="1">
                        <a:latin typeface="Cambria Math" panose="02040503050406030204"/>
                        <a:ea typeface="黑体" panose="02010600030101010101" pitchFamily="2" charset="-122"/>
                        <a:cs typeface="Cambria Math" panose="02040503050406030204" pitchFamily="18" charset="0"/>
                      </a:rPr>
                      <m:t>=</m:t>
                    </m:r>
                  </m:oMath>
                </a14:m>
                <a:r>
                  <a:rPr lang="en-US" altLang="zh-CN" sz="2800" dirty="0">
                    <a:latin typeface="黑体" panose="02010600030101010101" pitchFamily="2" charset="-122"/>
                    <a:ea typeface="黑体" panose="02010600030101010101" pitchFamily="2" charset="-122"/>
                    <a:sym typeface="+mn-ea"/>
                  </a:rPr>
                  <a:t>_______.    (3)</a:t>
                </a:r>
                <a14:m>
                  <m:oMath xmlns:m="http://schemas.openxmlformats.org/officeDocument/2006/math">
                    <m:func>
                      <m:func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funcPr>
                      <m:fName>
                        <m:sSub>
                          <m:sSub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sSubPr>
                          <m:e>
                            <m:r>
                              <m:rPr>
                                <m:sty m:val="p"/>
                              </m:rPr>
                              <a:rPr lang="en-US" altLang="zh-CN" sz="2800">
                                <a:latin typeface="Cambria Math" panose="02040503050406030204"/>
                                <a:ea typeface="黑体" panose="02010600030101010101" pitchFamily="2" charset="-122"/>
                                <a:cs typeface="Cambria Math" panose="02040503050406030204" pitchFamily="18" charset="0"/>
                              </a:rPr>
                              <m:t>log</m:t>
                            </m:r>
                          </m:e>
                          <m:sub>
                            <m:r>
                              <a:rPr lang="en-US" altLang="zh-CN" sz="2800" b="0" i="1" smtClean="0">
                                <a:latin typeface="Cambria Math" panose="02040503050406030204" pitchFamily="18" charset="0"/>
                                <a:ea typeface="黑体" panose="02010600030101010101" pitchFamily="2" charset="-122"/>
                                <a:cs typeface="Cambria Math" panose="02040503050406030204" pitchFamily="18" charset="0"/>
                              </a:rPr>
                              <m:t>10</m:t>
                            </m:r>
                          </m:sub>
                        </m:sSub>
                      </m:fName>
                      <m:e>
                        <m:r>
                          <a:rPr lang="en-US" altLang="zh-CN" sz="2800" b="0" i="1" smtClean="0">
                            <a:latin typeface="Cambria Math" panose="02040503050406030204" pitchFamily="18" charset="0"/>
                            <a:ea typeface="黑体" panose="02010600030101010101" pitchFamily="2" charset="-122"/>
                            <a:cs typeface="Cambria Math" panose="02040503050406030204" pitchFamily="18" charset="0"/>
                          </a:rPr>
                          <m:t>100</m:t>
                        </m:r>
                      </m:e>
                    </m:func>
                    <m:r>
                      <a:rPr lang="en-US" altLang="zh-CN" sz="2800" i="1">
                        <a:latin typeface="Cambria Math" panose="02040503050406030204"/>
                        <a:ea typeface="黑体" panose="02010600030101010101" pitchFamily="2" charset="-122"/>
                        <a:cs typeface="Cambria Math" panose="02040503050406030204" pitchFamily="18" charset="0"/>
                      </a:rPr>
                      <m:t>=</m:t>
                    </m:r>
                  </m:oMath>
                </a14:m>
                <a:r>
                  <a:rPr lang="en-US" altLang="zh-CN" sz="2800" dirty="0">
                    <a:latin typeface="黑体" panose="02010600030101010101" pitchFamily="2" charset="-122"/>
                    <a:ea typeface="黑体" panose="02010600030101010101" pitchFamily="2" charset="-122"/>
                    <a:sym typeface="+mn-ea"/>
                  </a:rPr>
                  <a:t>_______.</a:t>
                </a:r>
              </a:p>
              <a:p>
                <a:pPr indent="0" fontAlgn="auto">
                  <a:lnSpc>
                    <a:spcPct val="150000"/>
                  </a:lnSpc>
                </a:pPr>
                <a:r>
                  <a:rPr lang="en-US" altLang="zh-CN" sz="2800" dirty="0">
                    <a:latin typeface="黑体" panose="02010600030101010101" pitchFamily="2" charset="-122"/>
                    <a:ea typeface="黑体" panose="02010600030101010101" pitchFamily="2" charset="-122"/>
                  </a:rPr>
                  <a:t>(4)</a:t>
                </a:r>
                <a14:m>
                  <m:oMath xmlns:m="http://schemas.openxmlformats.org/officeDocument/2006/math">
                    <m:func>
                      <m:func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funcPr>
                      <m:fName>
                        <m:sSub>
                          <m:sSub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sSubPr>
                          <m:e>
                            <m:r>
                              <m:rPr>
                                <m:sty m:val="p"/>
                              </m:rPr>
                              <a:rPr lang="en-US" altLang="zh-CN" sz="2800">
                                <a:latin typeface="Cambria Math" panose="02040503050406030204"/>
                                <a:ea typeface="黑体" panose="02010600030101010101" pitchFamily="2" charset="-122"/>
                                <a:cs typeface="Cambria Math" panose="02040503050406030204" pitchFamily="18" charset="0"/>
                              </a:rPr>
                              <m:t>log</m:t>
                            </m:r>
                          </m:e>
                          <m:sub>
                            <m:r>
                              <a:rPr lang="en-US" altLang="zh-CN" sz="2800">
                                <a:latin typeface="Cambria Math" panose="02040503050406030204"/>
                                <a:ea typeface="黑体" panose="02010600030101010101" pitchFamily="2" charset="-122"/>
                                <a:cs typeface="Cambria Math" panose="02040503050406030204" pitchFamily="18" charset="0"/>
                              </a:rPr>
                              <m:t>3</m:t>
                            </m:r>
                          </m:sub>
                        </m:sSub>
                      </m:fName>
                      <m:e>
                        <m:r>
                          <a:rPr lang="en-US" altLang="zh-CN" sz="2800" i="1">
                            <a:latin typeface="Cambria Math" panose="02040503050406030204"/>
                            <a:ea typeface="黑体" panose="02010600030101010101" pitchFamily="2" charset="-122"/>
                            <a:cs typeface="Cambria Math" panose="02040503050406030204" pitchFamily="18" charset="0"/>
                          </a:rPr>
                          <m:t>3</m:t>
                        </m:r>
                      </m:e>
                    </m:func>
                    <m:r>
                      <a:rPr lang="en-US" altLang="zh-CN" sz="2800" i="1">
                        <a:latin typeface="Cambria Math" panose="02040503050406030204"/>
                        <a:ea typeface="黑体" panose="02010600030101010101" pitchFamily="2" charset="-122"/>
                        <a:cs typeface="Cambria Math" panose="02040503050406030204" pitchFamily="18" charset="0"/>
                      </a:rPr>
                      <m:t>=</m:t>
                    </m:r>
                  </m:oMath>
                </a14:m>
                <a:r>
                  <a:rPr lang="en-US" altLang="zh-CN" sz="2800" dirty="0">
                    <a:latin typeface="黑体" panose="02010600030101010101" pitchFamily="2" charset="-122"/>
                    <a:ea typeface="黑体" panose="02010600030101010101" pitchFamily="2" charset="-122"/>
                    <a:sym typeface="+mn-ea"/>
                  </a:rPr>
                  <a:t>_______.    (5)</a:t>
                </a:r>
                <a14:m>
                  <m:oMath xmlns:m="http://schemas.openxmlformats.org/officeDocument/2006/math">
                    <m:func>
                      <m:func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funcPr>
                      <m:fName>
                        <m:sSub>
                          <m:sSubPr>
                            <m:ctrlPr>
                              <a:rPr lang="en-US" altLang="zh-CN" sz="2800" i="1">
                                <a:latin typeface="Cambria Math" panose="02040503050406030204" pitchFamily="18" charset="0"/>
                                <a:ea typeface="黑体" panose="02010600030101010101" pitchFamily="2" charset="-122"/>
                                <a:cs typeface="Cambria Math" panose="02040503050406030204" pitchFamily="18" charset="0"/>
                              </a:rPr>
                            </m:ctrlPr>
                          </m:sSubPr>
                          <m:e>
                            <m:r>
                              <m:rPr>
                                <m:sty m:val="p"/>
                              </m:rPr>
                              <a:rPr lang="en-US" altLang="zh-CN" sz="2800">
                                <a:latin typeface="Cambria Math" panose="02040503050406030204"/>
                                <a:ea typeface="黑体" panose="02010600030101010101" pitchFamily="2" charset="-122"/>
                                <a:cs typeface="Cambria Math" panose="02040503050406030204" pitchFamily="18" charset="0"/>
                              </a:rPr>
                              <m:t>log</m:t>
                            </m:r>
                          </m:e>
                          <m:sub>
                            <m:r>
                              <a:rPr lang="en-US" altLang="zh-CN" sz="2800">
                                <a:latin typeface="Cambria Math" panose="02040503050406030204"/>
                                <a:ea typeface="黑体" panose="02010600030101010101" pitchFamily="2" charset="-122"/>
                                <a:cs typeface="Cambria Math" panose="02040503050406030204" pitchFamily="18" charset="0"/>
                              </a:rPr>
                              <m:t>3</m:t>
                            </m:r>
                          </m:sub>
                        </m:sSub>
                      </m:fName>
                      <m:e>
                        <m:r>
                          <a:rPr lang="en-US" altLang="zh-CN" sz="2800" i="1">
                            <a:latin typeface="Cambria Math" panose="02040503050406030204"/>
                            <a:ea typeface="黑体" panose="02010600030101010101" pitchFamily="2" charset="-122"/>
                            <a:cs typeface="Cambria Math" panose="02040503050406030204" pitchFamily="18" charset="0"/>
                          </a:rPr>
                          <m:t>81</m:t>
                        </m:r>
                      </m:e>
                    </m:func>
                    <m:r>
                      <a:rPr lang="en-US" altLang="zh-CN" sz="2800" i="1">
                        <a:latin typeface="Cambria Math" panose="02040503050406030204"/>
                        <a:ea typeface="黑体" panose="02010600030101010101" pitchFamily="2" charset="-122"/>
                        <a:cs typeface="Cambria Math" panose="02040503050406030204" pitchFamily="18" charset="0"/>
                      </a:rPr>
                      <m:t>=</m:t>
                    </m:r>
                  </m:oMath>
                </a14:m>
                <a:r>
                  <a:rPr lang="en-US" altLang="zh-CN" sz="2800" dirty="0">
                    <a:latin typeface="黑体" panose="02010600030101010101" pitchFamily="2" charset="-122"/>
                    <a:ea typeface="黑体" panose="02010600030101010101" pitchFamily="2" charset="-122"/>
                    <a:sym typeface="+mn-ea"/>
                  </a:rPr>
                  <a:t>_______.   </a:t>
                </a:r>
                <a:endParaRPr lang="en-US" altLang="zh-CN" sz="2800" dirty="0">
                  <a:latin typeface="黑体" panose="02010600030101010101" pitchFamily="2" charset="-122"/>
                  <a:ea typeface="黑体" panose="02010600030101010101" pitchFamily="2" charset="-122"/>
                </a:endParaRPr>
              </a:p>
            </p:txBody>
          </p:sp>
        </mc:Choice>
        <mc:Fallback xmlns="">
          <p:sp>
            <p:nvSpPr>
              <p:cNvPr id="8" name="文本框 7">
                <a:extLst>
                  <a:ext uri="{FF2B5EF4-FFF2-40B4-BE49-F238E27FC236}">
                    <a16:creationId xmlns:a16="http://schemas.microsoft.com/office/drawing/2014/main" id="{A114C2AF-EAD2-49A8-91F8-EEAB4A246DDD}"/>
                  </a:ext>
                </a:extLst>
              </p:cNvPr>
              <p:cNvSpPr txBox="1">
                <a:spLocks noRot="1" noChangeAspect="1" noMove="1" noResize="1" noEditPoints="1" noAdjustHandles="1" noChangeArrowheads="1" noChangeShapeType="1" noTextEdit="1"/>
              </p:cNvSpPr>
              <p:nvPr>
                <p:custDataLst>
                  <p:tags r:id="rId9"/>
                </p:custDataLst>
              </p:nvPr>
            </p:nvSpPr>
            <p:spPr>
              <a:xfrm>
                <a:off x="319012" y="4619948"/>
                <a:ext cx="11793855" cy="1946110"/>
              </a:xfrm>
              <a:prstGeom prst="rect">
                <a:avLst/>
              </a:prstGeom>
              <a:blipFill>
                <a:blip r:embed="rId10"/>
                <a:stretch>
                  <a:fillRect l="-1034" r="-1085" b="-72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C7D2ECF-9AF0-481A-9CA4-CF2303A5DF41}"/>
                  </a:ext>
                </a:extLst>
              </p:cNvPr>
              <p:cNvSpPr txBox="1"/>
              <p:nvPr>
                <p:custDataLst>
                  <p:tags r:id="rId3"/>
                </p:custDataLst>
              </p:nvPr>
            </p:nvSpPr>
            <p:spPr>
              <a:xfrm>
                <a:off x="5770811" y="3429000"/>
                <a:ext cx="6102177" cy="1127296"/>
              </a:xfrm>
              <a:prstGeom prst="rect">
                <a:avLst/>
              </a:prstGeom>
              <a:noFill/>
            </p:spPr>
            <p:txBody>
              <a:bodyPr wrap="square" rtlCol="0" anchor="t">
                <a:spAutoFit/>
              </a:bodyPr>
              <a:lstStyle/>
              <a:p>
                <a:pPr>
                  <a:lnSpc>
                    <a:spcPct val="150000"/>
                  </a:lnSpc>
                </a:pP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常用对数</a:t>
                </a:r>
                <a:r>
                  <a:rPr lang="zh-CN" altLang="en-US" sz="2400" dirty="0">
                    <a:latin typeface="楷体" panose="02010609060101010101" pitchFamily="49" charset="-122"/>
                    <a:ea typeface="楷体" panose="02010609060101010101" pitchFamily="49" charset="-122"/>
                    <a:cs typeface="楷体" panose="02010609060101010101" pitchFamily="49" charset="-122"/>
                    <a:sym typeface="+mn-ea"/>
                  </a:rPr>
                  <a:t>：将以</a:t>
                </a:r>
                <a:r>
                  <a:rPr lang="en-US" altLang="zh-CN" sz="2400" dirty="0">
                    <a:latin typeface="楷体" panose="02010609060101010101" pitchFamily="49" charset="-122"/>
                    <a:ea typeface="楷体" panose="02010609060101010101" pitchFamily="49" charset="-122"/>
                    <a:cs typeface="楷体" panose="02010609060101010101" pitchFamily="49" charset="-122"/>
                    <a:sym typeface="+mn-ea"/>
                  </a:rPr>
                  <a:t>10</a:t>
                </a:r>
                <a:r>
                  <a:rPr lang="zh-CN" altLang="en-US" sz="2400" dirty="0">
                    <a:latin typeface="楷体" panose="02010609060101010101" pitchFamily="49" charset="-122"/>
                    <a:ea typeface="楷体" panose="02010609060101010101" pitchFamily="49" charset="-122"/>
                    <a:cs typeface="楷体" panose="02010609060101010101" pitchFamily="49" charset="-122"/>
                    <a:sym typeface="+mn-ea"/>
                  </a:rPr>
                  <a:t>为底的对数叫做常用对数，</a:t>
                </a:r>
              </a:p>
              <a:p>
                <a:pPr marL="1828800" lvl="4" indent="457200">
                  <a:lnSpc>
                    <a:spcPct val="150000"/>
                  </a:lnSpc>
                </a:pPr>
                <a:r>
                  <a:rPr lang="zh-CN" altLang="en-US" sz="2400" dirty="0">
                    <a:latin typeface="楷体" panose="02010609060101010101" pitchFamily="49" charset="-122"/>
                    <a:ea typeface="楷体" panose="02010609060101010101" pitchFamily="49" charset="-122"/>
                    <a:cs typeface="楷体" panose="02010609060101010101" pitchFamily="49" charset="-122"/>
                    <a:sym typeface="+mn-ea"/>
                  </a:rPr>
                  <a:t>并把</a:t>
                </a:r>
                <a14:m>
                  <m:oMath xmlns:m="http://schemas.openxmlformats.org/officeDocument/2006/math">
                    <m:r>
                      <a:rPr lang="en-US" altLang="zh-CN" sz="2400" i="1">
                        <a:latin typeface="Cambria Math" panose="02040503050406030204" pitchFamily="18" charset="0"/>
                        <a:ea typeface="楷体" panose="02010609060101010101" pitchFamily="49" charset="-122"/>
                        <a:cs typeface="Cambria Math" panose="02040503050406030204" pitchFamily="18" charset="0"/>
                        <a:sym typeface="+mn-ea"/>
                      </a:rPr>
                      <m:t>𝑙𝑜𝑔</m:t>
                    </m:r>
                    <m:r>
                      <a:rPr lang="en-US" altLang="zh-CN" sz="2400" i="1" baseline="-25000">
                        <a:latin typeface="Cambria Math" panose="02040503050406030204" pitchFamily="18" charset="0"/>
                        <a:ea typeface="楷体" panose="02010609060101010101" pitchFamily="49" charset="-122"/>
                        <a:cs typeface="Cambria Math" panose="02040503050406030204" pitchFamily="18" charset="0"/>
                        <a:sym typeface="+mn-ea"/>
                      </a:rPr>
                      <m:t>10</m:t>
                    </m:r>
                    <m:r>
                      <a:rPr lang="en-US" altLang="zh-CN" sz="2400" i="1">
                        <a:latin typeface="Cambria Math" panose="02040503050406030204" pitchFamily="18" charset="0"/>
                        <a:ea typeface="楷体" panose="02010609060101010101" pitchFamily="49" charset="-122"/>
                        <a:cs typeface="Cambria Math" panose="02040503050406030204" pitchFamily="18" charset="0"/>
                        <a:sym typeface="+mn-ea"/>
                      </a:rPr>
                      <m:t>𝑁</m:t>
                    </m:r>
                  </m:oMath>
                </a14:m>
                <a:r>
                  <a:rPr lang="zh-CN" altLang="en-US" sz="2400" dirty="0">
                    <a:latin typeface="楷体" panose="02010609060101010101" pitchFamily="49" charset="-122"/>
                    <a:ea typeface="楷体" panose="02010609060101010101" pitchFamily="49" charset="-122"/>
                    <a:cs typeface="楷体" panose="02010609060101010101" pitchFamily="49" charset="-122"/>
                    <a:sym typeface="+mn-ea"/>
                  </a:rPr>
                  <a:t>记做</a:t>
                </a:r>
                <a14:m>
                  <m:oMath xmlns:m="http://schemas.openxmlformats.org/officeDocument/2006/math">
                    <m:r>
                      <a:rPr lang="en-US" altLang="zh-CN" sz="2400" i="1">
                        <a:solidFill>
                          <a:srgbClr val="C00000"/>
                        </a:solidFill>
                        <a:latin typeface="Cambria Math" panose="02040503050406030204" pitchFamily="18" charset="0"/>
                        <a:ea typeface="楷体" panose="02010609060101010101" pitchFamily="49" charset="-122"/>
                        <a:cs typeface="Cambria Math" panose="02040503050406030204" pitchFamily="18" charset="0"/>
                        <a:sym typeface="+mn-ea"/>
                      </a:rPr>
                      <m:t>𝑙𝑔</m:t>
                    </m:r>
                    <m:r>
                      <a:rPr lang="en-US" altLang="zh-CN" sz="2400" i="1">
                        <a:solidFill>
                          <a:srgbClr val="C00000"/>
                        </a:solidFill>
                        <a:latin typeface="Cambria Math" panose="02040503050406030204" pitchFamily="18" charset="0"/>
                        <a:ea typeface="楷体" panose="02010609060101010101" pitchFamily="49" charset="-122"/>
                        <a:cs typeface="Cambria Math" panose="02040503050406030204" pitchFamily="18" charset="0"/>
                        <a:sym typeface="+mn-ea"/>
                      </a:rPr>
                      <m:t> </m:t>
                    </m:r>
                    <m:r>
                      <a:rPr lang="en-US" altLang="zh-CN" sz="2400" i="1">
                        <a:solidFill>
                          <a:srgbClr val="C00000"/>
                        </a:solidFill>
                        <a:latin typeface="Cambria Math" panose="02040503050406030204" pitchFamily="18" charset="0"/>
                        <a:ea typeface="楷体" panose="02010609060101010101" pitchFamily="49" charset="-122"/>
                        <a:cs typeface="Cambria Math" panose="02040503050406030204" pitchFamily="18" charset="0"/>
                        <a:sym typeface="+mn-ea"/>
                      </a:rPr>
                      <m:t>𝑁</m:t>
                    </m:r>
                  </m:oMath>
                </a14:m>
                <a:r>
                  <a:rPr lang="zh-CN" altLang="en-US" sz="2400" dirty="0">
                    <a:latin typeface="楷体" panose="02010609060101010101" pitchFamily="49" charset="-122"/>
                    <a:ea typeface="楷体" panose="02010609060101010101" pitchFamily="49" charset="-122"/>
                    <a:cs typeface="楷体" panose="02010609060101010101" pitchFamily="49" charset="-122"/>
                    <a:sym typeface="+mn-ea"/>
                  </a:rPr>
                  <a:t>。</a:t>
                </a:r>
              </a:p>
            </p:txBody>
          </p:sp>
        </mc:Choice>
        <mc:Fallback xmlns="">
          <p:sp>
            <p:nvSpPr>
              <p:cNvPr id="9" name="文本框 8">
                <a:extLst>
                  <a:ext uri="{FF2B5EF4-FFF2-40B4-BE49-F238E27FC236}">
                    <a16:creationId xmlns:a16="http://schemas.microsoft.com/office/drawing/2014/main" id="{8C7D2ECF-9AF0-481A-9CA4-CF2303A5DF41}"/>
                  </a:ext>
                </a:extLst>
              </p:cNvPr>
              <p:cNvSpPr txBox="1">
                <a:spLocks noRot="1" noChangeAspect="1" noMove="1" noResize="1" noEditPoints="1" noAdjustHandles="1" noChangeArrowheads="1" noChangeShapeType="1" noTextEdit="1"/>
              </p:cNvSpPr>
              <p:nvPr>
                <p:custDataLst>
                  <p:tags r:id="rId11"/>
                </p:custDataLst>
              </p:nvPr>
            </p:nvSpPr>
            <p:spPr>
              <a:xfrm>
                <a:off x="5770811" y="3429000"/>
                <a:ext cx="6102177" cy="1127296"/>
              </a:xfrm>
              <a:prstGeom prst="rect">
                <a:avLst/>
              </a:prstGeom>
              <a:blipFill>
                <a:blip r:embed="rId12"/>
                <a:stretch>
                  <a:fillRect l="-1598" r="-4396" b="-10326"/>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1623FDE3-ED14-4223-AD52-C4313BDD1BB5}"/>
              </a:ext>
            </a:extLst>
          </p:cNvPr>
          <p:cNvSpPr txBox="1"/>
          <p:nvPr/>
        </p:nvSpPr>
        <p:spPr>
          <a:xfrm>
            <a:off x="2593181" y="5436394"/>
            <a:ext cx="35137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10" name="文本框 9">
            <a:extLst>
              <a:ext uri="{FF2B5EF4-FFF2-40B4-BE49-F238E27FC236}">
                <a16:creationId xmlns:a16="http://schemas.microsoft.com/office/drawing/2014/main" id="{467E64FF-BD82-4E3B-A62D-517656D1296C}"/>
              </a:ext>
            </a:extLst>
          </p:cNvPr>
          <p:cNvSpPr txBox="1"/>
          <p:nvPr/>
        </p:nvSpPr>
        <p:spPr>
          <a:xfrm>
            <a:off x="2593181" y="6062006"/>
            <a:ext cx="351378" cy="461665"/>
          </a:xfrm>
          <a:prstGeom prst="rect">
            <a:avLst/>
          </a:prstGeom>
          <a:noFill/>
        </p:spPr>
        <p:txBody>
          <a:bodyPr wrap="none" rtlCol="0">
            <a:spAutoFit/>
          </a:bodyPr>
          <a:lstStyle/>
          <a:p>
            <a:r>
              <a:rPr lang="en-US" altLang="zh-CN" sz="2400" dirty="0">
                <a:solidFill>
                  <a:srgbClr val="FF0000"/>
                </a:solidFill>
              </a:rPr>
              <a:t>1</a:t>
            </a:r>
            <a:endParaRPr lang="zh-CN" altLang="en-US" sz="2400" dirty="0">
              <a:solidFill>
                <a:srgbClr val="FF0000"/>
              </a:solidFill>
            </a:endParaRPr>
          </a:p>
        </p:txBody>
      </p:sp>
      <p:sp>
        <p:nvSpPr>
          <p:cNvPr id="11" name="文本框 10">
            <a:extLst>
              <a:ext uri="{FF2B5EF4-FFF2-40B4-BE49-F238E27FC236}">
                <a16:creationId xmlns:a16="http://schemas.microsoft.com/office/drawing/2014/main" id="{FAABA384-225E-4264-8C69-52F344854BDE}"/>
              </a:ext>
            </a:extLst>
          </p:cNvPr>
          <p:cNvSpPr txBox="1"/>
          <p:nvPr/>
        </p:nvSpPr>
        <p:spPr>
          <a:xfrm>
            <a:off x="6603206" y="5362170"/>
            <a:ext cx="351378" cy="461665"/>
          </a:xfrm>
          <a:prstGeom prst="rect">
            <a:avLst/>
          </a:prstGeom>
          <a:noFill/>
        </p:spPr>
        <p:txBody>
          <a:bodyPr wrap="none" rtlCol="0">
            <a:spAutoFit/>
          </a:bodyPr>
          <a:lstStyle/>
          <a:p>
            <a:r>
              <a:rPr lang="en-US" altLang="zh-CN" sz="2400" dirty="0">
                <a:solidFill>
                  <a:srgbClr val="FF0000"/>
                </a:solidFill>
              </a:rPr>
              <a:t>3</a:t>
            </a:r>
            <a:endParaRPr lang="zh-CN" altLang="en-US" sz="2400" dirty="0">
              <a:solidFill>
                <a:srgbClr val="FF0000"/>
              </a:solidFill>
            </a:endParaRPr>
          </a:p>
        </p:txBody>
      </p:sp>
      <p:sp>
        <p:nvSpPr>
          <p:cNvPr id="12" name="文本框 11">
            <a:extLst>
              <a:ext uri="{FF2B5EF4-FFF2-40B4-BE49-F238E27FC236}">
                <a16:creationId xmlns:a16="http://schemas.microsoft.com/office/drawing/2014/main" id="{D4B83567-6323-485A-AB18-F615C3042402}"/>
              </a:ext>
            </a:extLst>
          </p:cNvPr>
          <p:cNvSpPr txBox="1"/>
          <p:nvPr/>
        </p:nvSpPr>
        <p:spPr>
          <a:xfrm>
            <a:off x="11070431" y="5377465"/>
            <a:ext cx="351378" cy="461665"/>
          </a:xfrm>
          <a:prstGeom prst="rect">
            <a:avLst/>
          </a:prstGeom>
          <a:noFill/>
        </p:spPr>
        <p:txBody>
          <a:bodyPr wrap="none" rtlCol="0">
            <a:spAutoFit/>
          </a:bodyPr>
          <a:lstStyle/>
          <a:p>
            <a:r>
              <a:rPr lang="en-US" altLang="zh-CN" sz="2400" dirty="0">
                <a:solidFill>
                  <a:srgbClr val="FF0000"/>
                </a:solidFill>
              </a:rPr>
              <a:t>2</a:t>
            </a:r>
            <a:endParaRPr lang="zh-CN" altLang="en-US" sz="2400" dirty="0">
              <a:solidFill>
                <a:srgbClr val="FF0000"/>
              </a:solidFill>
            </a:endParaRPr>
          </a:p>
        </p:txBody>
      </p:sp>
      <p:sp>
        <p:nvSpPr>
          <p:cNvPr id="13" name="文本框 12">
            <a:extLst>
              <a:ext uri="{FF2B5EF4-FFF2-40B4-BE49-F238E27FC236}">
                <a16:creationId xmlns:a16="http://schemas.microsoft.com/office/drawing/2014/main" id="{15AA28C8-2E17-4786-B9DA-C5AD415DEA62}"/>
              </a:ext>
            </a:extLst>
          </p:cNvPr>
          <p:cNvSpPr txBox="1"/>
          <p:nvPr/>
        </p:nvSpPr>
        <p:spPr>
          <a:xfrm>
            <a:off x="6712744" y="6037896"/>
            <a:ext cx="351378" cy="461665"/>
          </a:xfrm>
          <a:prstGeom prst="rect">
            <a:avLst/>
          </a:prstGeom>
          <a:noFill/>
        </p:spPr>
        <p:txBody>
          <a:bodyPr wrap="none" rtlCol="0">
            <a:spAutoFit/>
          </a:bodyPr>
          <a:lstStyle/>
          <a:p>
            <a:r>
              <a:rPr lang="en-US" altLang="zh-CN" sz="2400" dirty="0">
                <a:solidFill>
                  <a:srgbClr val="FF0000"/>
                </a:solidFill>
              </a:rPr>
              <a:t>4</a:t>
            </a:r>
            <a:endParaRPr lang="zh-CN" altLang="en-US" sz="2400" dirty="0">
              <a:solidFill>
                <a:srgbClr val="FF0000"/>
              </a:solidFill>
            </a:endParaRPr>
          </a:p>
        </p:txBody>
      </p:sp>
    </p:spTree>
    <p:extLst>
      <p:ext uri="{BB962C8B-B14F-4D97-AF65-F5344CB8AC3E}">
        <p14:creationId xmlns:p14="http://schemas.microsoft.com/office/powerpoint/2010/main" val="96728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0" grpId="0"/>
      <p:bldP spid="11"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5DDE0D4-C851-43C4-9981-C710F871CD50}"/>
              </a:ext>
            </a:extLst>
          </p:cNvPr>
          <p:cNvGrpSpPr/>
          <p:nvPr>
            <p:custDataLst>
              <p:tags r:id="rId1"/>
            </p:custDataLst>
          </p:nvPr>
        </p:nvGrpSpPr>
        <p:grpSpPr>
          <a:xfrm>
            <a:off x="831272" y="1423691"/>
            <a:ext cx="10529456" cy="2178226"/>
            <a:chOff x="746" y="280"/>
            <a:chExt cx="16730" cy="37367"/>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6C70A55-9533-4F34-A6D3-9D3BF88C6435}"/>
                    </a:ext>
                  </a:extLst>
                </p:cNvPr>
                <p:cNvSpPr txBox="1"/>
                <p:nvPr>
                  <p:custDataLst>
                    <p:tags r:id="rId3"/>
                  </p:custDataLst>
                </p:nvPr>
              </p:nvSpPr>
              <p:spPr>
                <a:xfrm>
                  <a:off x="936" y="2205"/>
                  <a:ext cx="16372" cy="24810"/>
                </a:xfrm>
                <a:prstGeom prst="rect">
                  <a:avLst/>
                </a:prstGeom>
                <a:noFill/>
                <a:ln>
                  <a:noFill/>
                </a:ln>
              </p:spPr>
              <p:txBody>
                <a:bodyPr wrap="square" rtlCol="0" anchor="t">
                  <a:spAutoFit/>
                </a:bodyPr>
                <a:lstStyle/>
                <a:p>
                  <a:pPr indent="0" algn="l" fontAlgn="auto">
                    <a:lnSpc>
                      <a:spcPct val="150000"/>
                    </a:lnSpc>
                  </a:pPr>
                  <a:r>
                    <a:rPr lang="zh-CN" altLang="en-US" sz="2800" dirty="0">
                      <a:solidFill>
                        <a:schemeClr val="tx1"/>
                      </a:solidFill>
                      <a:latin typeface="楷体" panose="02010609060101010101" pitchFamily="49" charset="-122"/>
                      <a:ea typeface="楷体" panose="02010609060101010101" pitchFamily="49" charset="-122"/>
                    </a:rPr>
                    <a:t>   </a:t>
                  </a:r>
                  <a:r>
                    <a:rPr lang="zh-CN" altLang="en-US" sz="2800" dirty="0">
                      <a:solidFill>
                        <a:schemeClr val="tx1"/>
                      </a:solidFill>
                      <a:latin typeface="楷体" panose="02010609060101010101" pitchFamily="49" charset="-122"/>
                      <a:ea typeface="楷体" panose="02010609060101010101" pitchFamily="49" charset="-122"/>
                      <a:sym typeface="+mn-ea"/>
                    </a:rPr>
                    <a:t>对数的运算性质：</a:t>
                  </a:r>
                  <a:r>
                    <a:rPr lang="en-US" altLang="zh-CN" sz="2800" dirty="0">
                      <a:solidFill>
                        <a:schemeClr val="tx1"/>
                      </a:solidFill>
                      <a:latin typeface="楷体" panose="02010609060101010101" pitchFamily="49" charset="-122"/>
                      <a:ea typeface="楷体" panose="02010609060101010101" pitchFamily="49" charset="-122"/>
                      <a:sym typeface="+mn-ea"/>
                    </a:rPr>
                    <a:t> </a:t>
                  </a:r>
                </a:p>
                <a:p>
                  <a:pPr indent="0" algn="l" fontAlgn="auto">
                    <a:lnSpc>
                      <a:spcPct val="150000"/>
                    </a:lnSpc>
                  </a:pPr>
                  <a:r>
                    <a:rPr lang="en-US" altLang="zh-CN" sz="2800" dirty="0">
                      <a:solidFill>
                        <a:schemeClr val="tx1"/>
                      </a:solidFill>
                      <a:latin typeface="黑体" panose="02010600030101010101" pitchFamily="2" charset="-122"/>
                      <a:ea typeface="黑体" panose="02010600030101010101" pitchFamily="2" charset="-122"/>
                      <a:cs typeface="黑体" panose="02010600030101010101" pitchFamily="2" charset="-122"/>
                      <a:sym typeface="+mn-ea"/>
                    </a:rPr>
                    <a:t>① </a:t>
                  </a:r>
                  <a14:m>
                    <m:oMath xmlns:m="http://schemas.openxmlformats.org/officeDocument/2006/math">
                      <m:sSub>
                        <m:sSubPr>
                          <m:ctrlPr>
                            <a:rPr lang="en-US" altLang="zh-CN" sz="2800" i="1">
                              <a:solidFill>
                                <a:schemeClr val="tx1"/>
                              </a:solidFill>
                              <a:latin typeface="Cambria Math" panose="02040503050406030204" pitchFamily="18" charset="0"/>
                              <a:ea typeface="黑体" panose="02010600030101010101" pitchFamily="2" charset="-122"/>
                              <a:cs typeface="Cambria Math" panose="02040503050406030204" pitchFamily="18" charset="0"/>
                            </a:rPr>
                          </m:ctrlPr>
                        </m:sSubPr>
                        <m:e>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𝑙𝑜𝑔</m:t>
                          </m:r>
                        </m:e>
                        <m:sub>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𝑎</m:t>
                          </m:r>
                        </m:sub>
                      </m:sSub>
                      <m:r>
                        <a:rPr lang="en-US" altLang="zh-CN" sz="2800" b="0" i="1">
                          <a:solidFill>
                            <a:schemeClr val="tx1"/>
                          </a:solidFill>
                          <a:latin typeface="Cambria Math" panose="02040503050406030204" pitchFamily="18" charset="0"/>
                          <a:ea typeface="MS Mincho" panose="02020609040205080304" charset="-128"/>
                          <a:cs typeface="Cambria Math" panose="02040503050406030204" pitchFamily="18" charset="0"/>
                        </a:rPr>
                        <m:t>(</m:t>
                      </m:r>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𝑀𝑁</m:t>
                      </m:r>
                      <m:r>
                        <a:rPr lang="en-US" altLang="zh-CN" sz="2800" b="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lang="en-US" altLang="zh-CN" sz="2800" i="1">
                              <a:solidFill>
                                <a:schemeClr val="tx1"/>
                              </a:solidFill>
                              <a:latin typeface="Cambria Math" panose="02040503050406030204" pitchFamily="18" charset="0"/>
                              <a:ea typeface="黑体" panose="02010600030101010101" pitchFamily="2" charset="-122"/>
                              <a:cs typeface="Cambria Math" panose="02040503050406030204" pitchFamily="18" charset="0"/>
                            </a:rPr>
                          </m:ctrlPr>
                        </m:sSubPr>
                        <m:e>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𝑙𝑜𝑔</m:t>
                          </m:r>
                        </m:e>
                        <m:sub>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𝑎</m:t>
                          </m:r>
                        </m:sub>
                      </m:sSub>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𝑀</m:t>
                      </m:r>
                      <m:r>
                        <a:rPr lang="en-US" altLang="zh-CN" sz="2800" b="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lang="en-US" altLang="zh-CN" sz="2800" i="1">
                              <a:solidFill>
                                <a:schemeClr val="tx1"/>
                              </a:solidFill>
                              <a:latin typeface="Cambria Math" panose="02040503050406030204" pitchFamily="18" charset="0"/>
                              <a:ea typeface="黑体" panose="02010600030101010101" pitchFamily="2" charset="-122"/>
                              <a:cs typeface="Cambria Math" panose="02040503050406030204" pitchFamily="18" charset="0"/>
                            </a:rPr>
                          </m:ctrlPr>
                        </m:sSubPr>
                        <m:e>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𝑙𝑜𝑔</m:t>
                          </m:r>
                        </m:e>
                        <m:sub>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𝑎</m:t>
                          </m:r>
                        </m:sub>
                      </m:sSub>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𝑁</m:t>
                      </m:r>
                      <m:r>
                        <a:rPr lang="en-US" altLang="zh-CN" sz="2800" b="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endParaRPr lang="en-US" altLang="zh-CN" sz="2800" i="1" dirty="0">
                    <a:solidFill>
                      <a:schemeClr val="tx1"/>
                    </a:solidFill>
                    <a:latin typeface="黑体" panose="02010600030101010101" pitchFamily="2" charset="-122"/>
                    <a:ea typeface="黑体" panose="02010600030101010101" pitchFamily="2" charset="-122"/>
                    <a:cs typeface="黑体" panose="02010600030101010101" pitchFamily="2" charset="-122"/>
                  </a:endParaRPr>
                </a:p>
                <a:p>
                  <a:pPr lvl="0" defTabSz="457200">
                    <a:lnSpc>
                      <a:spcPct val="170000"/>
                    </a:lnSpc>
                    <a:spcBef>
                      <a:spcPct val="0"/>
                    </a:spcBef>
                    <a:spcAft>
                      <a:spcPct val="0"/>
                    </a:spcAft>
                    <a:defRPr/>
                  </a:pPr>
                  <a:r>
                    <a:rPr lang="zh-CN" altLang="en-US" sz="2800" dirty="0">
                      <a:solidFill>
                        <a:schemeClr val="tx1"/>
                      </a:solidFill>
                      <a:latin typeface="黑体" panose="02010600030101010101" pitchFamily="2" charset="-122"/>
                      <a:ea typeface="黑体" panose="02010600030101010101" pitchFamily="2" charset="-122"/>
                      <a:cs typeface="黑体" panose="02010600030101010101" pitchFamily="2" charset="-122"/>
                      <a:sym typeface="+mn-ea"/>
                    </a:rPr>
                    <a:t>②</a:t>
                  </a:r>
                  <a:r>
                    <a:rPr lang="en-US" altLang="zh-CN" sz="2800" dirty="0">
                      <a:solidFill>
                        <a:schemeClr val="tx1"/>
                      </a:solidFill>
                      <a:latin typeface="黑体" panose="02010600030101010101" pitchFamily="2" charset="-122"/>
                      <a:ea typeface="黑体" panose="02010600030101010101" pitchFamily="2" charset="-122"/>
                      <a:cs typeface="黑体" panose="02010600030101010101" pitchFamily="2" charset="-122"/>
                      <a:sym typeface="+mn-ea"/>
                    </a:rPr>
                    <a:t> </a:t>
                  </a:r>
                  <a14:m>
                    <m:oMath xmlns:m="http://schemas.openxmlformats.org/officeDocument/2006/math">
                      <m:sSub>
                        <m:sSubPr>
                          <m:ctrlPr>
                            <a:rPr lang="en-US" altLang="zh-CN" sz="2800" i="1">
                              <a:solidFill>
                                <a:schemeClr val="tx1"/>
                              </a:solidFill>
                              <a:latin typeface="Cambria Math" panose="02040503050406030204" pitchFamily="18" charset="0"/>
                              <a:ea typeface="黑体" panose="02010600030101010101" pitchFamily="2" charset="-122"/>
                              <a:cs typeface="Cambria Math" panose="02040503050406030204" pitchFamily="18" charset="0"/>
                            </a:rPr>
                          </m:ctrlPr>
                        </m:sSubPr>
                        <m:e>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𝑙𝑜𝑔</m:t>
                          </m:r>
                        </m:e>
                        <m:sub>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𝑎</m:t>
                          </m:r>
                        </m:sub>
                      </m:sSub>
                      <m:sSup>
                        <m:sSupPr>
                          <m:ctrlPr>
                            <a:rPr lang="en-US" altLang="zh-CN" sz="2800" i="1">
                              <a:solidFill>
                                <a:schemeClr val="tx1"/>
                              </a:solidFill>
                              <a:latin typeface="Cambria Math" panose="02040503050406030204" pitchFamily="18" charset="0"/>
                              <a:ea typeface="黑体" panose="02010600030101010101" pitchFamily="2" charset="-122"/>
                              <a:cs typeface="Cambria Math" panose="02040503050406030204" pitchFamily="18" charset="0"/>
                            </a:rPr>
                          </m:ctrlPr>
                        </m:sSupPr>
                        <m:e>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𝑀</m:t>
                          </m:r>
                        </m:e>
                        <m:sup>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𝑛</m:t>
                          </m:r>
                        </m:sup>
                      </m:sSup>
                      <m:r>
                        <a:rPr lang="en-US" altLang="zh-CN" sz="2800" b="0" i="1">
                          <a:solidFill>
                            <a:schemeClr val="tx1"/>
                          </a:solidFill>
                          <a:latin typeface="Cambria Math" panose="02040503050406030204" pitchFamily="18" charset="0"/>
                          <a:ea typeface="MS Mincho" panose="02020609040205080304" charset="-128"/>
                          <a:cs typeface="Cambria Math" panose="02040503050406030204" pitchFamily="18" charset="0"/>
                        </a:rPr>
                        <m:t>=</m:t>
                      </m:r>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𝑛</m:t>
                      </m:r>
                      <m:sSub>
                        <m:sSubPr>
                          <m:ctrlPr>
                            <a:rPr lang="en-US" altLang="zh-CN" sz="2800" i="1">
                              <a:solidFill>
                                <a:schemeClr val="tx1"/>
                              </a:solidFill>
                              <a:latin typeface="Cambria Math" panose="02040503050406030204" pitchFamily="18" charset="0"/>
                              <a:ea typeface="黑体" panose="02010600030101010101" pitchFamily="2" charset="-122"/>
                              <a:cs typeface="Cambria Math" panose="02040503050406030204" pitchFamily="18" charset="0"/>
                            </a:rPr>
                          </m:ctrlPr>
                        </m:sSubPr>
                        <m:e>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𝑙𝑜𝑔</m:t>
                          </m:r>
                        </m:e>
                        <m:sub>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𝑎</m:t>
                          </m:r>
                        </m:sub>
                      </m:sSub>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𝑀</m:t>
                      </m:r>
                      <m:r>
                        <a:rPr lang="en-US" altLang="zh-CN" sz="2800" b="0" i="1">
                          <a:solidFill>
                            <a:schemeClr val="tx1"/>
                          </a:solidFill>
                          <a:latin typeface="Cambria Math" panose="02040503050406030204" pitchFamily="18" charset="0"/>
                          <a:ea typeface="MS Mincho" panose="02020609040205080304" charset="-128"/>
                          <a:cs typeface="Cambria Math" panose="02040503050406030204" pitchFamily="18" charset="0"/>
                        </a:rPr>
                        <m:t>(</m:t>
                      </m:r>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𝑛</m:t>
                      </m:r>
                      <m:r>
                        <a:rPr lang="en-US" altLang="zh-CN" sz="2800" b="0" i="1">
                          <a:solidFill>
                            <a:schemeClr val="tx1"/>
                          </a:solidFill>
                          <a:latin typeface="Cambria Math" panose="02040503050406030204" pitchFamily="18" charset="0"/>
                          <a:ea typeface="MS Mincho" panose="02020609040205080304" charset="-128"/>
                          <a:cs typeface="Cambria Math" panose="02040503050406030204" pitchFamily="18" charset="0"/>
                        </a:rPr>
                        <m:t>∈</m:t>
                      </m:r>
                      <m:r>
                        <a:rPr lang="en-US" altLang="zh-CN" sz="2800" b="0" i="1">
                          <a:solidFill>
                            <a:schemeClr val="tx1"/>
                          </a:solidFill>
                          <a:latin typeface="Cambria Math" panose="02040503050406030204" pitchFamily="18" charset="0"/>
                          <a:ea typeface="黑体" panose="02010600030101010101" pitchFamily="2" charset="-122"/>
                          <a:cs typeface="Cambria Math" panose="02040503050406030204" pitchFamily="18" charset="0"/>
                        </a:rPr>
                        <m:t>𝑅</m:t>
                      </m:r>
                      <m:r>
                        <a:rPr lang="en-US" altLang="zh-CN" sz="2800" b="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endParaRPr lang="en-US" altLang="zh-CN" sz="2800" i="1" dirty="0">
                    <a:solidFill>
                      <a:schemeClr val="tx1"/>
                    </a:solidFill>
                    <a:latin typeface="黑体" panose="02010600030101010101" pitchFamily="2" charset="-122"/>
                    <a:ea typeface="黑体" panose="02010600030101010101" pitchFamily="2" charset="-122"/>
                    <a:cs typeface="黑体" panose="02010600030101010101" pitchFamily="2" charset="-122"/>
                  </a:endParaRPr>
                </a:p>
                <a:p>
                  <a:pPr indent="0" algn="l" fontAlgn="auto">
                    <a:lnSpc>
                      <a:spcPct val="150000"/>
                    </a:lnSpc>
                  </a:pPr>
                  <a:endParaRPr lang="zh-CN" altLang="en-US" sz="2800" dirty="0">
                    <a:solidFill>
                      <a:schemeClr val="tx1"/>
                    </a:solidFill>
                    <a:latin typeface="楷体" panose="02010609060101010101" pitchFamily="49" charset="-122"/>
                    <a:ea typeface="楷体" panose="02010609060101010101" pitchFamily="49" charset="-122"/>
                    <a:sym typeface="+mn-ea"/>
                  </a:endParaRPr>
                </a:p>
              </p:txBody>
            </p:sp>
          </mc:Choice>
          <mc:Fallback xmlns="">
            <p:sp>
              <p:nvSpPr>
                <p:cNvPr id="3" name="文本框 2">
                  <a:extLst>
                    <a:ext uri="{FF2B5EF4-FFF2-40B4-BE49-F238E27FC236}">
                      <a16:creationId xmlns:a16="http://schemas.microsoft.com/office/drawing/2014/main" id="{06C70A55-9533-4F34-A6D3-9D3BF88C6435}"/>
                    </a:ext>
                  </a:extLst>
                </p:cNvPr>
                <p:cNvSpPr txBox="1">
                  <a:spLocks noRot="1" noChangeAspect="1" noMove="1" noResize="1" noEditPoints="1" noAdjustHandles="1" noChangeArrowheads="1" noChangeShapeType="1" noTextEdit="1"/>
                </p:cNvSpPr>
                <p:nvPr>
                  <p:custDataLst>
                    <p:tags r:id="rId8"/>
                  </p:custDataLst>
                </p:nvPr>
              </p:nvSpPr>
              <p:spPr>
                <a:xfrm>
                  <a:off x="936" y="2205"/>
                  <a:ext cx="16372" cy="24810"/>
                </a:xfrm>
                <a:prstGeom prst="rect">
                  <a:avLst/>
                </a:prstGeom>
                <a:blipFill>
                  <a:blip r:embed="rId9"/>
                  <a:stretch>
                    <a:fillRect l="-1243" b="-24823"/>
                  </a:stretch>
                </a:blipFill>
                <a:ln>
                  <a:noFill/>
                </a:ln>
              </p:spPr>
              <p:txBody>
                <a:bodyPr/>
                <a:lstStyle/>
                <a:p>
                  <a:r>
                    <a:rPr lang="zh-CN" altLang="en-US">
                      <a:noFill/>
                    </a:rPr>
                    <a:t> </a:t>
                  </a:r>
                </a:p>
              </p:txBody>
            </p:sp>
          </mc:Fallback>
        </mc:AlternateContent>
        <p:sp>
          <p:nvSpPr>
            <p:cNvPr id="4" name="圆角矩形 2">
              <a:extLst>
                <a:ext uri="{FF2B5EF4-FFF2-40B4-BE49-F238E27FC236}">
                  <a16:creationId xmlns:a16="http://schemas.microsoft.com/office/drawing/2014/main" id="{1E5A24A1-CB24-4353-927B-A9C3FA1B8A3F}"/>
                </a:ext>
              </a:extLst>
            </p:cNvPr>
            <p:cNvSpPr/>
            <p:nvPr>
              <p:custDataLst>
                <p:tags r:id="rId4"/>
              </p:custDataLst>
            </p:nvPr>
          </p:nvSpPr>
          <p:spPr>
            <a:xfrm>
              <a:off x="746" y="280"/>
              <a:ext cx="16730" cy="37367"/>
            </a:xfrm>
            <a:prstGeom prst="roundRect">
              <a:avLst/>
            </a:prstGeom>
            <a:noFill/>
            <a:ln w="19050">
              <a:solidFill>
                <a:srgbClr val="00525A"/>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a:extLst>
              <a:ext uri="{FF2B5EF4-FFF2-40B4-BE49-F238E27FC236}">
                <a16:creationId xmlns:a16="http://schemas.microsoft.com/office/drawing/2014/main" id="{14E09C0A-2C9A-4268-B6BC-604196C61957}"/>
              </a:ext>
            </a:extLst>
          </p:cNvPr>
          <p:cNvSpPr txBox="1"/>
          <p:nvPr/>
        </p:nvSpPr>
        <p:spPr>
          <a:xfrm>
            <a:off x="334976" y="225894"/>
            <a:ext cx="2031325" cy="646331"/>
          </a:xfrm>
          <a:prstGeom prst="rect">
            <a:avLst/>
          </a:prstGeom>
          <a:noFill/>
        </p:spPr>
        <p:txBody>
          <a:bodyPr wrap="none" rtlCol="0">
            <a:spAutoFit/>
          </a:bodyPr>
          <a:lstStyle/>
          <a:p>
            <a:r>
              <a:rPr lang="zh-CN" altLang="en-US" sz="3600" b="1" dirty="0">
                <a:solidFill>
                  <a:srgbClr val="3B4660"/>
                </a:solidFill>
                <a:latin typeface="Times New Roman" panose="02020603050405020304" pitchFamily="18" charset="0"/>
                <a:cs typeface="+mn-ea"/>
                <a:sym typeface="+mn-lt"/>
              </a:rPr>
              <a:t>数学工具</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p:sp>
        <p:nvSpPr>
          <p:cNvPr id="6" name="文本框 5">
            <a:extLst>
              <a:ext uri="{FF2B5EF4-FFF2-40B4-BE49-F238E27FC236}">
                <a16:creationId xmlns:a16="http://schemas.microsoft.com/office/drawing/2014/main" id="{A4A11859-E1F0-4A7C-B569-4FE80C8595D0}"/>
              </a:ext>
            </a:extLst>
          </p:cNvPr>
          <p:cNvSpPr txBox="1"/>
          <p:nvPr>
            <p:custDataLst>
              <p:tags r:id="rId2"/>
            </p:custDataLst>
          </p:nvPr>
        </p:nvSpPr>
        <p:spPr>
          <a:xfrm>
            <a:off x="7084490" y="1826059"/>
            <a:ext cx="4223370" cy="1710340"/>
          </a:xfrm>
          <a:prstGeom prst="rect">
            <a:avLst/>
          </a:prstGeom>
          <a:noFill/>
          <a:ln w="9525">
            <a:noFill/>
          </a:ln>
          <a:extLst>
            <a:ext uri="{909E8E84-426E-40DD-AFC4-6F175D3DCCD1}">
              <a14:hiddenFill xmlns:a14="http://schemas.microsoft.com/office/drawing/2010/main">
                <a:solidFill>
                  <a:schemeClr val="accent2">
                    <a:lumMod val="20000"/>
                    <a:lumOff val="80000"/>
                  </a:schemeClr>
                </a:solidFill>
              </a14:hiddenFill>
            </a:ext>
          </a:extLst>
        </p:spPr>
        <p:txBody>
          <a:bodyPr wrap="square" anchor="t" anchorCtr="0">
            <a:spAutoFit/>
          </a:bodyPr>
          <a:lstStyle/>
          <a:p>
            <a:pPr>
              <a:lnSpc>
                <a:spcPct val="130000"/>
              </a:lnSpc>
            </a:pPr>
            <a:r>
              <a:rPr lang="zh-CN" altLang="en-US" sz="2800" dirty="0">
                <a:solidFill>
                  <a:srgbClr val="C00000"/>
                </a:solidFill>
                <a:latin typeface="楷体" panose="02010609060101010101" pitchFamily="49" charset="-122"/>
                <a:ea typeface="楷体" panose="02010609060101010101" pitchFamily="49" charset="-122"/>
                <a:sym typeface="+mn-ea"/>
              </a:rPr>
              <a:t>思考：</a:t>
            </a:r>
            <a:r>
              <a:rPr lang="zh-CN" altLang="en-US" sz="2800" dirty="0">
                <a:latin typeface="楷体" panose="02010609060101010101" pitchFamily="49" charset="-122"/>
                <a:ea typeface="楷体" panose="02010609060101010101" pitchFamily="49" charset="-122"/>
                <a:sym typeface="+mn-ea"/>
              </a:rPr>
              <a:t>你能</a:t>
            </a:r>
            <a:r>
              <a:rPr lang="zh-CN" sz="2800" dirty="0">
                <a:ea typeface="楷体" panose="02010609060101010101" pitchFamily="49" charset="-122"/>
                <a:sym typeface="+mn-ea"/>
              </a:rPr>
              <a:t>利用对数与指数间的关系论证上述结论吗？</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9CF6191B-5DA0-4982-8E86-D76574CF5861}"/>
                  </a:ext>
                </a:extLst>
              </p:cNvPr>
              <p:cNvSpPr/>
              <p:nvPr/>
            </p:nvSpPr>
            <p:spPr>
              <a:xfrm>
                <a:off x="772260" y="3714131"/>
                <a:ext cx="6096000" cy="2792239"/>
              </a:xfrm>
              <a:prstGeom prst="rect">
                <a:avLst/>
              </a:prstGeom>
            </p:spPr>
            <p:txBody>
              <a:bodyPr>
                <a:spAutoFit/>
              </a:bodyPr>
              <a:lstStyle/>
              <a:p>
                <a:pPr indent="266700" algn="just">
                  <a:lnSpc>
                    <a:spcPct val="150000"/>
                  </a:lnSpc>
                  <a:spcAft>
                    <a:spcPts val="0"/>
                  </a:spcAft>
                </a:pP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运算性质②的证明：</a:t>
                </a:r>
              </a:p>
              <a:p>
                <a:pPr indent="266700" algn="just">
                  <a:lnSpc>
                    <a:spcPct val="150000"/>
                  </a:lnSpc>
                  <a:spcAft>
                    <a:spcPts val="0"/>
                  </a:spcAft>
                </a:pP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令</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ea typeface="黑体" panose="02010609060101010101" pitchFamily="49" charset="-122"/>
                            <a:cs typeface="Cambria Math" panose="02040503050406030204" pitchFamily="18" charset="0"/>
                          </a:rPr>
                          <m:t>𝑙𝑜𝑔</m:t>
                        </m:r>
                      </m:e>
                      <m:sub>
                        <m:r>
                          <a:rPr lang="en-US" altLang="zh-CN" sz="2400" i="1">
                            <a:latin typeface="Cambria Math" panose="02040503050406030204" pitchFamily="18" charset="0"/>
                            <a:ea typeface="黑体" panose="02010609060101010101" pitchFamily="49" charset="-122"/>
                            <a:cs typeface="Cambria Math" panose="02040503050406030204" pitchFamily="18" charset="0"/>
                          </a:rPr>
                          <m:t>𝑎</m:t>
                        </m:r>
                      </m:sub>
                    </m:sSub>
                    <m:sSup>
                      <m:sSupPr>
                        <m:ctrlPr>
                          <a:rPr lang="zh-CN" altLang="zh-CN" sz="2400" i="1">
                            <a:latin typeface="Cambria Math" panose="02040503050406030204" pitchFamily="18" charset="0"/>
                            <a:ea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ea typeface="黑体" panose="02010609060101010101" pitchFamily="49" charset="-122"/>
                            <a:cs typeface="Cambria Math" panose="02040503050406030204" pitchFamily="18" charset="0"/>
                          </a:rPr>
                          <m:t>𝑀</m:t>
                        </m:r>
                      </m:e>
                      <m:sup>
                        <m:r>
                          <a:rPr lang="en-US" altLang="zh-CN" sz="2400" i="1">
                            <a:latin typeface="Cambria Math" panose="02040503050406030204" pitchFamily="18" charset="0"/>
                            <a:ea typeface="黑体" panose="02010609060101010101" pitchFamily="49" charset="-122"/>
                            <a:cs typeface="Cambria Math" panose="02040503050406030204" pitchFamily="18" charset="0"/>
                          </a:rPr>
                          <m:t>𝑛</m:t>
                        </m:r>
                      </m:sup>
                    </m:sSup>
                    <m:r>
                      <a:rPr lang="zh-CN" altLang="zh-CN" sz="2400" i="1">
                        <a:latin typeface="Cambria Math" panose="02040503050406030204" pitchFamily="18" charset="0"/>
                        <a:ea typeface="黑体" panose="02010609060101010101" pitchFamily="49" charset="-122"/>
                        <a:cs typeface="Cambria Math" panose="02040503050406030204" pitchFamily="18" charset="0"/>
                      </a:rPr>
                      <m:t>，</m:t>
                    </m:r>
                    <m:r>
                      <a:rPr lang="en-US" altLang="zh-CN" sz="2400" i="1">
                        <a:latin typeface="Cambria Math" panose="02040503050406030204" pitchFamily="18" charset="0"/>
                        <a:ea typeface="黑体" panose="02010609060101010101" pitchFamily="49" charset="-122"/>
                        <a:cs typeface="Cambria Math" panose="02040503050406030204" pitchFamily="18" charset="0"/>
                      </a:rPr>
                      <m:t>𝑦</m:t>
                    </m:r>
                    <m:r>
                      <a:rPr lang="en-US" altLang="zh-CN" sz="2400" i="1">
                        <a:latin typeface="Cambria Math" panose="02040503050406030204" pitchFamily="18" charset="0"/>
                        <a:ea typeface="黑体" panose="02010609060101010101" pitchFamily="49" charset="-122"/>
                        <a:cs typeface="Cambria Math" panose="02040503050406030204" pitchFamily="18" charset="0"/>
                      </a:rPr>
                      <m:t>=</m:t>
                    </m:r>
                    <m:sSub>
                      <m:sSubPr>
                        <m:ctrlPr>
                          <a:rPr lang="zh-CN" altLang="zh-CN" sz="2400" i="1">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ea typeface="黑体" panose="02010609060101010101" pitchFamily="49" charset="-122"/>
                            <a:cs typeface="Cambria Math" panose="02040503050406030204" pitchFamily="18" charset="0"/>
                          </a:rPr>
                          <m:t>𝑙𝑜𝑔</m:t>
                        </m:r>
                      </m:e>
                      <m:sub>
                        <m:r>
                          <a:rPr lang="en-US" altLang="zh-CN" sz="2400" i="1">
                            <a:latin typeface="Cambria Math" panose="02040503050406030204" pitchFamily="18" charset="0"/>
                            <a:ea typeface="黑体" panose="02010609060101010101" pitchFamily="49" charset="-122"/>
                            <a:cs typeface="Cambria Math" panose="02040503050406030204" pitchFamily="18" charset="0"/>
                          </a:rPr>
                          <m:t>𝑎</m:t>
                        </m:r>
                      </m:sub>
                    </m:sSub>
                    <m:r>
                      <a:rPr lang="en-US" altLang="zh-CN" sz="2400" i="1">
                        <a:latin typeface="Cambria Math" panose="02040503050406030204" pitchFamily="18" charset="0"/>
                        <a:ea typeface="黑体" panose="02010609060101010101" pitchFamily="49" charset="-122"/>
                        <a:cs typeface="Cambria Math" panose="02040503050406030204" pitchFamily="18" charset="0"/>
                      </a:rPr>
                      <m:t>𝑀</m:t>
                    </m:r>
                  </m:oMath>
                </a14:m>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则根据对数的定义，</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sup>
                    </m:sSup>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a:latin typeface="Cambria Math" panose="02040503050406030204" pitchFamily="18" charset="0"/>
                            <a:ea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ea typeface="黑体" panose="02010609060101010101" pitchFamily="49" charset="-122"/>
                            <a:cs typeface="Cambria Math" panose="02040503050406030204" pitchFamily="18" charset="0"/>
                          </a:rPr>
                          <m:t>𝑀</m:t>
                        </m:r>
                      </m:e>
                      <m:sup>
                        <m:r>
                          <a:rPr lang="en-US" altLang="zh-CN" sz="2400" i="1">
                            <a:latin typeface="Cambria Math" panose="02040503050406030204" pitchFamily="18" charset="0"/>
                            <a:ea typeface="黑体" panose="02010609060101010101" pitchFamily="49" charset="-122"/>
                            <a:cs typeface="Cambria Math" panose="02040503050406030204" pitchFamily="18" charset="0"/>
                          </a:rPr>
                          <m:t>𝑛</m:t>
                        </m:r>
                      </m:sup>
                    </m:sSup>
                  </m:oMath>
                </a14:m>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sup>
                    </m:sSup>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𝑀</m:t>
                    </m:r>
                  </m:oMath>
                </a14:m>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根据指数的运算性质，</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sup>
                    </m:sSup>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𝑦</m:t>
                            </m:r>
                          </m:sup>
                        </m:s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𝑛</m:t>
                        </m:r>
                      </m:sup>
                    </m:s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𝑛𝑦</m:t>
                        </m:r>
                      </m:sup>
                    </m:sSup>
                  </m:oMath>
                </a14:m>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所以</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𝑛𝑦</m:t>
                    </m:r>
                  </m:oMath>
                </a14:m>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，即</a:t>
                </a:r>
                <a14:m>
                  <m:oMath xmlns:m="http://schemas.openxmlformats.org/officeDocument/2006/math">
                    <m:sSub>
                      <m:sSubPr>
                        <m:ctrlPr>
                          <a:rPr lang="zh-CN" altLang="zh-CN" sz="2400" i="1">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ea typeface="黑体" panose="02010609060101010101" pitchFamily="49" charset="-122"/>
                            <a:cs typeface="Cambria Math" panose="02040503050406030204" pitchFamily="18" charset="0"/>
                          </a:rPr>
                          <m:t>𝑙𝑜𝑔</m:t>
                        </m:r>
                      </m:e>
                      <m:sub>
                        <m:r>
                          <a:rPr lang="en-US" altLang="zh-CN" sz="2400" i="1">
                            <a:latin typeface="Cambria Math" panose="02040503050406030204" pitchFamily="18" charset="0"/>
                            <a:ea typeface="黑体" panose="02010609060101010101" pitchFamily="49" charset="-122"/>
                            <a:cs typeface="Cambria Math" panose="02040503050406030204" pitchFamily="18" charset="0"/>
                          </a:rPr>
                          <m:t>𝑎</m:t>
                        </m:r>
                      </m:sub>
                    </m:sSub>
                    <m:sSup>
                      <m:sSupPr>
                        <m:ctrlPr>
                          <a:rPr lang="zh-CN" altLang="zh-CN" sz="2400" i="1">
                            <a:latin typeface="Cambria Math" panose="02040503050406030204" pitchFamily="18" charset="0"/>
                            <a:ea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ea typeface="黑体" panose="02010609060101010101" pitchFamily="49" charset="-122"/>
                            <a:cs typeface="Cambria Math" panose="02040503050406030204" pitchFamily="18" charset="0"/>
                          </a:rPr>
                          <m:t>𝑀</m:t>
                        </m:r>
                      </m:e>
                      <m:sup>
                        <m:r>
                          <a:rPr lang="en-US" altLang="zh-CN" sz="2400" i="1">
                            <a:latin typeface="Cambria Math" panose="02040503050406030204" pitchFamily="18" charset="0"/>
                            <a:ea typeface="黑体" panose="02010609060101010101" pitchFamily="49" charset="-122"/>
                            <a:cs typeface="Cambria Math" panose="02040503050406030204" pitchFamily="18" charset="0"/>
                          </a:rPr>
                          <m:t>𝑛</m:t>
                        </m:r>
                      </m:sup>
                    </m:sSup>
                    <m:r>
                      <a:rPr lang="en-US" altLang="zh-CN" sz="2400" i="1">
                        <a:latin typeface="Cambria Math" panose="02040503050406030204" pitchFamily="18" charset="0"/>
                        <a:ea typeface="MS Mincho" panose="02020609040205080304" pitchFamily="49" charset="-128"/>
                        <a:cs typeface="Cambria Math" panose="02040503050406030204" pitchFamily="18" charset="0"/>
                      </a:rPr>
                      <m:t>=</m:t>
                    </m:r>
                    <m:r>
                      <a:rPr lang="en-US" altLang="zh-CN" sz="2400" i="1">
                        <a:latin typeface="Cambria Math" panose="02040503050406030204" pitchFamily="18" charset="0"/>
                        <a:ea typeface="黑体" panose="02010609060101010101" pitchFamily="49" charset="-122"/>
                        <a:cs typeface="Cambria Math" panose="02040503050406030204" pitchFamily="18" charset="0"/>
                      </a:rPr>
                      <m:t>𝑛</m:t>
                    </m:r>
                    <m:sSub>
                      <m:sSubPr>
                        <m:ctrlPr>
                          <a:rPr lang="zh-CN" altLang="zh-CN" sz="2400" i="1">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ea typeface="黑体" panose="02010609060101010101" pitchFamily="49" charset="-122"/>
                            <a:cs typeface="Cambria Math" panose="02040503050406030204" pitchFamily="18" charset="0"/>
                          </a:rPr>
                          <m:t>𝑙𝑜𝑔</m:t>
                        </m:r>
                      </m:e>
                      <m:sub>
                        <m:r>
                          <a:rPr lang="en-US" altLang="zh-CN" sz="2400" i="1">
                            <a:latin typeface="Cambria Math" panose="02040503050406030204" pitchFamily="18" charset="0"/>
                            <a:ea typeface="黑体" panose="02010609060101010101" pitchFamily="49" charset="-122"/>
                            <a:cs typeface="Cambria Math" panose="02040503050406030204" pitchFamily="18" charset="0"/>
                          </a:rPr>
                          <m:t>𝑎</m:t>
                        </m:r>
                      </m:sub>
                    </m:sSub>
                    <m:r>
                      <a:rPr lang="en-US" altLang="zh-CN" sz="2400" i="1">
                        <a:latin typeface="Cambria Math" panose="02040503050406030204" pitchFamily="18" charset="0"/>
                        <a:ea typeface="黑体" panose="02010609060101010101" pitchFamily="49" charset="-122"/>
                        <a:cs typeface="Cambria Math" panose="02040503050406030204" pitchFamily="18" charset="0"/>
                      </a:rPr>
                      <m:t>𝑀</m:t>
                    </m:r>
                  </m:oMath>
                </a14:m>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9CF6191B-5DA0-4982-8E86-D76574CF5861}"/>
                  </a:ext>
                </a:extLst>
              </p:cNvPr>
              <p:cNvSpPr>
                <a:spLocks noRot="1" noChangeAspect="1" noMove="1" noResize="1" noEditPoints="1" noAdjustHandles="1" noChangeArrowheads="1" noChangeShapeType="1" noTextEdit="1"/>
              </p:cNvSpPr>
              <p:nvPr/>
            </p:nvSpPr>
            <p:spPr>
              <a:xfrm>
                <a:off x="772260" y="3714131"/>
                <a:ext cx="6096000" cy="2792239"/>
              </a:xfrm>
              <a:prstGeom prst="rect">
                <a:avLst/>
              </a:prstGeom>
              <a:blipFill>
                <a:blip r:embed="rId10"/>
                <a:stretch>
                  <a:fillRect b="-34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216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23FCD7B-344B-4BB1-88F6-59BA61862462}"/>
              </a:ext>
            </a:extLst>
          </p:cNvPr>
          <p:cNvSpPr txBox="1"/>
          <p:nvPr/>
        </p:nvSpPr>
        <p:spPr>
          <a:xfrm>
            <a:off x="334976" y="225894"/>
            <a:ext cx="2031325" cy="646331"/>
          </a:xfrm>
          <a:prstGeom prst="rect">
            <a:avLst/>
          </a:prstGeom>
          <a:noFill/>
        </p:spPr>
        <p:txBody>
          <a:bodyPr wrap="none" rtlCol="0">
            <a:spAutoFit/>
          </a:bodyPr>
          <a:lstStyle/>
          <a:p>
            <a:r>
              <a:rPr lang="zh-CN" altLang="en-US" sz="3600" b="1" dirty="0">
                <a:solidFill>
                  <a:srgbClr val="3B4660"/>
                </a:solidFill>
                <a:latin typeface="Times New Roman" panose="02020603050405020304" pitchFamily="18" charset="0"/>
                <a:cs typeface="+mn-ea"/>
                <a:sym typeface="+mn-lt"/>
              </a:rPr>
              <a:t>数学工具</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04107647-2032-4A3B-B4F5-AF172D9D37F6}"/>
                  </a:ext>
                </a:extLst>
              </p:cNvPr>
              <p:cNvSpPr txBox="1"/>
              <p:nvPr/>
            </p:nvSpPr>
            <p:spPr>
              <a:xfrm>
                <a:off x="563050" y="1338873"/>
                <a:ext cx="7003819" cy="580865"/>
              </a:xfrm>
              <a:prstGeom prst="rect">
                <a:avLst/>
              </a:prstGeom>
              <a:noFill/>
              <a:extLst>
                <a:ext uri="{909E8E84-426E-40DD-AFC4-6F175D3DCCD1}">
                  <a14:hiddenFill>
                    <a:solidFill>
                      <a:srgbClr val="E84C53"/>
                    </a:solidFill>
                  </a14:hiddenFill>
                </a:ext>
              </a:extLst>
            </p:spPr>
            <p:txBody>
              <a:bodyPr wrap="square" rtlCol="0">
                <a:spAutoFit/>
              </a:bodyPr>
              <a:lstStyle/>
              <a:p>
                <a:pPr lvl="0">
                  <a:lnSpc>
                    <a:spcPct val="150000"/>
                  </a:lnSpc>
                  <a:spcBef>
                    <a:spcPct val="0"/>
                  </a:spcBef>
                  <a:spcAft>
                    <a:spcPct val="0"/>
                  </a:spcAft>
                  <a:defRPr/>
                </a:pPr>
                <a:r>
                  <a:rPr lang="zh-CN" altLang="en-US"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已知 </a:t>
                </a:r>
                <a:r>
                  <a:rPr lang="en-US" altLang="zh-CN" sz="2400" i="1"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T</a:t>
                </a:r>
                <a:r>
                  <a:rPr lang="en-US" altLang="zh-CN"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 </a:t>
                </a:r>
                <a:r>
                  <a:rPr lang="zh-CN" altLang="en-US"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和 </a:t>
                </a:r>
                <a:r>
                  <a:rPr lang="en-US" altLang="zh-CN" sz="2400" i="1"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r</a:t>
                </a:r>
                <a:r>
                  <a:rPr lang="en-US" altLang="zh-CN"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 </a:t>
                </a:r>
                <a:r>
                  <a:rPr lang="zh-CN" altLang="en-US"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，求指数 </a:t>
                </a:r>
                <a14:m>
                  <m:oMath xmlns:m="http://schemas.openxmlformats.org/officeDocument/2006/math">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oMath>
                </a14:m>
                <a:r>
                  <a:rPr kumimoji="0" lang="en-US" altLang="zh-CN" sz="2400" u="none" strike="noStrike" kern="1200" cap="none" spc="0" normalizeH="0" baseline="0" noProof="0" dirty="0">
                    <a:ln>
                      <a:noFill/>
                    </a:ln>
                    <a:solidFill>
                      <a:prstClr val="black"/>
                    </a:solidFill>
                    <a:effectLst/>
                    <a:uLnTx/>
                    <a:uFillTx/>
                    <a:latin typeface="Times New Roman" panose="02020603050405020304" pitchFamily="18" charset="0"/>
                    <a:ea typeface="字魂58号-创中黑" panose="00000500000000000000" pitchFamily="2" charset="-122"/>
                    <a:cs typeface="Times New Roman" panose="02020603050405020304" pitchFamily="18" charset="0"/>
                  </a:rPr>
                  <a:t> </a:t>
                </a:r>
                <a:r>
                  <a:rPr kumimoji="0" lang="zh-CN" altLang="en-US" sz="2400" u="none" strike="noStrike" kern="1200" cap="none" spc="0" normalizeH="0" baseline="0" noProof="0" dirty="0">
                    <a:ln>
                      <a:noFill/>
                    </a:ln>
                    <a:solidFill>
                      <a:prstClr val="black"/>
                    </a:solidFill>
                    <a:effectLst/>
                    <a:uLnTx/>
                    <a:uFillTx/>
                    <a:latin typeface="Times New Roman" panose="02020603050405020304" pitchFamily="18" charset="0"/>
                    <a:ea typeface="字魂58号-创中黑" panose="00000500000000000000" pitchFamily="2" charset="-122"/>
                    <a:cs typeface="Times New Roman" panose="02020603050405020304" pitchFamily="18" charset="0"/>
                  </a:rPr>
                  <a:t>和系数</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𝑘</m:t>
                    </m:r>
                  </m:oMath>
                </a14:m>
                <a:endParaRPr kumimoji="0" lang="en-US" altLang="zh-CN" sz="2400" u="none" strike="noStrike" kern="1200" cap="none" spc="0" normalizeH="0" baseline="0" noProof="0" dirty="0">
                  <a:ln>
                    <a:noFill/>
                  </a:ln>
                  <a:solidFill>
                    <a:prstClr val="black"/>
                  </a:solidFill>
                  <a:effectLst/>
                  <a:uLnTx/>
                  <a:uFillTx/>
                  <a:latin typeface="Times New Roman" panose="02020603050405020304" pitchFamily="18" charset="0"/>
                  <a:ea typeface="字魂58号-创中黑" panose="00000500000000000000" pitchFamily="2" charset="-122"/>
                  <a:cs typeface="Times New Roman" panose="02020603050405020304" pitchFamily="18" charset="0"/>
                </a:endParaRPr>
              </a:p>
            </p:txBody>
          </p:sp>
        </mc:Choice>
        <mc:Fallback xmlns="">
          <p:sp>
            <p:nvSpPr>
              <p:cNvPr id="33" name="文本框 32">
                <a:extLst>
                  <a:ext uri="{FF2B5EF4-FFF2-40B4-BE49-F238E27FC236}">
                    <a16:creationId xmlns:a16="http://schemas.microsoft.com/office/drawing/2014/main" id="{04107647-2032-4A3B-B4F5-AF172D9D37F6}"/>
                  </a:ext>
                </a:extLst>
              </p:cNvPr>
              <p:cNvSpPr txBox="1">
                <a:spLocks noRot="1" noChangeAspect="1" noMove="1" noResize="1" noEditPoints="1" noAdjustHandles="1" noChangeArrowheads="1" noChangeShapeType="1" noTextEdit="1"/>
              </p:cNvSpPr>
              <p:nvPr/>
            </p:nvSpPr>
            <p:spPr>
              <a:xfrm>
                <a:off x="563050" y="1338873"/>
                <a:ext cx="7003819" cy="580865"/>
              </a:xfrm>
              <a:prstGeom prst="rect">
                <a:avLst/>
              </a:prstGeom>
              <a:blipFill>
                <a:blip r:embed="rId2"/>
                <a:stretch>
                  <a:fillRect l="-1305" b="-24211"/>
                </a:stretch>
              </a:blipFill>
              <a:extLst>
                <a:ext uri="{909E8E84-426E-40DD-AFC4-6F175D3DCCD1}">
                  <a14:hiddenFill xmlns:a14="http://schemas.microsoft.com/office/drawing/2010/main">
                    <a:solidFill>
                      <a:srgbClr val="E84C53"/>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C2B5FE5A-7C48-4D6C-A5A5-1B39B652F44B}"/>
                  </a:ext>
                </a:extLst>
              </p:cNvPr>
              <p:cNvSpPr/>
              <p:nvPr/>
            </p:nvSpPr>
            <p:spPr>
              <a:xfrm>
                <a:off x="4503117" y="2118639"/>
                <a:ext cx="1960986"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t>𝑇</m:t>
                      </m:r>
                      <m: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3600" b="0" i="1" kern="100" smtClean="0">
                          <a:latin typeface="Cambria Math" panose="02040503050406030204" pitchFamily="18" charset="0"/>
                          <a:ea typeface="等线" panose="02010600030101010101" pitchFamily="2" charset="-122"/>
                          <a:cs typeface="Times New Roman" panose="02020603050405020304" pitchFamily="18" charset="0"/>
                        </a:rPr>
                        <m:t>𝑘</m:t>
                      </m:r>
                      <m:sSup>
                        <m:sSupPr>
                          <m:ctrlPr>
                            <a:rPr lang="zh-CN" altLang="zh-CN" sz="3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𝑟</m:t>
                          </m:r>
                        </m:e>
                        <m:sup>
                          <m:r>
                            <a:rPr lang="en-US" altLang="zh-CN" sz="3600" i="1" kern="100">
                              <a:latin typeface="Cambria Math" panose="02040503050406030204" pitchFamily="18" charset="0"/>
                              <a:ea typeface="Cambria Math" panose="02040503050406030204" pitchFamily="18" charset="0"/>
                              <a:cs typeface="Times New Roman" panose="02020603050405020304" pitchFamily="18" charset="0"/>
                            </a:rPr>
                            <m:t>𝛼</m:t>
                          </m:r>
                        </m:sup>
                      </m:sSup>
                    </m:oMath>
                  </m:oMathPara>
                </a14:m>
                <a:endParaRPr lang="zh-CN" altLang="en-US" sz="3600" dirty="0"/>
              </a:p>
            </p:txBody>
          </p:sp>
        </mc:Choice>
        <mc:Fallback xmlns="">
          <p:sp>
            <p:nvSpPr>
              <p:cNvPr id="4" name="矩形 3">
                <a:extLst>
                  <a:ext uri="{FF2B5EF4-FFF2-40B4-BE49-F238E27FC236}">
                    <a16:creationId xmlns:a16="http://schemas.microsoft.com/office/drawing/2014/main" id="{C2B5FE5A-7C48-4D6C-A5A5-1B39B652F44B}"/>
                  </a:ext>
                </a:extLst>
              </p:cNvPr>
              <p:cNvSpPr>
                <a:spLocks noRot="1" noChangeAspect="1" noMove="1" noResize="1" noEditPoints="1" noAdjustHandles="1" noChangeArrowheads="1" noChangeShapeType="1" noTextEdit="1"/>
              </p:cNvSpPr>
              <p:nvPr/>
            </p:nvSpPr>
            <p:spPr>
              <a:xfrm>
                <a:off x="4503117" y="2118639"/>
                <a:ext cx="1960986" cy="646331"/>
              </a:xfrm>
              <a:prstGeom prst="rect">
                <a:avLst/>
              </a:prstGeom>
              <a:blipFill>
                <a:blip r:embed="rId3"/>
                <a:stretch>
                  <a:fillRect/>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7DB5DE6F-7C10-4366-9510-9E7CCCAB9048}"/>
              </a:ext>
            </a:extLst>
          </p:cNvPr>
          <p:cNvGrpSpPr/>
          <p:nvPr/>
        </p:nvGrpSpPr>
        <p:grpSpPr>
          <a:xfrm>
            <a:off x="1491305" y="3122104"/>
            <a:ext cx="5821329" cy="842758"/>
            <a:chOff x="272105" y="3122104"/>
            <a:chExt cx="5821329" cy="842758"/>
          </a:xfrm>
        </p:grpSpPr>
        <p:sp>
          <p:nvSpPr>
            <p:cNvPr id="22" name="矩形 21">
              <a:extLst>
                <a:ext uri="{FF2B5EF4-FFF2-40B4-BE49-F238E27FC236}">
                  <a16:creationId xmlns:a16="http://schemas.microsoft.com/office/drawing/2014/main" id="{D00C7A41-4E34-4868-9854-B558569C05F8}"/>
                </a:ext>
              </a:extLst>
            </p:cNvPr>
            <p:cNvSpPr/>
            <p:nvPr/>
          </p:nvSpPr>
          <p:spPr>
            <a:xfrm>
              <a:off x="272105" y="3122104"/>
              <a:ext cx="2293621" cy="842758"/>
            </a:xfrm>
            <a:prstGeom prst="rect">
              <a:avLst/>
            </a:prstGeom>
          </p:spPr>
          <p:txBody>
            <a:bodyPr wrap="square">
              <a:spAutoFit/>
            </a:bodyPr>
            <a:lstStyle/>
            <a:p>
              <a:pPr algn="r"/>
              <a:r>
                <a:rPr lang="zh-CN" altLang="en-US"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等式两边同时取常用对数</a:t>
              </a:r>
              <a:endParaRPr lang="zh-CN" altLang="en-US" sz="2400" dirty="0"/>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2716061A-940E-4F86-834B-F8478768C7A1}"/>
                    </a:ext>
                  </a:extLst>
                </p:cNvPr>
                <p:cNvSpPr/>
                <p:nvPr/>
              </p:nvSpPr>
              <p:spPr>
                <a:xfrm>
                  <a:off x="2799007" y="3168178"/>
                  <a:ext cx="329442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t>𝑙</m:t>
                            </m:r>
                            <m:r>
                              <a:rPr lang="en-US" altLang="zh-CN" sz="3600" b="0" i="1" kern="100" smtClean="0">
                                <a:latin typeface="Cambria Math" panose="02040503050406030204" pitchFamily="18" charset="0"/>
                                <a:ea typeface="等线" panose="02010600030101010101" pitchFamily="2" charset="-122"/>
                                <a:cs typeface="Times New Roman" panose="02020603050405020304" pitchFamily="18" charset="0"/>
                              </a:rPr>
                              <m:t>𝑔</m:t>
                            </m:r>
                          </m:fName>
                          <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𝑇</m:t>
                            </m:r>
                          </m:e>
                        </m:func>
                        <m: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t>=</m:t>
                        </m:r>
                        <m:func>
                          <m:funcPr>
                            <m:ctrlPr>
                              <a:rPr lang="en-US" altLang="zh-CN" sz="3600" i="1" kern="10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3600" b="0" i="1"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𝑘</m:t>
                            </m:r>
                            <m:sSup>
                              <m:sSupPr>
                                <m:ctrlPr>
                                  <a:rPr lang="zh-CN" altLang="zh-CN" sz="3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𝑟</m:t>
                                </m:r>
                              </m:e>
                              <m:sup>
                                <m:r>
                                  <a:rPr lang="en-US" altLang="zh-CN" sz="3600" i="1" kern="100">
                                    <a:latin typeface="Cambria Math" panose="02040503050406030204" pitchFamily="18" charset="0"/>
                                    <a:ea typeface="Cambria Math" panose="02040503050406030204" pitchFamily="18" charset="0"/>
                                    <a:cs typeface="Times New Roman" panose="02020603050405020304" pitchFamily="18" charset="0"/>
                                  </a:rPr>
                                  <m:t>𝛼</m:t>
                                </m:r>
                              </m:sup>
                            </m:sSup>
                            <m:r>
                              <a:rPr lang="en-US" altLang="zh-CN" sz="3600" b="0" i="1" kern="100" smtClean="0">
                                <a:latin typeface="Cambria Math" panose="02040503050406030204" pitchFamily="18" charset="0"/>
                                <a:ea typeface="Cambria Math" panose="02040503050406030204" pitchFamily="18" charset="0"/>
                                <a:cs typeface="Times New Roman" panose="02020603050405020304" pitchFamily="18" charset="0"/>
                              </a:rPr>
                              <m:t>)</m:t>
                            </m:r>
                          </m:e>
                        </m:func>
                      </m:oMath>
                    </m:oMathPara>
                  </a14:m>
                  <a:endParaRPr lang="zh-CN" altLang="en-US" sz="3600" dirty="0"/>
                </a:p>
              </p:txBody>
            </p:sp>
          </mc:Choice>
          <mc:Fallback xmlns="">
            <p:sp>
              <p:nvSpPr>
                <p:cNvPr id="9" name="矩形 8">
                  <a:extLst>
                    <a:ext uri="{FF2B5EF4-FFF2-40B4-BE49-F238E27FC236}">
                      <a16:creationId xmlns:a16="http://schemas.microsoft.com/office/drawing/2014/main" id="{2716061A-940E-4F86-834B-F8478768C7A1}"/>
                    </a:ext>
                  </a:extLst>
                </p:cNvPr>
                <p:cNvSpPr>
                  <a:spLocks noRot="1" noChangeAspect="1" noMove="1" noResize="1" noEditPoints="1" noAdjustHandles="1" noChangeArrowheads="1" noChangeShapeType="1" noTextEdit="1"/>
                </p:cNvSpPr>
                <p:nvPr/>
              </p:nvSpPr>
              <p:spPr>
                <a:xfrm>
                  <a:off x="2799007" y="3168178"/>
                  <a:ext cx="3294427" cy="646331"/>
                </a:xfrm>
                <a:prstGeom prst="rect">
                  <a:avLst/>
                </a:prstGeom>
                <a:blipFill>
                  <a:blip r:embed="rId4"/>
                  <a:stretch>
                    <a:fillRect/>
                  </a:stretch>
                </a:blipFill>
              </p:spPr>
              <p:txBody>
                <a:bodyPr/>
                <a:lstStyle/>
                <a:p>
                  <a:r>
                    <a:rPr lang="zh-CN" altLang="en-US">
                      <a:noFill/>
                    </a:rPr>
                    <a:t> </a:t>
                  </a:r>
                </a:p>
              </p:txBody>
            </p:sp>
          </mc:Fallback>
        </mc:AlternateContent>
      </p:grpSp>
      <p:grpSp>
        <p:nvGrpSpPr>
          <p:cNvPr id="11" name="组合 10">
            <a:extLst>
              <a:ext uri="{FF2B5EF4-FFF2-40B4-BE49-F238E27FC236}">
                <a16:creationId xmlns:a16="http://schemas.microsoft.com/office/drawing/2014/main" id="{98D056AE-B767-4480-B407-B537F3AAF0C2}"/>
              </a:ext>
            </a:extLst>
          </p:cNvPr>
          <p:cNvGrpSpPr/>
          <p:nvPr/>
        </p:nvGrpSpPr>
        <p:grpSpPr>
          <a:xfrm>
            <a:off x="1491306" y="4220191"/>
            <a:ext cx="6741165" cy="830997"/>
            <a:chOff x="209235" y="3122104"/>
            <a:chExt cx="6741165" cy="830997"/>
          </a:xfrm>
        </p:grpSpPr>
        <p:sp>
          <p:nvSpPr>
            <p:cNvPr id="12" name="矩形 11">
              <a:extLst>
                <a:ext uri="{FF2B5EF4-FFF2-40B4-BE49-F238E27FC236}">
                  <a16:creationId xmlns:a16="http://schemas.microsoft.com/office/drawing/2014/main" id="{7734F17D-7A25-40BC-87C1-C47C79C2997B}"/>
                </a:ext>
              </a:extLst>
            </p:cNvPr>
            <p:cNvSpPr/>
            <p:nvPr/>
          </p:nvSpPr>
          <p:spPr>
            <a:xfrm>
              <a:off x="209235" y="3122104"/>
              <a:ext cx="2356492" cy="830997"/>
            </a:xfrm>
            <a:prstGeom prst="rect">
              <a:avLst/>
            </a:prstGeom>
          </p:spPr>
          <p:txBody>
            <a:bodyPr wrap="square">
              <a:spAutoFit/>
            </a:bodyPr>
            <a:lstStyle/>
            <a:p>
              <a:pPr algn="r"/>
              <a:r>
                <a:rPr lang="zh-CN" altLang="en-US" sz="2400" dirty="0">
                  <a:solidFill>
                    <a:prstClr val="black"/>
                  </a:solidFill>
                  <a:latin typeface="Times New Roman" panose="02020603050405020304" pitchFamily="18" charset="0"/>
                  <a:ea typeface="字魂58号-创中黑" panose="00000500000000000000" pitchFamily="2" charset="-122"/>
                  <a:cs typeface="Times New Roman" panose="02020603050405020304" pitchFamily="18" charset="0"/>
                </a:rPr>
                <a:t>利用对数的性质进行化简</a:t>
              </a:r>
              <a:endParaRPr lang="zh-CN" altLang="en-US" sz="2400"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B46B20ED-A423-452F-9E7D-791DE4545EEB}"/>
                    </a:ext>
                  </a:extLst>
                </p:cNvPr>
                <p:cNvSpPr/>
                <p:nvPr/>
              </p:nvSpPr>
              <p:spPr>
                <a:xfrm>
                  <a:off x="2799007" y="3168178"/>
                  <a:ext cx="415139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𝑇</m:t>
                            </m:r>
                          </m:e>
                        </m:func>
                        <m: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t>=</m:t>
                        </m:r>
                        <m:func>
                          <m:funcPr>
                            <m:ctrlPr>
                              <a:rPr lang="en-US" altLang="zh-CN" sz="3600" i="1" kern="10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𝑘</m:t>
                            </m:r>
                          </m:e>
                        </m:func>
                        <m:r>
                          <a:rPr lang="en-US" altLang="zh-CN" sz="3600" b="0" i="0" kern="100" smtClean="0">
                            <a:latin typeface="Cambria Math" panose="02040503050406030204" pitchFamily="18" charset="0"/>
                            <a:ea typeface="等线" panose="02010600030101010101" pitchFamily="2" charset="-122"/>
                            <a:cs typeface="Times New Roman" panose="02020603050405020304" pitchFamily="18" charset="0"/>
                          </a:rPr>
                          <m:t>+</m:t>
                        </m:r>
                        <m:r>
                          <a:rPr lang="el-GR" altLang="zh-CN" sz="3600" b="0" i="1" kern="100" smtClean="0">
                            <a:latin typeface="Cambria Math" panose="02040503050406030204" pitchFamily="18" charset="0"/>
                            <a:ea typeface="Cambria Math" panose="02040503050406030204" pitchFamily="18" charset="0"/>
                            <a:cs typeface="Times New Roman" panose="02020603050405020304" pitchFamily="18" charset="0"/>
                          </a:rPr>
                          <m:t>𝛼</m:t>
                        </m:r>
                        <m:func>
                          <m:funcPr>
                            <m:ctrlPr>
                              <a:rPr lang="en-US" altLang="zh-CN" sz="3600" i="1" kern="10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36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3600" b="0" i="1" kern="100" smtClean="0">
                                <a:latin typeface="Cambria Math" panose="02040503050406030204" pitchFamily="18" charset="0"/>
                                <a:ea typeface="等线" panose="02010600030101010101" pitchFamily="2" charset="-122"/>
                                <a:cs typeface="Times New Roman" panose="02020603050405020304" pitchFamily="18" charset="0"/>
                              </a:rPr>
                              <m:t>𝑟</m:t>
                            </m:r>
                          </m:e>
                        </m:func>
                      </m:oMath>
                    </m:oMathPara>
                  </a14:m>
                  <a:endParaRPr lang="zh-CN" altLang="en-US" sz="3600" dirty="0"/>
                </a:p>
              </p:txBody>
            </p:sp>
          </mc:Choice>
          <mc:Fallback xmlns="">
            <p:sp>
              <p:nvSpPr>
                <p:cNvPr id="13" name="矩形 12">
                  <a:extLst>
                    <a:ext uri="{FF2B5EF4-FFF2-40B4-BE49-F238E27FC236}">
                      <a16:creationId xmlns:a16="http://schemas.microsoft.com/office/drawing/2014/main" id="{B46B20ED-A423-452F-9E7D-791DE4545EEB}"/>
                    </a:ext>
                  </a:extLst>
                </p:cNvPr>
                <p:cNvSpPr>
                  <a:spLocks noRot="1" noChangeAspect="1" noMove="1" noResize="1" noEditPoints="1" noAdjustHandles="1" noChangeArrowheads="1" noChangeShapeType="1" noTextEdit="1"/>
                </p:cNvSpPr>
                <p:nvPr/>
              </p:nvSpPr>
              <p:spPr>
                <a:xfrm>
                  <a:off x="2799007" y="3168178"/>
                  <a:ext cx="4151393" cy="646331"/>
                </a:xfrm>
                <a:prstGeom prst="rect">
                  <a:avLst/>
                </a:prstGeom>
                <a:blipFill>
                  <a:blip r:embed="rId5"/>
                  <a:stretch>
                    <a:fillRect/>
                  </a:stretch>
                </a:blipFill>
              </p:spPr>
              <p:txBody>
                <a:bodyPr/>
                <a:lstStyle/>
                <a:p>
                  <a:r>
                    <a:rPr lang="zh-CN" altLang="en-US">
                      <a:noFill/>
                    </a:rPr>
                    <a:t> </a:t>
                  </a:r>
                </a:p>
              </p:txBody>
            </p:sp>
          </mc:Fallback>
        </mc:AlternateContent>
      </p:grpSp>
      <p:grpSp>
        <p:nvGrpSpPr>
          <p:cNvPr id="15" name="组合 14">
            <a:extLst>
              <a:ext uri="{FF2B5EF4-FFF2-40B4-BE49-F238E27FC236}">
                <a16:creationId xmlns:a16="http://schemas.microsoft.com/office/drawing/2014/main" id="{E77DEE0E-F14C-4193-8926-A6D1883D4297}"/>
              </a:ext>
            </a:extLst>
          </p:cNvPr>
          <p:cNvGrpSpPr/>
          <p:nvPr/>
        </p:nvGrpSpPr>
        <p:grpSpPr>
          <a:xfrm>
            <a:off x="7204815" y="4365201"/>
            <a:ext cx="2418492" cy="1062313"/>
            <a:chOff x="4781605" y="2511884"/>
            <a:chExt cx="2418492" cy="1062313"/>
          </a:xfrm>
        </p:grpSpPr>
        <p:sp>
          <p:nvSpPr>
            <p:cNvPr id="16" name="椭圆 15">
              <a:extLst>
                <a:ext uri="{FF2B5EF4-FFF2-40B4-BE49-F238E27FC236}">
                  <a16:creationId xmlns:a16="http://schemas.microsoft.com/office/drawing/2014/main" id="{818799E5-C460-4C81-ADAA-6102F3B5F103}"/>
                </a:ext>
              </a:extLst>
            </p:cNvPr>
            <p:cNvSpPr/>
            <p:nvPr/>
          </p:nvSpPr>
          <p:spPr>
            <a:xfrm>
              <a:off x="4781605" y="2511884"/>
              <a:ext cx="1027655" cy="46234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8B5F0A45-DA69-48B1-B36E-83D3F802FB93}"/>
                </a:ext>
              </a:extLst>
            </p:cNvPr>
            <p:cNvCxnSpPr>
              <a:cxnSpLocks/>
              <a:stCxn id="16" idx="5"/>
            </p:cNvCxnSpPr>
            <p:nvPr/>
          </p:nvCxnSpPr>
          <p:spPr>
            <a:xfrm>
              <a:off x="5658763" y="2906516"/>
              <a:ext cx="576252" cy="298349"/>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18" name="文本框 17">
              <a:extLst>
                <a:ext uri="{FF2B5EF4-FFF2-40B4-BE49-F238E27FC236}">
                  <a16:creationId xmlns:a16="http://schemas.microsoft.com/office/drawing/2014/main" id="{ED73B3A5-7441-4F23-BF7C-D2A54FDF0D92}"/>
                </a:ext>
              </a:extLst>
            </p:cNvPr>
            <p:cNvSpPr txBox="1"/>
            <p:nvPr/>
          </p:nvSpPr>
          <p:spPr>
            <a:xfrm>
              <a:off x="6322934" y="3204865"/>
              <a:ext cx="877163" cy="369332"/>
            </a:xfrm>
            <a:prstGeom prst="rect">
              <a:avLst/>
            </a:prstGeom>
            <a:noFill/>
          </p:spPr>
          <p:txBody>
            <a:bodyPr wrap="none" rtlCol="0">
              <a:spAutoFit/>
            </a:bodyPr>
            <a:lstStyle/>
            <a:p>
              <a:r>
                <a:rPr lang="zh-CN" altLang="en-US" dirty="0"/>
                <a:t>自变量</a:t>
              </a:r>
            </a:p>
          </p:txBody>
        </p:sp>
      </p:grpSp>
      <p:grpSp>
        <p:nvGrpSpPr>
          <p:cNvPr id="19" name="组合 18">
            <a:extLst>
              <a:ext uri="{FF2B5EF4-FFF2-40B4-BE49-F238E27FC236}">
                <a16:creationId xmlns:a16="http://schemas.microsoft.com/office/drawing/2014/main" id="{5C4E0F09-54E8-44F3-934B-82A324A5C42C}"/>
              </a:ext>
            </a:extLst>
          </p:cNvPr>
          <p:cNvGrpSpPr/>
          <p:nvPr/>
        </p:nvGrpSpPr>
        <p:grpSpPr>
          <a:xfrm>
            <a:off x="3007274" y="4254015"/>
            <a:ext cx="2194271" cy="1322961"/>
            <a:chOff x="3931511" y="2641714"/>
            <a:chExt cx="2194271" cy="1322961"/>
          </a:xfrm>
        </p:grpSpPr>
        <p:sp>
          <p:nvSpPr>
            <p:cNvPr id="20" name="椭圆 19">
              <a:extLst>
                <a:ext uri="{FF2B5EF4-FFF2-40B4-BE49-F238E27FC236}">
                  <a16:creationId xmlns:a16="http://schemas.microsoft.com/office/drawing/2014/main" id="{D0A39746-ED97-480D-BD2B-84B8E452F673}"/>
                </a:ext>
              </a:extLst>
            </p:cNvPr>
            <p:cNvSpPr/>
            <p:nvPr/>
          </p:nvSpPr>
          <p:spPr>
            <a:xfrm>
              <a:off x="4911435" y="2641714"/>
              <a:ext cx="1214347" cy="70114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21F4FE4A-92F0-4449-914C-CC5BCC0E468D}"/>
                </a:ext>
              </a:extLst>
            </p:cNvPr>
            <p:cNvCxnSpPr>
              <a:cxnSpLocks/>
              <a:stCxn id="20" idx="3"/>
              <a:endCxn id="23" idx="0"/>
            </p:cNvCxnSpPr>
            <p:nvPr/>
          </p:nvCxnSpPr>
          <p:spPr>
            <a:xfrm flipH="1">
              <a:off x="4370093" y="3240176"/>
              <a:ext cx="719179" cy="355167"/>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23" name="文本框 22">
              <a:extLst>
                <a:ext uri="{FF2B5EF4-FFF2-40B4-BE49-F238E27FC236}">
                  <a16:creationId xmlns:a16="http://schemas.microsoft.com/office/drawing/2014/main" id="{3840FBEB-BF16-4A93-AB8E-68750CDDE54F}"/>
                </a:ext>
              </a:extLst>
            </p:cNvPr>
            <p:cNvSpPr txBox="1"/>
            <p:nvPr/>
          </p:nvSpPr>
          <p:spPr>
            <a:xfrm>
              <a:off x="3931511" y="3595343"/>
              <a:ext cx="877163" cy="369332"/>
            </a:xfrm>
            <a:prstGeom prst="rect">
              <a:avLst/>
            </a:prstGeom>
            <a:noFill/>
          </p:spPr>
          <p:txBody>
            <a:bodyPr wrap="none" rtlCol="0">
              <a:spAutoFit/>
            </a:bodyPr>
            <a:lstStyle/>
            <a:p>
              <a:r>
                <a:rPr lang="zh-CN" altLang="en-US" dirty="0"/>
                <a:t>因变量</a:t>
              </a:r>
            </a:p>
          </p:txBody>
        </p:sp>
      </p:grpSp>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8FC37F67-9B5D-40E4-97DE-FAD73D95E20C}"/>
                  </a:ext>
                </a:extLst>
              </p:cNvPr>
              <p:cNvSpPr/>
              <p:nvPr/>
            </p:nvSpPr>
            <p:spPr>
              <a:xfrm>
                <a:off x="4603896" y="5363446"/>
                <a:ext cx="2502545"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600" b="0" i="1" kern="100" smtClean="0">
                          <a:latin typeface="Cambria Math" panose="02040503050406030204" pitchFamily="18" charset="0"/>
                          <a:ea typeface="等线" panose="02010600030101010101" pitchFamily="2" charset="-122"/>
                          <a:cs typeface="Times New Roman" panose="02020603050405020304" pitchFamily="18" charset="0"/>
                        </a:rPr>
                        <m:t>𝑦</m:t>
                      </m:r>
                      <m:r>
                        <a:rPr lang="en-US" altLang="zh-CN" sz="3600" i="1"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3600" b="0" i="1" kern="100" smtClean="0">
                          <a:latin typeface="Cambria Math" panose="02040503050406030204" pitchFamily="18" charset="0"/>
                          <a:ea typeface="等线" panose="02010600030101010101" pitchFamily="2" charset="-122"/>
                          <a:cs typeface="Times New Roman" panose="02020603050405020304" pitchFamily="18" charset="0"/>
                        </a:rPr>
                        <m:t>𝑏</m:t>
                      </m:r>
                      <m:r>
                        <a:rPr lang="en-US" altLang="zh-CN" sz="3600" b="0" i="0"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3600" b="0" i="1" kern="100" smtClean="0">
                          <a:latin typeface="Cambria Math" panose="02040503050406030204" pitchFamily="18" charset="0"/>
                          <a:ea typeface="Cambria Math" panose="02040503050406030204" pitchFamily="18" charset="0"/>
                          <a:cs typeface="Times New Roman" panose="02020603050405020304" pitchFamily="18" charset="0"/>
                        </a:rPr>
                        <m:t>𝑎𝑥</m:t>
                      </m:r>
                    </m:oMath>
                  </m:oMathPara>
                </a14:m>
                <a:endParaRPr lang="zh-CN" altLang="en-US" sz="3600" dirty="0"/>
              </a:p>
            </p:txBody>
          </p:sp>
        </mc:Choice>
        <mc:Fallback xmlns="">
          <p:sp>
            <p:nvSpPr>
              <p:cNvPr id="32" name="矩形 31">
                <a:extLst>
                  <a:ext uri="{FF2B5EF4-FFF2-40B4-BE49-F238E27FC236}">
                    <a16:creationId xmlns:a16="http://schemas.microsoft.com/office/drawing/2014/main" id="{8FC37F67-9B5D-40E4-97DE-FAD73D95E20C}"/>
                  </a:ext>
                </a:extLst>
              </p:cNvPr>
              <p:cNvSpPr>
                <a:spLocks noRot="1" noChangeAspect="1" noMove="1" noResize="1" noEditPoints="1" noAdjustHandles="1" noChangeArrowheads="1" noChangeShapeType="1" noTextEdit="1"/>
              </p:cNvSpPr>
              <p:nvPr/>
            </p:nvSpPr>
            <p:spPr>
              <a:xfrm>
                <a:off x="4603896" y="5363446"/>
                <a:ext cx="2502545" cy="64633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046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23FCD7B-344B-4BB1-88F6-59BA61862462}"/>
              </a:ext>
            </a:extLst>
          </p:cNvPr>
          <p:cNvSpPr txBox="1"/>
          <p:nvPr/>
        </p:nvSpPr>
        <p:spPr>
          <a:xfrm>
            <a:off x="334976" y="225894"/>
            <a:ext cx="3416320" cy="646331"/>
          </a:xfrm>
          <a:prstGeom prst="rect">
            <a:avLst/>
          </a:prstGeom>
          <a:noFill/>
        </p:spPr>
        <p:txBody>
          <a:bodyPr wrap="none" rtlCol="0">
            <a:spAutoFit/>
          </a:bodyPr>
          <a:lstStyle/>
          <a:p>
            <a:r>
              <a:rPr lang="zh-CN" altLang="en-US" sz="3600" b="1" dirty="0">
                <a:solidFill>
                  <a:srgbClr val="3B4660"/>
                </a:solidFill>
                <a:latin typeface="Times New Roman" panose="02020603050405020304" pitchFamily="18" charset="0"/>
                <a:cs typeface="+mn-ea"/>
                <a:sym typeface="+mn-lt"/>
              </a:rPr>
              <a:t>开普勒第三定律</a:t>
            </a:r>
            <a:endParaRPr lang="zh-CN" altLang="en-US" sz="3600" b="1" dirty="0">
              <a:solidFill>
                <a:srgbClr val="C00000"/>
              </a:solidFill>
              <a:latin typeface="Times New Roman" panose="02020603050405020304" pitchFamily="18" charset="0"/>
              <a:cs typeface="Times New Roman" panose="02020603050405020304" pitchFamily="18" charset="0"/>
              <a:sym typeface="+mn-lt"/>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EA3D371-D8F3-4A80-97E7-9ED85E325143}"/>
                  </a:ext>
                </a:extLst>
              </p:cNvPr>
              <p:cNvSpPr txBox="1"/>
              <p:nvPr/>
            </p:nvSpPr>
            <p:spPr>
              <a:xfrm>
                <a:off x="6281643" y="1231309"/>
                <a:ext cx="5219729" cy="2249398"/>
              </a:xfrm>
              <a:prstGeom prst="rect">
                <a:avLst/>
              </a:prstGeom>
              <a:noFill/>
              <a:extLst>
                <a:ext uri="{909E8E84-426E-40DD-AFC4-6F175D3DCCD1}">
                  <a14:hiddenFill>
                    <a:solidFill>
                      <a:srgbClr val="E84C53"/>
                    </a:solidFill>
                  </a14:hiddenFill>
                </a:ext>
              </a:extLst>
            </p:spPr>
            <p:txBody>
              <a:bodyPr wrap="square" rtlCol="0">
                <a:spAutoFit/>
              </a:bodyPr>
              <a:lstStyle/>
              <a:p>
                <a:pPr lvl="0">
                  <a:lnSpc>
                    <a:spcPct val="150000"/>
                  </a:lnSpc>
                  <a:spcBef>
                    <a:spcPct val="0"/>
                  </a:spcBef>
                  <a:spcAft>
                    <a:spcPct val="0"/>
                  </a:spcAft>
                  <a:defRPr/>
                </a:pPr>
                <a:r>
                  <a:rPr lang="zh-CN" altLang="en-US" sz="2400" kern="100" dirty="0">
                    <a:latin typeface="Arial" panose="020B0604020202020204" pitchFamily="34" charset="0"/>
                    <a:ea typeface="等线" panose="02010600030101010101" pitchFamily="2" charset="-122"/>
                    <a:cs typeface="Arial" panose="020B0604020202020204" pitchFamily="34" charset="0"/>
                  </a:rPr>
                  <a:t>寻找</a:t>
                </a:r>
                <a:r>
                  <a:rPr lang="zh-CN" altLang="zh-CN" sz="2400" kern="100" dirty="0">
                    <a:latin typeface="Arial" panose="020B0604020202020204" pitchFamily="34" charset="0"/>
                    <a:ea typeface="等线" panose="02010600030101010101" pitchFamily="2" charset="-122"/>
                    <a:cs typeface="Arial" panose="020B0604020202020204" pitchFamily="34" charset="0"/>
                  </a:rPr>
                  <a:t>绕转半径</a:t>
                </a:r>
                <a:r>
                  <a:rPr lang="zh-CN" altLang="zh-CN" sz="2400" kern="100" dirty="0">
                    <a:latin typeface="等线" panose="02010600030101010101" pitchFamily="2" charset="-122"/>
                    <a:ea typeface="Arial" panose="020B0604020202020204" pitchFamily="34" charset="0"/>
                    <a:cs typeface="Times New Roman" panose="02020603050405020304" pitchFamily="18" charset="0"/>
                  </a:rPr>
                  <a:t> </a:t>
                </a:r>
                <a14:m>
                  <m:oMath xmlns:m="http://schemas.openxmlformats.org/officeDocument/2006/math">
                    <m:r>
                      <a:rPr lang="en-US" altLang="zh-CN" sz="2400" b="0" i="1" kern="100">
                        <a:latin typeface="Cambria Math" panose="02040503050406030204" pitchFamily="18" charset="0"/>
                        <a:ea typeface="等线" panose="02010600030101010101" pitchFamily="2" charset="-122"/>
                        <a:cs typeface="Times New Roman" panose="02020603050405020304" pitchFamily="18" charset="0"/>
                      </a:rPr>
                      <m:t>𝑟</m:t>
                    </m:r>
                    <m: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t> </m:t>
                    </m:r>
                  </m:oMath>
                </a14:m>
                <a:r>
                  <a:rPr lang="zh-CN" altLang="en-US" sz="2400" kern="100" dirty="0">
                    <a:latin typeface="Arial" panose="020B0604020202020204" pitchFamily="34" charset="0"/>
                    <a:ea typeface="等线" panose="02010600030101010101" pitchFamily="2" charset="-122"/>
                    <a:cs typeface="Times New Roman" panose="02020603050405020304" pitchFamily="18" charset="0"/>
                  </a:rPr>
                  <a:t>和</a:t>
                </a:r>
                <a:r>
                  <a:rPr lang="zh-CN" altLang="zh-CN" sz="2400" kern="100" dirty="0">
                    <a:latin typeface="Arial" panose="020B0604020202020204" pitchFamily="34" charset="0"/>
                    <a:ea typeface="等线" panose="02010600030101010101" pitchFamily="2" charset="-122"/>
                    <a:cs typeface="Arial" panose="020B0604020202020204" pitchFamily="34" charset="0"/>
                  </a:rPr>
                  <a:t>绕转周期</a:t>
                </a:r>
                <a:r>
                  <a:rPr lang="zh-CN" altLang="zh-CN" sz="2400" kern="100" dirty="0">
                    <a:latin typeface="等线" panose="02010600030101010101" pitchFamily="2" charset="-122"/>
                    <a:ea typeface="Arial" panose="020B0604020202020204" pitchFamily="34" charset="0"/>
                    <a:cs typeface="Times New Roman" panose="02020603050405020304" pitchFamily="18" charset="0"/>
                  </a:rPr>
                  <a:t> </a:t>
                </a:r>
                <a14:m>
                  <m:oMath xmlns:m="http://schemas.openxmlformats.org/officeDocument/2006/math">
                    <m:r>
                      <a:rPr lang="en-US" altLang="zh-CN" sz="2400" b="0" i="1" kern="100">
                        <a:latin typeface="Cambria Math" panose="02040503050406030204" pitchFamily="18" charset="0"/>
                        <a:ea typeface="等线" panose="02010600030101010101" pitchFamily="2" charset="-122"/>
                        <a:cs typeface="Times New Roman" panose="02020603050405020304" pitchFamily="18" charset="0"/>
                      </a:rPr>
                      <m:t>𝑇</m:t>
                    </m:r>
                  </m:oMath>
                </a14:m>
                <a:r>
                  <a:rPr lang="en-US" altLang="zh-CN" sz="2400" kern="100" dirty="0">
                    <a:latin typeface="Arial" panose="020B0604020202020204" pitchFamily="34" charset="0"/>
                    <a:ea typeface="等线" panose="02010600030101010101" pitchFamily="2" charset="-122"/>
                    <a:cs typeface="Times New Roman" panose="02020603050405020304" pitchFamily="18" charset="0"/>
                  </a:rPr>
                  <a:t> </a:t>
                </a:r>
                <a:r>
                  <a:rPr lang="zh-CN" altLang="en-US" sz="2400" kern="100" dirty="0">
                    <a:latin typeface="Arial" panose="020B0604020202020204" pitchFamily="34" charset="0"/>
                    <a:ea typeface="等线" panose="02010600030101010101" pitchFamily="2" charset="-122"/>
                    <a:cs typeface="Times New Roman" panose="02020603050405020304" pitchFamily="18" charset="0"/>
                  </a:rPr>
                  <a:t>的关系：</a:t>
                </a:r>
                <a:endParaRPr lang="en-US" altLang="zh-CN" sz="2400" kern="100" dirty="0">
                  <a:latin typeface="Arial" panose="020B0604020202020204" pitchFamily="34" charset="0"/>
                  <a:ea typeface="等线" panose="02010600030101010101" pitchFamily="2" charset="-122"/>
                  <a:cs typeface="Times New Roman" panose="02020603050405020304" pitchFamily="18" charset="0"/>
                </a:endParaRPr>
              </a:p>
              <a:p>
                <a:pPr lvl="0">
                  <a:lnSpc>
                    <a:spcPct val="150000"/>
                  </a:lnSpc>
                  <a:spcBef>
                    <a:spcPct val="0"/>
                  </a:spcBef>
                  <a:spcAft>
                    <a:spcPct val="0"/>
                  </a:spcAft>
                  <a:defRPr/>
                </a:pPr>
                <a:r>
                  <a:rPr lang="zh-CN" altLang="en-US" sz="2400" kern="100" dirty="0">
                    <a:latin typeface="Arial" panose="020B0604020202020204" pitchFamily="34" charset="0"/>
                    <a:ea typeface="等线" panose="02010600030101010101" pitchFamily="2" charset="-122"/>
                    <a:cs typeface="Arial" panose="020B0604020202020204" pitchFamily="34" charset="0"/>
                  </a:rPr>
                  <a:t>（</a:t>
                </a:r>
                <a:r>
                  <a:rPr lang="en-US" altLang="zh-CN" sz="2400" kern="100" dirty="0">
                    <a:latin typeface="Arial" panose="020B0604020202020204" pitchFamily="34" charset="0"/>
                    <a:ea typeface="等线" panose="02010600030101010101" pitchFamily="2" charset="-122"/>
                    <a:cs typeface="Arial" panose="020B0604020202020204" pitchFamily="34" charset="0"/>
                  </a:rPr>
                  <a:t>1</a:t>
                </a:r>
                <a:r>
                  <a:rPr lang="zh-CN" altLang="en-US" sz="2400" kern="100" dirty="0">
                    <a:latin typeface="Arial" panose="020B0604020202020204" pitchFamily="34" charset="0"/>
                    <a:ea typeface="等线" panose="02010600030101010101" pitchFamily="2" charset="-122"/>
                    <a:cs typeface="Arial" panose="020B0604020202020204" pitchFamily="34" charset="0"/>
                  </a:rPr>
                  <a:t>）画出</a:t>
                </a:r>
                <a14:m>
                  <m:oMath xmlns:m="http://schemas.openxmlformats.org/officeDocument/2006/math">
                    <m:func>
                      <m:funcPr>
                        <m:ctrlPr>
                          <a:rPr lang="en-US" altLang="zh-CN" sz="2400" i="1" kern="10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𝑟</m:t>
                        </m:r>
                      </m:e>
                    </m:func>
                    <m:r>
                      <a:rPr lang="en-US" altLang="zh-CN" sz="2400" kern="100">
                        <a:latin typeface="Cambria Math" panose="02040503050406030204" pitchFamily="18" charset="0"/>
                        <a:ea typeface="等线" panose="02010600030101010101" pitchFamily="2" charset="-122"/>
                        <a:cs typeface="Arial" panose="020B0604020202020204" pitchFamily="34" charset="0"/>
                      </a:rPr>
                      <m:t>−</m:t>
                    </m:r>
                    <m:func>
                      <m:funcPr>
                        <m:ctrlPr>
                          <a:rPr lang="en-US" altLang="zh-CN" sz="2400" i="1" kern="10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𝑇</m:t>
                        </m:r>
                      </m:e>
                    </m:func>
                    <m:r>
                      <a:rPr lang="zh-CN" altLang="en-US" sz="2400" kern="100">
                        <a:latin typeface="Cambria Math" panose="02040503050406030204" pitchFamily="18" charset="0"/>
                        <a:ea typeface="等线" panose="02010600030101010101" pitchFamily="2" charset="-122"/>
                        <a:cs typeface="Arial" panose="020B0604020202020204" pitchFamily="34" charset="0"/>
                      </a:rPr>
                      <m:t>图</m:t>
                    </m:r>
                  </m:oMath>
                </a14:m>
                <a:r>
                  <a:rPr lang="zh-CN" altLang="en-US" sz="2400" kern="100" dirty="0">
                    <a:latin typeface="Arial" panose="020B0604020202020204" pitchFamily="34" charset="0"/>
                    <a:ea typeface="等线" panose="02010600030101010101" pitchFamily="2" charset="-122"/>
                    <a:cs typeface="Arial" panose="020B0604020202020204" pitchFamily="34" charset="0"/>
                  </a:rPr>
                  <a:t>；</a:t>
                </a:r>
                <a:endParaRPr lang="en-US" altLang="zh-CN" sz="2400" kern="100" dirty="0">
                  <a:latin typeface="Arial" panose="020B0604020202020204" pitchFamily="34" charset="0"/>
                  <a:ea typeface="等线" panose="02010600030101010101" pitchFamily="2" charset="-122"/>
                  <a:cs typeface="Arial" panose="020B0604020202020204" pitchFamily="34" charset="0"/>
                </a:endParaRPr>
              </a:p>
              <a:p>
                <a:pPr lvl="0">
                  <a:lnSpc>
                    <a:spcPct val="150000"/>
                  </a:lnSpc>
                  <a:spcBef>
                    <a:spcPct val="0"/>
                  </a:spcBef>
                  <a:spcAft>
                    <a:spcPct val="0"/>
                  </a:spcAft>
                  <a:defRPr/>
                </a:pPr>
                <a:r>
                  <a:rPr lang="zh-CN" altLang="en-US" sz="2400" kern="100" dirty="0">
                    <a:latin typeface="Arial" panose="020B0604020202020204" pitchFamily="34" charset="0"/>
                    <a:ea typeface="等线" panose="02010600030101010101" pitchFamily="2" charset="-122"/>
                    <a:cs typeface="Arial" panose="020B0604020202020204" pitchFamily="34" charset="0"/>
                  </a:rPr>
                  <a:t>（</a:t>
                </a:r>
                <a:r>
                  <a:rPr lang="en-US" altLang="zh-CN" sz="2400" kern="100" dirty="0">
                    <a:latin typeface="Arial" panose="020B0604020202020204" pitchFamily="34" charset="0"/>
                    <a:ea typeface="等线" panose="02010600030101010101" pitchFamily="2" charset="-122"/>
                    <a:cs typeface="Arial" panose="020B0604020202020204" pitchFamily="34" charset="0"/>
                  </a:rPr>
                  <a:t>2</a:t>
                </a:r>
                <a:r>
                  <a:rPr lang="zh-CN" altLang="en-US" sz="2400" kern="100" dirty="0">
                    <a:latin typeface="Arial" panose="020B0604020202020204" pitchFamily="34" charset="0"/>
                    <a:ea typeface="等线" panose="02010600030101010101" pitchFamily="2" charset="-122"/>
                    <a:cs typeface="Arial" panose="020B0604020202020204" pitchFamily="34" charset="0"/>
                  </a:rPr>
                  <a:t>）</a:t>
                </a:r>
                <a14:m>
                  <m:oMath xmlns:m="http://schemas.openxmlformats.org/officeDocument/2006/math">
                    <m:func>
                      <m:funcPr>
                        <m:ctrlPr>
                          <a:rPr lang="en-US" altLang="zh-CN" sz="2400" i="1" kern="10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𝑇</m:t>
                        </m:r>
                      </m:e>
                    </m:func>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func>
                      <m:funcPr>
                        <m:ctrlPr>
                          <a:rPr lang="en-US" altLang="zh-CN" sz="2400" i="1" kern="10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𝑘</m:t>
                        </m:r>
                      </m:e>
                    </m:func>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r>
                      <a:rPr lang="el-GR"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func>
                      <m:funcPr>
                        <m:ctrlPr>
                          <a:rPr lang="en-US" altLang="zh-CN" sz="2400" i="1" kern="10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𝑟</m:t>
                        </m:r>
                      </m:e>
                    </m:func>
                  </m:oMath>
                </a14:m>
                <a:r>
                  <a:rPr lang="zh-CN" altLang="en-US" sz="2400" kern="100" dirty="0">
                    <a:latin typeface="Arial" panose="020B0604020202020204" pitchFamily="34" charset="0"/>
                    <a:ea typeface="等线" panose="02010600030101010101" pitchFamily="2" charset="-122"/>
                    <a:cs typeface="Arial" panose="020B0604020202020204" pitchFamily="34" charset="0"/>
                  </a:rPr>
                  <a:t>，找到待定系数</a:t>
                </a:r>
                <a14:m>
                  <m:oMath xmlns:m="http://schemas.openxmlformats.org/officeDocument/2006/math">
                    <m:func>
                      <m:funcPr>
                        <m:ctrlPr>
                          <a:rPr lang="en-US" altLang="zh-CN" sz="2400" i="1" kern="100">
                            <a:latin typeface="Cambria Math" panose="02040503050406030204" pitchFamily="18" charset="0"/>
                            <a:ea typeface="等线" panose="02010600030101010101" pitchFamily="2" charset="-122"/>
                            <a:cs typeface="Times New Roman" panose="02020603050405020304" pitchFamily="18" charset="0"/>
                          </a:rPr>
                        </m:ctrlPr>
                      </m:funcPr>
                      <m:fName>
                        <m: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t> </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𝑙𝑔</m:t>
                        </m:r>
                      </m:fName>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t> </m:t>
                        </m:r>
                      </m:e>
                    </m:func>
                  </m:oMath>
                </a14:m>
                <a:r>
                  <a:rPr lang="zh-CN" altLang="en-US" sz="2400" kern="100" dirty="0">
                    <a:latin typeface="Arial" panose="020B0604020202020204" pitchFamily="34" charset="0"/>
                    <a:ea typeface="等线" panose="02010600030101010101" pitchFamily="2" charset="-122"/>
                    <a:cs typeface="Arial" panose="020B0604020202020204" pitchFamily="34" charset="0"/>
                  </a:rPr>
                  <a:t>和</a:t>
                </a:r>
                <a14:m>
                  <m:oMath xmlns:m="http://schemas.openxmlformats.org/officeDocument/2006/math">
                    <m:r>
                      <a:rPr lang="en-US" altLang="zh-CN" sz="2400" b="0" i="0" kern="100" smtClean="0">
                        <a:latin typeface="Cambria Math" panose="02040503050406030204" pitchFamily="18" charset="0"/>
                        <a:ea typeface="Cambria Math" panose="02040503050406030204" pitchFamily="18" charset="0"/>
                        <a:cs typeface="Times New Roman" panose="02020603050405020304" pitchFamily="18" charset="0"/>
                      </a:rPr>
                      <m:t> </m:t>
                    </m:r>
                    <m:r>
                      <a:rPr lang="el-GR"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 </m:t>
                    </m:r>
                  </m:oMath>
                </a14:m>
                <a:endParaRPr lang="en-US" altLang="zh-CN" sz="2400" kern="100" dirty="0">
                  <a:latin typeface="Arial" panose="020B0604020202020204" pitchFamily="34" charset="0"/>
                  <a:ea typeface="等线" panose="02010600030101010101" pitchFamily="2" charset="-122"/>
                  <a:cs typeface="Arial" panose="020B0604020202020204" pitchFamily="34" charset="0"/>
                </a:endParaRPr>
              </a:p>
            </p:txBody>
          </p:sp>
        </mc:Choice>
        <mc:Fallback xmlns="">
          <p:sp>
            <p:nvSpPr>
              <p:cNvPr id="13" name="文本框 12">
                <a:extLst>
                  <a:ext uri="{FF2B5EF4-FFF2-40B4-BE49-F238E27FC236}">
                    <a16:creationId xmlns:a16="http://schemas.microsoft.com/office/drawing/2014/main" id="{4EA3D371-D8F3-4A80-97E7-9ED85E325143}"/>
                  </a:ext>
                </a:extLst>
              </p:cNvPr>
              <p:cNvSpPr txBox="1">
                <a:spLocks noRot="1" noChangeAspect="1" noMove="1" noResize="1" noEditPoints="1" noAdjustHandles="1" noChangeArrowheads="1" noChangeShapeType="1" noTextEdit="1"/>
              </p:cNvSpPr>
              <p:nvPr/>
            </p:nvSpPr>
            <p:spPr>
              <a:xfrm>
                <a:off x="6281643" y="1231309"/>
                <a:ext cx="5219729" cy="2249398"/>
              </a:xfrm>
              <a:prstGeom prst="rect">
                <a:avLst/>
              </a:prstGeom>
              <a:blipFill>
                <a:blip r:embed="rId2"/>
                <a:stretch>
                  <a:fillRect l="-1750" r="-7468" b="-5691"/>
                </a:stretch>
              </a:blipFill>
              <a:extLst>
                <a:ext uri="{909E8E84-426E-40DD-AFC4-6F175D3DCCD1}">
                  <a14:hiddenFill xmlns:a14="http://schemas.microsoft.com/office/drawing/2010/main">
                    <a:solidFill>
                      <a:srgbClr val="E84C53"/>
                    </a:solidFill>
                  </a14:hiddenFill>
                </a:ext>
              </a:extLst>
            </p:spPr>
            <p:txBody>
              <a:bodyPr/>
              <a:lstStyle/>
              <a:p>
                <a:r>
                  <a:rPr lang="zh-CN" altLang="en-US">
                    <a:noFill/>
                  </a:rPr>
                  <a:t> </a:t>
                </a:r>
              </a:p>
            </p:txBody>
          </p:sp>
        </mc:Fallback>
      </mc:AlternateContent>
      <p:graphicFrame>
        <p:nvGraphicFramePr>
          <p:cNvPr id="5" name="表格 4">
            <a:extLst>
              <a:ext uri="{FF2B5EF4-FFF2-40B4-BE49-F238E27FC236}">
                <a16:creationId xmlns:a16="http://schemas.microsoft.com/office/drawing/2014/main" id="{619B2F37-3921-49D3-9EAC-BD8802AC1282}"/>
              </a:ext>
            </a:extLst>
          </p:cNvPr>
          <p:cNvGraphicFramePr>
            <a:graphicFrameLocks noGrp="1"/>
          </p:cNvGraphicFramePr>
          <p:nvPr>
            <p:extLst>
              <p:ext uri="{D42A27DB-BD31-4B8C-83A1-F6EECF244321}">
                <p14:modId xmlns:p14="http://schemas.microsoft.com/office/powerpoint/2010/main" val="2661991853"/>
              </p:ext>
            </p:extLst>
          </p:nvPr>
        </p:nvGraphicFramePr>
        <p:xfrm>
          <a:off x="690628" y="1593429"/>
          <a:ext cx="5022986" cy="4856237"/>
        </p:xfrm>
        <a:graphic>
          <a:graphicData uri="http://schemas.openxmlformats.org/drawingml/2006/table">
            <a:tbl>
              <a:tblPr firstRow="1">
                <a:tableStyleId>{9D7B26C5-4107-4FEC-AEDC-1716B250A1EF}</a:tableStyleId>
              </a:tblPr>
              <a:tblGrid>
                <a:gridCol w="1338197">
                  <a:extLst>
                    <a:ext uri="{9D8B030D-6E8A-4147-A177-3AD203B41FA5}">
                      <a16:colId xmlns:a16="http://schemas.microsoft.com/office/drawing/2014/main" val="2118739328"/>
                    </a:ext>
                  </a:extLst>
                </a:gridCol>
                <a:gridCol w="2028825">
                  <a:extLst>
                    <a:ext uri="{9D8B030D-6E8A-4147-A177-3AD203B41FA5}">
                      <a16:colId xmlns:a16="http://schemas.microsoft.com/office/drawing/2014/main" val="159450020"/>
                    </a:ext>
                  </a:extLst>
                </a:gridCol>
                <a:gridCol w="1655964">
                  <a:extLst>
                    <a:ext uri="{9D8B030D-6E8A-4147-A177-3AD203B41FA5}">
                      <a16:colId xmlns:a16="http://schemas.microsoft.com/office/drawing/2014/main" val="1837033102"/>
                    </a:ext>
                  </a:extLst>
                </a:gridCol>
              </a:tblGrid>
              <a:tr h="642565">
                <a:tc>
                  <a:txBody>
                    <a:bodyPr/>
                    <a:lstStyle/>
                    <a:p>
                      <a:pPr algn="ctr"/>
                      <a:r>
                        <a:rPr lang="zh-CN" altLang="en-US" dirty="0">
                          <a:solidFill>
                            <a:schemeClr val="tx1"/>
                          </a:solidFill>
                          <a:effectLst/>
                          <a:latin typeface="Helvetica Neue"/>
                        </a:rPr>
                        <a:t>行星</a:t>
                      </a:r>
                    </a:p>
                  </a:txBody>
                  <a:tcPr anchor="ctr"/>
                </a:tc>
                <a:tc>
                  <a:txBody>
                    <a:bodyPr/>
                    <a:lstStyle/>
                    <a:p>
                      <a:pPr algn="ctr"/>
                      <a:r>
                        <a:rPr lang="zh-CN" altLang="en-US" dirty="0">
                          <a:solidFill>
                            <a:schemeClr val="tx1"/>
                          </a:solidFill>
                          <a:effectLst/>
                          <a:latin typeface="Helvetica Neue"/>
                        </a:rPr>
                        <a:t>轨道半径 </a:t>
                      </a:r>
                      <a:r>
                        <a:rPr lang="en-US" altLang="zh-CN" dirty="0">
                          <a:solidFill>
                            <a:schemeClr val="tx1"/>
                          </a:solidFill>
                          <a:effectLst/>
                          <a:latin typeface="Helvetica Neue"/>
                        </a:rPr>
                        <a:t>(</a:t>
                      </a:r>
                      <a:r>
                        <a:rPr lang="en-US" dirty="0">
                          <a:solidFill>
                            <a:schemeClr val="tx1"/>
                          </a:solidFill>
                          <a:effectLst/>
                          <a:latin typeface="Helvetica Neue"/>
                        </a:rPr>
                        <a:t>AU)</a:t>
                      </a:r>
                    </a:p>
                  </a:txBody>
                  <a:tcPr anchor="ctr"/>
                </a:tc>
                <a:tc>
                  <a:txBody>
                    <a:bodyPr/>
                    <a:lstStyle/>
                    <a:p>
                      <a:pPr algn="ctr"/>
                      <a:r>
                        <a:rPr lang="zh-CN" altLang="en-US" dirty="0">
                          <a:solidFill>
                            <a:schemeClr val="tx1"/>
                          </a:solidFill>
                          <a:effectLst/>
                          <a:latin typeface="Helvetica Neue"/>
                        </a:rPr>
                        <a:t>运行周期 </a:t>
                      </a:r>
                      <a:r>
                        <a:rPr lang="en-US" altLang="zh-CN" dirty="0">
                          <a:solidFill>
                            <a:schemeClr val="tx1"/>
                          </a:solidFill>
                          <a:effectLst/>
                          <a:latin typeface="Helvetica Neue"/>
                        </a:rPr>
                        <a:t>(</a:t>
                      </a:r>
                      <a:r>
                        <a:rPr lang="zh-CN" altLang="en-US" dirty="0">
                          <a:solidFill>
                            <a:schemeClr val="tx1"/>
                          </a:solidFill>
                          <a:effectLst/>
                          <a:latin typeface="Helvetica Neue"/>
                        </a:rPr>
                        <a:t>年</a:t>
                      </a:r>
                      <a:r>
                        <a:rPr lang="en-US" altLang="zh-CN" dirty="0">
                          <a:solidFill>
                            <a:schemeClr val="tx1"/>
                          </a:solidFill>
                          <a:effectLst/>
                          <a:latin typeface="Helvetica Neue"/>
                        </a:rPr>
                        <a:t>)</a:t>
                      </a:r>
                    </a:p>
                  </a:txBody>
                  <a:tcPr anchor="ctr"/>
                </a:tc>
                <a:extLst>
                  <a:ext uri="{0D108BD9-81ED-4DB2-BD59-A6C34878D82A}">
                    <a16:rowId xmlns:a16="http://schemas.microsoft.com/office/drawing/2014/main" val="1499247123"/>
                  </a:ext>
                </a:extLst>
              </a:tr>
              <a:tr h="526709">
                <a:tc>
                  <a:txBody>
                    <a:bodyPr/>
                    <a:lstStyle/>
                    <a:p>
                      <a:pPr algn="ctr"/>
                      <a:r>
                        <a:rPr lang="zh-CN" altLang="en-US" dirty="0">
                          <a:solidFill>
                            <a:schemeClr val="tx1"/>
                          </a:solidFill>
                          <a:effectLst/>
                          <a:latin typeface="Helvetica Neue"/>
                        </a:rPr>
                        <a:t>水星</a:t>
                      </a:r>
                    </a:p>
                  </a:txBody>
                  <a:tcPr anchor="ctr"/>
                </a:tc>
                <a:tc>
                  <a:txBody>
                    <a:bodyPr/>
                    <a:lstStyle/>
                    <a:p>
                      <a:pPr algn="ctr"/>
                      <a:r>
                        <a:rPr lang="en-US" altLang="zh-CN" dirty="0">
                          <a:solidFill>
                            <a:schemeClr val="tx1"/>
                          </a:solidFill>
                          <a:effectLst/>
                          <a:latin typeface="Helvetica Neue"/>
                        </a:rPr>
                        <a:t>0.387</a:t>
                      </a:r>
                    </a:p>
                  </a:txBody>
                  <a:tcPr anchor="ctr"/>
                </a:tc>
                <a:tc>
                  <a:txBody>
                    <a:bodyPr/>
                    <a:lstStyle/>
                    <a:p>
                      <a:pPr algn="ctr"/>
                      <a:r>
                        <a:rPr lang="en-US" altLang="zh-CN" dirty="0">
                          <a:solidFill>
                            <a:schemeClr val="tx1"/>
                          </a:solidFill>
                          <a:effectLst/>
                          <a:latin typeface="Helvetica Neue"/>
                        </a:rPr>
                        <a:t>0.241</a:t>
                      </a:r>
                    </a:p>
                  </a:txBody>
                  <a:tcPr anchor="ctr"/>
                </a:tc>
                <a:extLst>
                  <a:ext uri="{0D108BD9-81ED-4DB2-BD59-A6C34878D82A}">
                    <a16:rowId xmlns:a16="http://schemas.microsoft.com/office/drawing/2014/main" val="3219009316"/>
                  </a:ext>
                </a:extLst>
              </a:tr>
              <a:tr h="526709">
                <a:tc>
                  <a:txBody>
                    <a:bodyPr/>
                    <a:lstStyle/>
                    <a:p>
                      <a:pPr algn="ctr"/>
                      <a:r>
                        <a:rPr lang="zh-CN" altLang="en-US">
                          <a:solidFill>
                            <a:schemeClr val="tx1"/>
                          </a:solidFill>
                          <a:effectLst/>
                          <a:latin typeface="Helvetica Neue"/>
                        </a:rPr>
                        <a:t>金星</a:t>
                      </a:r>
                    </a:p>
                  </a:txBody>
                  <a:tcPr anchor="ctr"/>
                </a:tc>
                <a:tc>
                  <a:txBody>
                    <a:bodyPr/>
                    <a:lstStyle/>
                    <a:p>
                      <a:pPr algn="ctr"/>
                      <a:r>
                        <a:rPr lang="en-US" altLang="zh-CN" dirty="0">
                          <a:solidFill>
                            <a:schemeClr val="tx1"/>
                          </a:solidFill>
                          <a:effectLst/>
                          <a:latin typeface="Helvetica Neue"/>
                        </a:rPr>
                        <a:t>0.723</a:t>
                      </a:r>
                    </a:p>
                  </a:txBody>
                  <a:tcPr anchor="ctr"/>
                </a:tc>
                <a:tc>
                  <a:txBody>
                    <a:bodyPr/>
                    <a:lstStyle/>
                    <a:p>
                      <a:pPr algn="ctr"/>
                      <a:r>
                        <a:rPr lang="en-US" altLang="zh-CN" dirty="0">
                          <a:solidFill>
                            <a:schemeClr val="tx1"/>
                          </a:solidFill>
                          <a:effectLst/>
                          <a:latin typeface="Helvetica Neue"/>
                        </a:rPr>
                        <a:t>0.615</a:t>
                      </a:r>
                    </a:p>
                  </a:txBody>
                  <a:tcPr anchor="ctr"/>
                </a:tc>
                <a:extLst>
                  <a:ext uri="{0D108BD9-81ED-4DB2-BD59-A6C34878D82A}">
                    <a16:rowId xmlns:a16="http://schemas.microsoft.com/office/drawing/2014/main" val="269670456"/>
                  </a:ext>
                </a:extLst>
              </a:tr>
              <a:tr h="526709">
                <a:tc>
                  <a:txBody>
                    <a:bodyPr/>
                    <a:lstStyle/>
                    <a:p>
                      <a:pPr algn="ctr"/>
                      <a:r>
                        <a:rPr lang="zh-CN" altLang="en-US">
                          <a:solidFill>
                            <a:schemeClr val="tx1"/>
                          </a:solidFill>
                          <a:effectLst/>
                          <a:latin typeface="Helvetica Neue"/>
                        </a:rPr>
                        <a:t>地球</a:t>
                      </a:r>
                    </a:p>
                  </a:txBody>
                  <a:tcPr anchor="ctr"/>
                </a:tc>
                <a:tc>
                  <a:txBody>
                    <a:bodyPr/>
                    <a:lstStyle/>
                    <a:p>
                      <a:pPr algn="ctr"/>
                      <a:r>
                        <a:rPr lang="en-US" altLang="zh-CN" dirty="0">
                          <a:solidFill>
                            <a:schemeClr val="tx1"/>
                          </a:solidFill>
                          <a:effectLst/>
                          <a:latin typeface="Helvetica Neue"/>
                        </a:rPr>
                        <a:t>1.000</a:t>
                      </a:r>
                    </a:p>
                  </a:txBody>
                  <a:tcPr anchor="ctr"/>
                </a:tc>
                <a:tc>
                  <a:txBody>
                    <a:bodyPr/>
                    <a:lstStyle/>
                    <a:p>
                      <a:pPr algn="ctr"/>
                      <a:r>
                        <a:rPr lang="en-US" altLang="zh-CN" dirty="0">
                          <a:solidFill>
                            <a:schemeClr val="tx1"/>
                          </a:solidFill>
                          <a:effectLst/>
                          <a:latin typeface="Helvetica Neue"/>
                        </a:rPr>
                        <a:t>1.000</a:t>
                      </a:r>
                    </a:p>
                  </a:txBody>
                  <a:tcPr anchor="ctr"/>
                </a:tc>
                <a:extLst>
                  <a:ext uri="{0D108BD9-81ED-4DB2-BD59-A6C34878D82A}">
                    <a16:rowId xmlns:a16="http://schemas.microsoft.com/office/drawing/2014/main" val="2915728488"/>
                  </a:ext>
                </a:extLst>
              </a:tr>
              <a:tr h="526709">
                <a:tc>
                  <a:txBody>
                    <a:bodyPr/>
                    <a:lstStyle/>
                    <a:p>
                      <a:pPr algn="ctr"/>
                      <a:r>
                        <a:rPr lang="zh-CN" altLang="en-US">
                          <a:solidFill>
                            <a:schemeClr val="tx1"/>
                          </a:solidFill>
                          <a:effectLst/>
                          <a:latin typeface="Helvetica Neue"/>
                        </a:rPr>
                        <a:t>火星</a:t>
                      </a:r>
                    </a:p>
                  </a:txBody>
                  <a:tcPr anchor="ctr"/>
                </a:tc>
                <a:tc>
                  <a:txBody>
                    <a:bodyPr/>
                    <a:lstStyle/>
                    <a:p>
                      <a:pPr algn="ctr"/>
                      <a:r>
                        <a:rPr lang="en-US" altLang="zh-CN" dirty="0">
                          <a:solidFill>
                            <a:schemeClr val="tx1"/>
                          </a:solidFill>
                          <a:effectLst/>
                          <a:latin typeface="Helvetica Neue"/>
                        </a:rPr>
                        <a:t>1.524</a:t>
                      </a:r>
                    </a:p>
                  </a:txBody>
                  <a:tcPr anchor="ctr"/>
                </a:tc>
                <a:tc>
                  <a:txBody>
                    <a:bodyPr/>
                    <a:lstStyle/>
                    <a:p>
                      <a:pPr algn="ctr"/>
                      <a:r>
                        <a:rPr lang="en-US" altLang="zh-CN" dirty="0">
                          <a:solidFill>
                            <a:schemeClr val="tx1"/>
                          </a:solidFill>
                          <a:effectLst/>
                          <a:latin typeface="Helvetica Neue"/>
                        </a:rPr>
                        <a:t>1.881</a:t>
                      </a:r>
                    </a:p>
                  </a:txBody>
                  <a:tcPr anchor="ctr"/>
                </a:tc>
                <a:extLst>
                  <a:ext uri="{0D108BD9-81ED-4DB2-BD59-A6C34878D82A}">
                    <a16:rowId xmlns:a16="http://schemas.microsoft.com/office/drawing/2014/main" val="3434762243"/>
                  </a:ext>
                </a:extLst>
              </a:tr>
              <a:tr h="526709">
                <a:tc>
                  <a:txBody>
                    <a:bodyPr/>
                    <a:lstStyle/>
                    <a:p>
                      <a:pPr algn="ctr"/>
                      <a:r>
                        <a:rPr lang="zh-CN" altLang="en-US">
                          <a:solidFill>
                            <a:schemeClr val="tx1"/>
                          </a:solidFill>
                          <a:effectLst/>
                          <a:latin typeface="Helvetica Neue"/>
                        </a:rPr>
                        <a:t>木星</a:t>
                      </a:r>
                    </a:p>
                  </a:txBody>
                  <a:tcPr anchor="ctr"/>
                </a:tc>
                <a:tc>
                  <a:txBody>
                    <a:bodyPr/>
                    <a:lstStyle/>
                    <a:p>
                      <a:pPr algn="ctr"/>
                      <a:r>
                        <a:rPr lang="en-US" altLang="zh-CN" dirty="0">
                          <a:solidFill>
                            <a:schemeClr val="tx1"/>
                          </a:solidFill>
                          <a:effectLst/>
                          <a:latin typeface="Helvetica Neue"/>
                        </a:rPr>
                        <a:t>5.204</a:t>
                      </a:r>
                    </a:p>
                  </a:txBody>
                  <a:tcPr anchor="ctr"/>
                </a:tc>
                <a:tc>
                  <a:txBody>
                    <a:bodyPr/>
                    <a:lstStyle/>
                    <a:p>
                      <a:pPr algn="ctr"/>
                      <a:r>
                        <a:rPr lang="en-US" altLang="zh-CN" dirty="0">
                          <a:solidFill>
                            <a:schemeClr val="tx1"/>
                          </a:solidFill>
                          <a:effectLst/>
                          <a:latin typeface="Helvetica Neue"/>
                        </a:rPr>
                        <a:t>11.86</a:t>
                      </a:r>
                    </a:p>
                  </a:txBody>
                  <a:tcPr anchor="ctr"/>
                </a:tc>
                <a:extLst>
                  <a:ext uri="{0D108BD9-81ED-4DB2-BD59-A6C34878D82A}">
                    <a16:rowId xmlns:a16="http://schemas.microsoft.com/office/drawing/2014/main" val="2171718983"/>
                  </a:ext>
                </a:extLst>
              </a:tr>
              <a:tr h="526709">
                <a:tc>
                  <a:txBody>
                    <a:bodyPr/>
                    <a:lstStyle/>
                    <a:p>
                      <a:pPr algn="ctr"/>
                      <a:r>
                        <a:rPr lang="zh-CN" altLang="en-US" dirty="0">
                          <a:solidFill>
                            <a:schemeClr val="tx1"/>
                          </a:solidFill>
                          <a:effectLst/>
                          <a:latin typeface="Helvetica Neue"/>
                        </a:rPr>
                        <a:t>土星</a:t>
                      </a:r>
                    </a:p>
                  </a:txBody>
                  <a:tcPr anchor="ctr"/>
                </a:tc>
                <a:tc>
                  <a:txBody>
                    <a:bodyPr/>
                    <a:lstStyle/>
                    <a:p>
                      <a:pPr algn="ctr"/>
                      <a:r>
                        <a:rPr lang="en-US" altLang="zh-CN">
                          <a:solidFill>
                            <a:schemeClr val="tx1"/>
                          </a:solidFill>
                          <a:effectLst/>
                          <a:latin typeface="Helvetica Neue"/>
                        </a:rPr>
                        <a:t>9.582</a:t>
                      </a:r>
                    </a:p>
                  </a:txBody>
                  <a:tcPr anchor="ctr"/>
                </a:tc>
                <a:tc>
                  <a:txBody>
                    <a:bodyPr/>
                    <a:lstStyle/>
                    <a:p>
                      <a:pPr algn="ctr"/>
                      <a:r>
                        <a:rPr lang="en-US" altLang="zh-CN" dirty="0">
                          <a:solidFill>
                            <a:schemeClr val="tx1"/>
                          </a:solidFill>
                          <a:effectLst/>
                          <a:latin typeface="Helvetica Neue"/>
                        </a:rPr>
                        <a:t>29.46</a:t>
                      </a:r>
                    </a:p>
                  </a:txBody>
                  <a:tcPr anchor="ctr"/>
                </a:tc>
                <a:extLst>
                  <a:ext uri="{0D108BD9-81ED-4DB2-BD59-A6C34878D82A}">
                    <a16:rowId xmlns:a16="http://schemas.microsoft.com/office/drawing/2014/main" val="3417937587"/>
                  </a:ext>
                </a:extLst>
              </a:tr>
              <a:tr h="526709">
                <a:tc>
                  <a:txBody>
                    <a:bodyPr/>
                    <a:lstStyle/>
                    <a:p>
                      <a:pPr algn="ctr"/>
                      <a:r>
                        <a:rPr lang="zh-CN" altLang="en-US" dirty="0">
                          <a:solidFill>
                            <a:schemeClr val="tx1"/>
                          </a:solidFill>
                          <a:effectLst/>
                          <a:latin typeface="Helvetica Neue"/>
                        </a:rPr>
                        <a:t>天王星</a:t>
                      </a:r>
                    </a:p>
                  </a:txBody>
                  <a:tcPr anchor="ctr"/>
                </a:tc>
                <a:tc>
                  <a:txBody>
                    <a:bodyPr/>
                    <a:lstStyle/>
                    <a:p>
                      <a:pPr algn="ctr"/>
                      <a:r>
                        <a:rPr lang="en-US" altLang="zh-CN" dirty="0">
                          <a:solidFill>
                            <a:schemeClr val="tx1"/>
                          </a:solidFill>
                          <a:effectLst/>
                          <a:latin typeface="Helvetica Neue"/>
                        </a:rPr>
                        <a:t>19.19</a:t>
                      </a:r>
                    </a:p>
                  </a:txBody>
                  <a:tcPr anchor="ctr"/>
                </a:tc>
                <a:tc>
                  <a:txBody>
                    <a:bodyPr/>
                    <a:lstStyle/>
                    <a:p>
                      <a:pPr algn="ctr"/>
                      <a:r>
                        <a:rPr lang="en-US" altLang="zh-CN" dirty="0">
                          <a:solidFill>
                            <a:schemeClr val="tx1"/>
                          </a:solidFill>
                          <a:effectLst/>
                          <a:latin typeface="Helvetica Neue"/>
                        </a:rPr>
                        <a:t>84.01</a:t>
                      </a:r>
                    </a:p>
                  </a:txBody>
                  <a:tcPr anchor="ctr"/>
                </a:tc>
                <a:extLst>
                  <a:ext uri="{0D108BD9-81ED-4DB2-BD59-A6C34878D82A}">
                    <a16:rowId xmlns:a16="http://schemas.microsoft.com/office/drawing/2014/main" val="757545771"/>
                  </a:ext>
                </a:extLst>
              </a:tr>
              <a:tr h="526709">
                <a:tc>
                  <a:txBody>
                    <a:bodyPr/>
                    <a:lstStyle/>
                    <a:p>
                      <a:pPr algn="ctr"/>
                      <a:r>
                        <a:rPr lang="zh-CN" altLang="en-US">
                          <a:solidFill>
                            <a:schemeClr val="tx1"/>
                          </a:solidFill>
                          <a:effectLst/>
                          <a:latin typeface="Helvetica Neue"/>
                        </a:rPr>
                        <a:t>海王星</a:t>
                      </a:r>
                    </a:p>
                  </a:txBody>
                  <a:tcPr anchor="ctr"/>
                </a:tc>
                <a:tc>
                  <a:txBody>
                    <a:bodyPr/>
                    <a:lstStyle/>
                    <a:p>
                      <a:pPr algn="ctr"/>
                      <a:r>
                        <a:rPr lang="en-US" altLang="zh-CN" dirty="0">
                          <a:solidFill>
                            <a:schemeClr val="tx1"/>
                          </a:solidFill>
                          <a:effectLst/>
                          <a:latin typeface="Helvetica Neue"/>
                        </a:rPr>
                        <a:t>30.07</a:t>
                      </a:r>
                    </a:p>
                  </a:txBody>
                  <a:tcPr anchor="ctr"/>
                </a:tc>
                <a:tc>
                  <a:txBody>
                    <a:bodyPr/>
                    <a:lstStyle/>
                    <a:p>
                      <a:pPr algn="ctr"/>
                      <a:r>
                        <a:rPr lang="en-US" altLang="zh-CN" dirty="0">
                          <a:solidFill>
                            <a:schemeClr val="tx1"/>
                          </a:solidFill>
                          <a:effectLst/>
                          <a:latin typeface="Helvetica Neue"/>
                        </a:rPr>
                        <a:t>164.8</a:t>
                      </a:r>
                    </a:p>
                  </a:txBody>
                  <a:tcPr anchor="ctr"/>
                </a:tc>
                <a:extLst>
                  <a:ext uri="{0D108BD9-81ED-4DB2-BD59-A6C34878D82A}">
                    <a16:rowId xmlns:a16="http://schemas.microsoft.com/office/drawing/2014/main" val="3628158378"/>
                  </a:ext>
                </a:extLst>
              </a:tr>
            </a:tbl>
          </a:graphicData>
        </a:graphic>
      </p:graphicFrame>
      <p:graphicFrame>
        <p:nvGraphicFramePr>
          <p:cNvPr id="6" name="图表 5">
            <a:extLst>
              <a:ext uri="{FF2B5EF4-FFF2-40B4-BE49-F238E27FC236}">
                <a16:creationId xmlns:a16="http://schemas.microsoft.com/office/drawing/2014/main" id="{8FB9379C-3BB3-4F99-89B1-FEA25E3C0014}"/>
              </a:ext>
            </a:extLst>
          </p:cNvPr>
          <p:cNvGraphicFramePr/>
          <p:nvPr>
            <p:extLst>
              <p:ext uri="{D42A27DB-BD31-4B8C-83A1-F6EECF244321}">
                <p14:modId xmlns:p14="http://schemas.microsoft.com/office/powerpoint/2010/main" val="1978016811"/>
              </p:ext>
            </p:extLst>
          </p:nvPr>
        </p:nvGraphicFramePr>
        <p:xfrm>
          <a:off x="6096000" y="3857625"/>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0025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303689B-6239-4D0A-B675-26A5EB5EB338}"/>
              </a:ext>
            </a:extLst>
          </p:cNvPr>
          <p:cNvSpPr txBox="1"/>
          <p:nvPr/>
        </p:nvSpPr>
        <p:spPr>
          <a:xfrm>
            <a:off x="4734088" y="2875002"/>
            <a:ext cx="2723823" cy="1107996"/>
          </a:xfrm>
          <a:prstGeom prst="rect">
            <a:avLst/>
          </a:prstGeom>
          <a:noFill/>
        </p:spPr>
        <p:txBody>
          <a:bodyPr wrap="none" rtlCol="0">
            <a:spAutoFit/>
          </a:bodyPr>
          <a:lstStyle/>
          <a:p>
            <a:r>
              <a:rPr lang="zh-CN" altLang="en-US" sz="6600" dirty="0"/>
              <a:t>谢谢！</a:t>
            </a:r>
          </a:p>
        </p:txBody>
      </p:sp>
    </p:spTree>
    <p:extLst>
      <p:ext uri="{BB962C8B-B14F-4D97-AF65-F5344CB8AC3E}">
        <p14:creationId xmlns:p14="http://schemas.microsoft.com/office/powerpoint/2010/main" val="41243769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2121"/>
  <p:tag name="KSO_WM_UNIT_PLACING_PICTURE_USER_VIEWPORT" val="{&quot;height&quot;:9525,&quot;width&quot;:9120}"/>
</p:tagLst>
</file>

<file path=ppt/tags/tag2.xml><?xml version="1.0" encoding="utf-8"?>
<p:tagLst xmlns:a="http://schemas.openxmlformats.org/drawingml/2006/main" xmlns:r="http://schemas.openxmlformats.org/officeDocument/2006/relationships" xmlns:p="http://schemas.openxmlformats.org/presentationml/2006/main">
  <p:tag name="AS_UNIQUEID" val="402"/>
  <p:tag name="KSO_WM_BEAUTIFY_FLAG" val=""/>
  <p:tag name="KSO_WM_UNIT_PLACING_PICTURE_USER_VIEWPORT" val="{&quot;height&quot;:4130,&quot;width&quot;:4795}"/>
</p:tagLst>
</file>

<file path=ppt/tags/tag3.xml><?xml version="1.0" encoding="utf-8"?>
<p:tagLst xmlns:a="http://schemas.openxmlformats.org/drawingml/2006/main" xmlns:r="http://schemas.openxmlformats.org/officeDocument/2006/relationships" xmlns:p="http://schemas.openxmlformats.org/presentationml/2006/main">
  <p:tag name="AS_UNIQUEID" val="2138"/>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4.xml><?xml version="1.0" encoding="utf-8"?>
<p:tagLst xmlns:a="http://schemas.openxmlformats.org/drawingml/2006/main" xmlns:r="http://schemas.openxmlformats.org/officeDocument/2006/relationships" xmlns:p="http://schemas.openxmlformats.org/presentationml/2006/main">
  <p:tag name="AS_UNIQUEID" val="2118"/>
</p:tagLst>
</file>

<file path=ppt/tags/tag5.xml><?xml version="1.0" encoding="utf-8"?>
<p:tagLst xmlns:a="http://schemas.openxmlformats.org/drawingml/2006/main" xmlns:r="http://schemas.openxmlformats.org/officeDocument/2006/relationships" xmlns:p="http://schemas.openxmlformats.org/presentationml/2006/main">
  <p:tag name="AS_UNIQUEID" val="2148"/>
  <p:tag name="KSO_WM_UNIT_PLACING_PICTURE_USER_VIEWPORT" val="{&quot;height&quot;:9525,&quot;width&quot;:9120}"/>
</p:tagLst>
</file>

<file path=ppt/tags/tag6.xml><?xml version="1.0" encoding="utf-8"?>
<p:tagLst xmlns:a="http://schemas.openxmlformats.org/drawingml/2006/main" xmlns:r="http://schemas.openxmlformats.org/officeDocument/2006/relationships" xmlns:p="http://schemas.openxmlformats.org/presentationml/2006/main">
  <p:tag name="AS_UNIQUEID" val="2063"/>
</p:tagLst>
</file>

<file path=ppt/tags/tag7.xml><?xml version="1.0" encoding="utf-8"?>
<p:tagLst xmlns:a="http://schemas.openxmlformats.org/drawingml/2006/main" xmlns:r="http://schemas.openxmlformats.org/officeDocument/2006/relationships" xmlns:p="http://schemas.openxmlformats.org/presentationml/2006/main">
  <p:tag name="AS_UNIQUEID" val="2064"/>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AS_UNIQUEID" val="2066"/>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AS_UNIQUEID" val="2063"/>
</p:tagLst>
</file>

<file path=ppt/tags/tag10.xml><?xml version="1.0" encoding="utf-8"?>
<p:tagLst xmlns:a="http://schemas.openxmlformats.org/drawingml/2006/main" xmlns:r="http://schemas.openxmlformats.org/officeDocument/2006/relationships" xmlns:p="http://schemas.openxmlformats.org/presentationml/2006/main">
  <p:tag name="AS_UNIQUEID" val="1907"/>
</p:tagLst>
</file>

<file path=ppt/tags/tag11.xml><?xml version="1.0" encoding="utf-8"?>
<p:tagLst xmlns:a="http://schemas.openxmlformats.org/drawingml/2006/main" xmlns:r="http://schemas.openxmlformats.org/officeDocument/2006/relationships" xmlns:p="http://schemas.openxmlformats.org/presentationml/2006/main">
  <p:tag name="AS_UNIQUEID" val="2093"/>
</p:tagLst>
</file>

<file path=ppt/tags/tag12.xml><?xml version="1.0" encoding="utf-8"?>
<p:tagLst xmlns:a="http://schemas.openxmlformats.org/drawingml/2006/main" xmlns:r="http://schemas.openxmlformats.org/officeDocument/2006/relationships" xmlns:p="http://schemas.openxmlformats.org/presentationml/2006/main">
  <p:tag name="AS_UNIQUEID" val="2064"/>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AS_UNIQUEID" val="2066"/>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AS_UNIQUEID" val="2214"/>
</p:tagLst>
</file>

<file path=ppt/tags/tag15.xml><?xml version="1.0" encoding="utf-8"?>
<p:tagLst xmlns:a="http://schemas.openxmlformats.org/drawingml/2006/main" xmlns:r="http://schemas.openxmlformats.org/officeDocument/2006/relationships" xmlns:p="http://schemas.openxmlformats.org/presentationml/2006/main">
  <p:tag name="AS_UNIQUEID" val="1893"/>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AS_UNIQUEID" val="2215"/>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AS_UNIQUEID" val="2217"/>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AS_UNIQUEID" val="2064"/>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jrqj0zkw">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5326</TotalTime>
  <Words>1043</Words>
  <Application>Microsoft Office PowerPoint</Application>
  <PresentationFormat>宽屏</PresentationFormat>
  <Paragraphs>181</Paragraphs>
  <Slides>17</Slides>
  <Notes>11</Notes>
  <HiddenSlides>0</HiddenSlides>
  <MMClips>3</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17</vt:i4>
      </vt:variant>
    </vt:vector>
  </HeadingPairs>
  <TitlesOfParts>
    <vt:vector size="34" baseType="lpstr">
      <vt:lpstr>Helvetica Neue</vt:lpstr>
      <vt:lpstr>MS Mincho</vt:lpstr>
      <vt:lpstr>等线</vt:lpstr>
      <vt:lpstr>黑体</vt:lpstr>
      <vt:lpstr>华文楷体</vt:lpstr>
      <vt:lpstr>楷体</vt:lpstr>
      <vt:lpstr>思源黑体</vt:lpstr>
      <vt:lpstr>宋体</vt:lpstr>
      <vt:lpstr>微软雅黑</vt:lpstr>
      <vt:lpstr>字魂58号-创中黑</vt:lpstr>
      <vt:lpstr>Arial</vt:lpstr>
      <vt:lpstr>Calibri Light</vt:lpstr>
      <vt:lpstr>Cambria Math</vt:lpstr>
      <vt:lpstr>Segoe UI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Lenovo</cp:lastModifiedBy>
  <cp:revision>205</cp:revision>
  <dcterms:created xsi:type="dcterms:W3CDTF">2024-05-22T02:54:45Z</dcterms:created>
  <dcterms:modified xsi:type="dcterms:W3CDTF">2025-11-05T23:54:08Z</dcterms:modified>
</cp:coreProperties>
</file>