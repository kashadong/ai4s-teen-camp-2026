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410" r:id="rId3"/>
    <p:sldId id="739" r:id="rId5"/>
    <p:sldId id="809" r:id="rId6"/>
    <p:sldId id="806" r:id="rId7"/>
    <p:sldId id="807" r:id="rId8"/>
    <p:sldId id="808" r:id="rId9"/>
    <p:sldId id="792" r:id="rId10"/>
    <p:sldId id="746" r:id="rId11"/>
    <p:sldId id="810" r:id="rId12"/>
    <p:sldId id="812" r:id="rId13"/>
    <p:sldId id="813" r:id="rId14"/>
    <p:sldId id="815" r:id="rId15"/>
    <p:sldId id="811" r:id="rId16"/>
    <p:sldId id="816" r:id="rId17"/>
    <p:sldId id="817" r:id="rId18"/>
    <p:sldId id="818" r:id="rId19"/>
    <p:sldId id="819" r:id="rId20"/>
    <p:sldId id="820" r:id="rId21"/>
    <p:sldId id="821" r:id="rId22"/>
    <p:sldId id="826" r:id="rId23"/>
    <p:sldId id="822" r:id="rId24"/>
    <p:sldId id="824" r:id="rId25"/>
    <p:sldId id="827" r:id="rId26"/>
    <p:sldId id="828" r:id="rId27"/>
    <p:sldId id="829" r:id="rId28"/>
    <p:sldId id="830" r:id="rId29"/>
    <p:sldId id="831" r:id="rId30"/>
    <p:sldId id="832" r:id="rId31"/>
    <p:sldId id="835" r:id="rId32"/>
    <p:sldId id="834" r:id="rId33"/>
    <p:sldId id="836" r:id="rId34"/>
    <p:sldId id="837" r:id="rId35"/>
    <p:sldId id="839" r:id="rId36"/>
    <p:sldId id="838" r:id="rId37"/>
    <p:sldId id="398" r:id="rId38"/>
  </p:sldIdLst>
  <p:sldSz cx="12192000" cy="6858000"/>
  <p:notesSz cx="6858000" cy="9144000"/>
  <p:custDataLst>
    <p:tags r:id="rId47"/>
  </p:custDataLst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95A2"/>
    <a:srgbClr val="F9D448"/>
    <a:srgbClr val="E5EDDD"/>
    <a:srgbClr val="D9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A107856-5554-42FB-B03E-39F5DBC370B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86459" autoAdjust="0"/>
  </p:normalViewPr>
  <p:slideViewPr>
    <p:cSldViewPr snapToGrid="0">
      <p:cViewPr varScale="1">
        <p:scale>
          <a:sx n="98" d="100"/>
          <a:sy n="98" d="100"/>
        </p:scale>
        <p:origin x="90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3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4.xml"/><Relationship Id="rId46" Type="http://schemas.openxmlformats.org/officeDocument/2006/relationships/customXml" Target="../customXml/item3.xml"/><Relationship Id="rId45" Type="http://schemas.openxmlformats.org/officeDocument/2006/relationships/customXml" Target="../customXml/item2.xml"/><Relationship Id="rId44" Type="http://schemas.openxmlformats.org/officeDocument/2006/relationships/customXml" Target="../customXml/item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F32C39B4-1C2F-46CB-8CDC-53823627074F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E2C230DF-5933-439D-898F-38E9AC9BA688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页眉占位符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526AB7C-14EB-4F76-BC62-F231A270ACC9}" type="datetime1">
              <a:rPr lang="en-US" altLang="zh-CN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89C7E07-3C67-C64C-8DA0-0404F6303970}" type="slidenum">
              <a:rPr lang="en-US" altLang="zh-CN" noProof="0" smtClean="0"/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问题一：复述题意，不许</a:t>
            </a:r>
            <a:r>
              <a:rPr lang="zh-CN" altLang="en-US" dirty="0"/>
              <a:t>看屏幕！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问题一：复述题意，不许</a:t>
            </a:r>
            <a:r>
              <a:rPr lang="zh-CN" altLang="en-US" dirty="0"/>
              <a:t>看屏幕！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线性回归是一种统计模型，而最小二乘法是用来求解这个模型参数的一种常用方法。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线性回归是一种统计模型，而最小二乘法是用来求解这个模型参数的一种常用方法。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抽样是随机的。如果数据中外点（outliers）的比例很高，那么单次抽样抽到“纯净”样本的概率就会很低。n_iterations 太小意味着探索模型空间的机会不足，算法很可能在找到真正的最佳模型之前就提前终止了。</a:t>
            </a:r>
            <a:endParaRPr lang="zh-CN" altLang="en-US" dirty="0"/>
          </a:p>
          <a:p>
            <a:r>
              <a:rPr lang="zh-CN" altLang="en-US" dirty="0"/>
              <a:t>根据概率论，只要迭代次数足够多，抽中一个“纯净”样本集的事件几乎必然会发生。只要发生过一次，这个“好”模型就能获得大量内点的支持，从而在“投票”中胜出，被记录为最佳模型。后续的迭代即使运气不好，也很难再找到一个能获得更多内点支持的“坏”模型。</a:t>
            </a:r>
            <a:endParaRPr lang="zh-CN" altLang="en-US" dirty="0"/>
          </a:p>
          <a:p>
            <a:r>
              <a:rPr lang="zh-CN" altLang="en-US" dirty="0"/>
              <a:t>是一个在 “结果质量” 与 “计算效率” 之间的权衡。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RANSAC本质上是一个概率性算法 (Probabilistic Algorithm) ，而不是确定性算法 (Deterministic Algorithm)。它的成功依赖于“运气”，即在有限的随机抽样中，能否抽到一个“纯净”的样本集。RANSAC算法的强大之处不在于它能“保证”找到正确答案，而在于它能在现实世界中充满噪声和异常值的、极其混乱的数据里，以极高的概率找到那个“最一致”、“最可信”的潜在模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0D5AE-1421-4AD1-8085-7F98CA6F95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A89C7E07-3C67-C64C-8DA0-0404F6303970}" type="slidenum">
              <a:rPr lang="en-US" altLang="zh-CN" smtClean="0"/>
            </a:fld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32608" y="411479"/>
            <a:ext cx="6863696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grpSp>
        <p:nvGrpSpPr>
          <p:cNvPr id="9" name="组 8"/>
          <p:cNvGrpSpPr/>
          <p:nvPr userDrawn="1"/>
        </p:nvGrpSpPr>
        <p:grpSpPr bwMode="auto">
          <a:xfrm>
            <a:off x="1" y="1757966"/>
            <a:ext cx="5100033" cy="5100033"/>
            <a:chOff x="0" y="12289"/>
            <a:chExt cx="3550" cy="3551"/>
          </a:xfrm>
        </p:grpSpPr>
        <p:sp>
          <p:nvSpPr>
            <p:cNvPr id="10" name="任意多边形(F)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/>
          <p:cNvCxnSpPr/>
          <p:nvPr userDrawn="1"/>
        </p:nvCxnSpPr>
        <p:spPr>
          <a:xfrm>
            <a:off x="4932608" y="3954200"/>
            <a:ext cx="35103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 userDrawn="1"/>
        </p:nvGrpSpPr>
        <p:grpSpPr>
          <a:xfrm>
            <a:off x="9970135" y="6135370"/>
            <a:ext cx="1986915" cy="516255"/>
            <a:chOff x="10870401" y="37027"/>
            <a:chExt cx="1230243" cy="322209"/>
          </a:xfrm>
        </p:grpSpPr>
        <p:pic>
          <p:nvPicPr>
            <p:cNvPr id="18" name="Picture 1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870401" y="37027"/>
              <a:ext cx="322209" cy="322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1" descr="D:\我的工作文件（新）\主题背景ppt\校徽 logo\首师大附中新校徽！！\首都师大附中-校名副本1.jp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6555" y="91109"/>
              <a:ext cx="884089" cy="218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 5"/>
          <p:cNvGrpSpPr/>
          <p:nvPr userDrawn="1"/>
        </p:nvGrpSpPr>
        <p:grpSpPr>
          <a:xfrm>
            <a:off x="9868535" y="0"/>
            <a:ext cx="2323465" cy="1289685"/>
            <a:chOff x="5612972" y="1"/>
            <a:chExt cx="6615961" cy="3672246"/>
          </a:xfrm>
        </p:grpSpPr>
        <p:sp>
          <p:nvSpPr>
            <p:cNvPr id="7" name="自选图形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8" name="任意多边形(F)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9" name="任意多边形(F)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0" name="任意多边形(F) 9"/>
            <p:cNvSpPr/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594360" y="189573"/>
            <a:ext cx="6787747" cy="967248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3600" b="1" i="0" spc="5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sp>
        <p:nvSpPr>
          <p:cNvPr id="2" name="内容占位符 5"/>
          <p:cNvSpPr>
            <a:spLocks noGrp="1"/>
          </p:cNvSpPr>
          <p:nvPr>
            <p:ph sz="quarter" idx="13" hasCustomPrompt="1"/>
          </p:nvPr>
        </p:nvSpPr>
        <p:spPr>
          <a:xfrm>
            <a:off x="594359" y="1526146"/>
            <a:ext cx="6787747" cy="4464289"/>
          </a:xfrm>
        </p:spPr>
        <p:txBody>
          <a:bodyPr lIns="0" tIns="228600" rIns="0" bIns="0" rtlCol="0">
            <a:normAutofit/>
          </a:bodyPr>
          <a:lstStyle>
            <a:lvl1pPr marL="283210" indent="-283210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8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indent="-283210">
              <a:lnSpc>
                <a:spcPts val="3500"/>
              </a:lnSpc>
              <a:spcBef>
                <a:spcPts val="6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210">
              <a:lnSpc>
                <a:spcPts val="3500"/>
              </a:lnSpc>
              <a:spcBef>
                <a:spcPts val="18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210">
              <a:lnSpc>
                <a:spcPts val="3500"/>
              </a:lnSpc>
              <a:spcBef>
                <a:spcPts val="18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210">
              <a:lnSpc>
                <a:spcPts val="3500"/>
              </a:lnSpc>
              <a:spcBef>
                <a:spcPts val="18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43" name="灯片编号占位符 42"/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2" name="日期占位符 41"/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议程​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594360" y="189573"/>
            <a:ext cx="6787747" cy="967248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3600" b="1" i="0" spc="5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sp>
        <p:nvSpPr>
          <p:cNvPr id="2" name="内容占位符 5"/>
          <p:cNvSpPr>
            <a:spLocks noGrp="1"/>
          </p:cNvSpPr>
          <p:nvPr>
            <p:ph sz="quarter" idx="13" hasCustomPrompt="1"/>
          </p:nvPr>
        </p:nvSpPr>
        <p:spPr>
          <a:xfrm>
            <a:off x="594359" y="1526146"/>
            <a:ext cx="6787747" cy="4464289"/>
          </a:xfrm>
        </p:spPr>
        <p:txBody>
          <a:bodyPr lIns="0" tIns="228600" rIns="0" bIns="0" rtlCol="0">
            <a:normAutofit/>
          </a:bodyPr>
          <a:lstStyle>
            <a:lvl1pPr marL="283210" indent="-283210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8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indent="-283210">
              <a:lnSpc>
                <a:spcPts val="3500"/>
              </a:lnSpc>
              <a:spcBef>
                <a:spcPts val="6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210">
              <a:lnSpc>
                <a:spcPts val="3500"/>
              </a:lnSpc>
              <a:spcBef>
                <a:spcPts val="18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210">
              <a:lnSpc>
                <a:spcPts val="3500"/>
              </a:lnSpc>
              <a:spcBef>
                <a:spcPts val="18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210">
              <a:lnSpc>
                <a:spcPts val="3500"/>
              </a:lnSpc>
              <a:spcBef>
                <a:spcPts val="1800"/>
              </a:spcBef>
              <a:defRPr lang="zh-CN"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43" name="灯片编号占位符 42"/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2" name="日期占位符 41"/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grpSp>
        <p:nvGrpSpPr>
          <p:cNvPr id="3" name="组 5"/>
          <p:cNvGrpSpPr/>
          <p:nvPr userDrawn="1"/>
        </p:nvGrpSpPr>
        <p:grpSpPr>
          <a:xfrm>
            <a:off x="9868535" y="0"/>
            <a:ext cx="2323465" cy="1289685"/>
            <a:chOff x="5612972" y="1"/>
            <a:chExt cx="6615961" cy="3672246"/>
          </a:xfrm>
        </p:grpSpPr>
        <p:sp>
          <p:nvSpPr>
            <p:cNvPr id="5" name="自选图形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5" name="任意多边形(F) 9"/>
            <p:cNvSpPr/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6" name="任意多边形(F)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  <a:endParaRPr lang="zh-CN" dirty="0"/>
          </a:p>
        </p:txBody>
      </p:sp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6000" b="1" i="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sp>
        <p:nvSpPr>
          <p:cNvPr id="7" name="长方形 6"/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latin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 </a:t>
            </a:r>
            <a:endParaRPr lang="zh-CN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单击图标以添加图片</a:t>
            </a:r>
            <a:endParaRPr lang="zh-CN"/>
          </a:p>
        </p:txBody>
      </p:sp>
      <p:sp>
        <p:nvSpPr>
          <p:cNvPr id="18" name="文本占位符 29"/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/>
              <a:t>单击此处添加文本</a:t>
            </a:r>
            <a:endParaRPr lang="zh-CN"/>
          </a:p>
        </p:txBody>
      </p:sp>
      <p:cxnSp>
        <p:nvCxnSpPr>
          <p:cNvPr id="7" name="直接连接符​​(S) 6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 userDrawn="1"/>
        </p:nvGrpSpPr>
        <p:grpSpPr>
          <a:xfrm>
            <a:off x="9970135" y="6135370"/>
            <a:ext cx="1986915" cy="516255"/>
            <a:chOff x="10870401" y="37027"/>
            <a:chExt cx="1230243" cy="322209"/>
          </a:xfrm>
        </p:grpSpPr>
        <p:pic>
          <p:nvPicPr>
            <p:cNvPr id="3" name="Picture 1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870401" y="37027"/>
              <a:ext cx="322209" cy="322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1" descr="D:\我的工作文件（新）\主题背景ppt\校徽 logo\首师大附中新校徽！！\首都师大附中-校名副本1.jp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6555" y="91109"/>
              <a:ext cx="884089" cy="218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汇总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​​(S) 8"/>
          <p:cNvCxnSpPr/>
          <p:nvPr userDrawn="1"/>
        </p:nvCxnSpPr>
        <p:spPr>
          <a:xfrm>
            <a:off x="594360" y="154515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组 9"/>
          <p:cNvGrpSpPr/>
          <p:nvPr userDrawn="1"/>
        </p:nvGrpSpPr>
        <p:grpSpPr bwMode="auto">
          <a:xfrm rot="16200000" flipV="1">
            <a:off x="0" y="4752304"/>
            <a:ext cx="2107054" cy="2107054"/>
            <a:chOff x="0" y="12289"/>
            <a:chExt cx="3550" cy="3551"/>
          </a:xfrm>
        </p:grpSpPr>
        <p:sp>
          <p:nvSpPr>
            <p:cNvPr id="11" name="任意多边形(F)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32" name="标题 1"/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22609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sp>
        <p:nvSpPr>
          <p:cNvPr id="2" name="内容占位符 5"/>
          <p:cNvSpPr>
            <a:spLocks noGrp="1"/>
          </p:cNvSpPr>
          <p:nvPr>
            <p:ph sz="quarter" idx="13" hasCustomPrompt="1"/>
          </p:nvPr>
        </p:nvSpPr>
        <p:spPr>
          <a:xfrm>
            <a:off x="1040693" y="1984891"/>
            <a:ext cx="10427408" cy="3996445"/>
          </a:xfrm>
        </p:spPr>
        <p:txBody>
          <a:bodyPr lIns="0" tIns="228600" rIns="0" bIns="0" rtlCol="0">
            <a:normAutofit/>
          </a:bodyPr>
          <a:lstStyle>
            <a:lvl1pPr marL="283210" indent="-283210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grpSp>
        <p:nvGrpSpPr>
          <p:cNvPr id="9" name="组 8"/>
          <p:cNvGrpSpPr/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任意多边形(F)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cxnSp>
        <p:nvCxnSpPr>
          <p:cNvPr id="13" name="直接连接符​​(S) 12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占位符 29"/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9970135" y="6135370"/>
            <a:ext cx="1986915" cy="516255"/>
            <a:chOff x="10870401" y="37027"/>
            <a:chExt cx="1230243" cy="322209"/>
          </a:xfrm>
        </p:grpSpPr>
        <p:pic>
          <p:nvPicPr>
            <p:cNvPr id="3" name="Picture 1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870401" y="37027"/>
              <a:ext cx="322209" cy="322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1" descr="D:\我的工作文件（新）\主题背景ppt\校徽 logo\首师大附中新校徽！！\首都师大附中-校名副本1.jp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6555" y="91109"/>
              <a:ext cx="884089" cy="218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sp>
        <p:nvSpPr>
          <p:cNvPr id="2" name="内容占位符 5"/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21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9436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3" name="内容占位符 5"/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21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4864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自选图形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8" name="任意多边形(F) 9"/>
            <p:cNvSpPr/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9" name="任意多边形(F)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cxnSp>
        <p:nvCxnSpPr>
          <p:cNvPr id="4" name="直接连接符​​(S) 3"/>
          <p:cNvCxnSpPr/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/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zh-CN" sz="2000"/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endParaRPr lang="zh-CN" dirty="0"/>
          </a:p>
        </p:txBody>
      </p:sp>
      <p:sp>
        <p:nvSpPr>
          <p:cNvPr id="2" name="内容占位符 5"/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8321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54864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82296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005840"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图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sp>
        <p:nvSpPr>
          <p:cNvPr id="3" name="内容占位符 5"/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indent="-283210"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cxnSp>
        <p:nvCxnSpPr>
          <p:cNvPr id="4" name="直接连接符​​(S) 3"/>
          <p:cNvCxnSpPr/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图片占位符 1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单击图标以添加图片</a:t>
            </a:r>
            <a:endParaRPr 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表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任意多边形(F) 13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5" name="任意多边形(F) 14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7" name="任意多边形(F) 15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cxnSp>
        <p:nvCxnSpPr>
          <p:cNvPr id="4" name="直接连接符​​(S) 3"/>
          <p:cNvCxnSpPr/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内容占位符 5"/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任意多边形(F)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3" name="任意多边形(F)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4" name="任意多边形(F)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cxnSp>
        <p:nvCxnSpPr>
          <p:cNvPr id="4" name="直接连接符​​(S)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内容占位符 5"/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6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7" name="内容占位符 5"/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spcBef>
                <a:spcPts val="1800"/>
              </a:spcBef>
              <a:defRPr lang="zh-CN"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dirty="0"/>
              <a:t>单击此处添加内容</a:t>
            </a:r>
            <a:endParaRPr lang="zh-CN" dirty="0"/>
          </a:p>
          <a:p>
            <a:pPr lvl="1" rtl="0"/>
            <a:r>
              <a:rPr lang="zh-CN" dirty="0"/>
              <a:t>第二级</a:t>
            </a:r>
            <a:endParaRPr lang="zh-CN" dirty="0"/>
          </a:p>
          <a:p>
            <a:pPr lvl="2" rtl="0"/>
            <a:r>
              <a:rPr lang="zh-CN" dirty="0"/>
              <a:t>第三级</a:t>
            </a:r>
            <a:endParaRPr lang="zh-CN" dirty="0"/>
          </a:p>
          <a:p>
            <a:pPr lvl="3" rtl="0"/>
            <a:r>
              <a:rPr lang="zh-CN" dirty="0"/>
              <a:t>第四级</a:t>
            </a:r>
            <a:endParaRPr lang="zh-CN" dirty="0"/>
          </a:p>
          <a:p>
            <a:pPr lvl="4" rtl="0"/>
            <a:r>
              <a:rPr lang="zh-CN" dirty="0"/>
              <a:t>第五级</a:t>
            </a:r>
            <a:endParaRPr lang="zh-CN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lang="zh-CN"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sp>
        <p:nvSpPr>
          <p:cNvPr id="9" name="表格占位符 2"/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 rtlCol="0">
            <a:normAutofit/>
          </a:bodyPr>
          <a:lstStyle>
            <a:lvl1pPr>
              <a:defRPr lang="zh-CN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单击图标以添加表格</a:t>
            </a:r>
            <a:endParaRPr 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fld id="{294A09A9-5501-47C1-A89A-A340965A2BE2}" type="slidenum">
              <a:rPr lang="en-US" altLang="zh-CN" smtClean="0"/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4" name="直接连接符​​(S)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 algn="l">
              <a:lnSpc>
                <a:spcPct val="80000"/>
              </a:lnSpc>
              <a:defRPr lang="zh-CN"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dirty="0"/>
              <a:t>单击此处添加标题 </a:t>
            </a:r>
            <a:endParaRPr lang="zh-CN" dirty="0"/>
          </a:p>
        </p:txBody>
      </p:sp>
      <p:grpSp>
        <p:nvGrpSpPr>
          <p:cNvPr id="9" name="组 8"/>
          <p:cNvGrpSpPr/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任意多边形(F)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1" name="任意多边形(F)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  <p:sp>
          <p:nvSpPr>
            <p:cNvPr id="12" name="任意多边形(F)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>
                <a:latin typeface="Microsoft YaHei UI" panose="020B0503020204020204" pitchFamily="34" charset="-122"/>
              </a:endParaRPr>
            </a:p>
          </p:txBody>
        </p:sp>
      </p:grpSp>
      <p:sp>
        <p:nvSpPr>
          <p:cNvPr id="18" name="文本占位符 29"/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rmAutofit/>
          </a:bodyPr>
          <a:lstStyle>
            <a:lvl1pPr marL="0" indent="0">
              <a:buNone/>
              <a:defRPr lang="zh-CN" sz="2400" b="1" i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zh-CN" sz="4000"/>
            </a:lvl2pPr>
            <a:lvl3pPr>
              <a:defRPr lang="zh-CN" sz="4000"/>
            </a:lvl3pPr>
            <a:lvl4pPr>
              <a:defRPr lang="zh-CN" sz="4000"/>
            </a:lvl4pPr>
            <a:lvl5pPr>
              <a:defRPr lang="zh-CN" sz="4000"/>
            </a:lvl5pPr>
          </a:lstStyle>
          <a:p>
            <a:pPr lvl="0" rtl="0"/>
            <a:r>
              <a:rPr lang="zh-CN" dirty="0"/>
              <a:t>单击此处添加文本</a:t>
            </a:r>
            <a:endParaRPr lang="zh-CN" dirty="0"/>
          </a:p>
        </p:txBody>
      </p:sp>
      <p:cxnSp>
        <p:nvCxnSpPr>
          <p:cNvPr id="4" name="直接连接符​​(S) 3"/>
          <p:cNvCxnSpPr/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12" name="标题占位符 11"/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0" name="日期占位符 3"/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ea typeface="Microsoft YaHei UI" panose="020B0503020204020204" pitchFamily="34" charset="-122"/>
            </a:endParaRPr>
          </a:p>
        </p:txBody>
      </p:sp>
      <p:sp>
        <p:nvSpPr>
          <p:cNvPr id="32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zh-CN" sz="11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94A09A9-5501-47C1-A89A-A340965A2BE2}" type="slidenum">
              <a:rPr lang="en-US" altLang="zh-CN" noProof="0" smtClean="0"/>
            </a:fld>
            <a:endParaRPr lang="zh-CN" altLang="en-US" noProof="0" dirty="0">
              <a:ea typeface="Microsoft YaHei UI" panose="020B0503020204020204" pitchFamily="34" charset="-122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zh-CN" sz="4400" b="1" i="0" kern="1200" spc="100" baseline="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8321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ebp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webp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hyperlink" Target="https://phet.colorado.edu/sims/html/least-squares-regression/latest/least-squares-regression_all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517900" y="411480"/>
            <a:ext cx="851789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algn="ctr" rtl="0">
              <a:lnSpc>
                <a:spcPct val="90000"/>
              </a:lnSpc>
            </a:pPr>
            <a:r>
              <a:rPr sz="5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神秘空间的引力规律（下）</a:t>
            </a:r>
            <a:endParaRPr sz="5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占位符 2"/>
          <p:cNvSpPr txBox="1"/>
          <p:nvPr/>
        </p:nvSpPr>
        <p:spPr>
          <a:xfrm>
            <a:off x="4939030" y="3831590"/>
            <a:ext cx="4602480" cy="1733550"/>
          </a:xfrm>
          <a:prstGeom prst="rect">
            <a:avLst/>
          </a:prstGeom>
        </p:spPr>
        <p:txBody>
          <a:bodyPr tIns="457200" rtlCol="0">
            <a:normAutofit/>
          </a:bodyPr>
          <a:lstStyle>
            <a:defPPr>
              <a:defRPr lang="zh-CN"/>
            </a:defPPr>
            <a:lvl1pPr marL="228600" indent="-28321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2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800"/>
              </a:lnSpc>
              <a:buNone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首都师范大学附属中学</a:t>
            </a:r>
            <a:endParaRPr altLang="en-US" sz="2400" b="1" dirty="0">
              <a:solidFill>
                <a:schemeClr val="tx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信息科技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李秉蔚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任务回顾</a:t>
            </a:r>
            <a:endParaRPr altLang="en-US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56970"/>
            <a:ext cx="9253855" cy="5426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任务回顾</a:t>
            </a:r>
            <a:endParaRPr altLang="en-US" dirty="0" smtClean="0"/>
          </a:p>
        </p:txBody>
      </p:sp>
      <p:sp>
        <p:nvSpPr>
          <p:cNvPr id="8" name="内容占位符 7"/>
          <p:cNvSpPr txBox="1"/>
          <p:nvPr/>
        </p:nvSpPr>
        <p:spPr>
          <a:xfrm>
            <a:off x="600075" y="1290320"/>
            <a:ext cx="10478770" cy="4470400"/>
          </a:xfrm>
          <a:prstGeom prst="rect">
            <a:avLst/>
          </a:prstGeom>
        </p:spPr>
        <p:txBody>
          <a:bodyPr vert="horz" lIns="0" tIns="228600" rIns="0" bIns="0" rtlCol="0">
            <a:normAutofit lnSpcReduction="10000"/>
          </a:bodyPr>
          <a:lstStyle>
            <a:defPPr>
              <a:defRPr lang="zh-CN"/>
            </a:defPPr>
            <a:lvl1pPr marL="283210" indent="-283210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8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83210" algn="l" defTabSz="914400" rtl="0" eaLnBrk="1" latinLnBrk="0" hangingPunct="1">
              <a:lnSpc>
                <a:spcPts val="3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互动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：复述题意，不许看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题目！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开普勒第三定律</a:t>
            </a: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是？</a:t>
            </a: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星系</a:t>
            </a: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系统被观测到的异常行为</a:t>
            </a: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是？</a:t>
            </a: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你的任务</a:t>
            </a: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是？</a:t>
            </a: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任务回顾</a:t>
            </a:r>
            <a:endParaRPr altLang="en-US" dirty="0" smtClean="0"/>
          </a:p>
        </p:txBody>
      </p:sp>
      <p:sp>
        <p:nvSpPr>
          <p:cNvPr id="8" name="内容占位符 7"/>
          <p:cNvSpPr txBox="1"/>
          <p:nvPr/>
        </p:nvSpPr>
        <p:spPr>
          <a:xfrm>
            <a:off x="600075" y="1290320"/>
            <a:ext cx="10478770" cy="4470400"/>
          </a:xfrm>
          <a:prstGeom prst="rect">
            <a:avLst/>
          </a:prstGeom>
        </p:spPr>
        <p:txBody>
          <a:bodyPr vert="horz" lIns="0" tIns="228600" rIns="0" bIns="0" rtlCol="0">
            <a:normAutofit lnSpcReduction="10000"/>
          </a:bodyPr>
          <a:lstStyle>
            <a:defPPr>
              <a:defRPr lang="zh-CN"/>
            </a:defPPr>
            <a:lvl1pPr marL="283210" indent="-283210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8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83210" algn="l" defTabSz="914400" rtl="0" eaLnBrk="1" latinLnBrk="0" hangingPunct="1">
              <a:lnSpc>
                <a:spcPts val="3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Jupyter Notebook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是什么？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打开形式：网页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功能：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500"/>
              </a:spcBef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编写、运行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500"/>
              </a:spcBef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编写解释说明，</a:t>
            </a: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支持使用LaTeX编写数学性说明</a:t>
            </a: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500"/>
              </a:spcBef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可以在代码块下方展示</a:t>
            </a: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运行结果</a:t>
            </a: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5391785" y="1290320"/>
            <a:ext cx="4829810" cy="2334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任务回顾</a:t>
            </a:r>
            <a:endParaRPr altLang="en-US" dirty="0" smtClean="0"/>
          </a:p>
        </p:txBody>
      </p:sp>
      <p:sp>
        <p:nvSpPr>
          <p:cNvPr id="8" name="内容占位符 7"/>
          <p:cNvSpPr txBox="1"/>
          <p:nvPr/>
        </p:nvSpPr>
        <p:spPr>
          <a:xfrm>
            <a:off x="600075" y="1290320"/>
            <a:ext cx="10478770" cy="4470400"/>
          </a:xfrm>
          <a:prstGeom prst="rect">
            <a:avLst/>
          </a:prstGeom>
        </p:spPr>
        <p:txBody>
          <a:bodyPr vert="horz" lIns="0" tIns="228600" rIns="0" bIns="0" rtlCol="0">
            <a:normAutofit lnSpcReduction="10000"/>
          </a:bodyPr>
          <a:lstStyle>
            <a:defPPr>
              <a:defRPr lang="zh-CN"/>
            </a:defPPr>
            <a:lvl1pPr marL="283210" indent="-283210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8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83210" algn="l" defTabSz="914400" rtl="0" eaLnBrk="1" latinLnBrk="0" hangingPunct="1">
              <a:lnSpc>
                <a:spcPts val="3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打开方式：</a:t>
            </a: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①打开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“Anaconda Prompt”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终端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②切换路径为桌面（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cd 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C:\Users\</a:t>
            </a:r>
            <a:r>
              <a:rPr lang="en-US" altLang="zh-CN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XXX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\Desktop）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③运行命令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jupyter notebook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任务回顾</a:t>
            </a:r>
            <a:endParaRPr altLang="en-US" dirty="0" smtClean="0"/>
          </a:p>
        </p:txBody>
      </p:sp>
      <p:sp>
        <p:nvSpPr>
          <p:cNvPr id="8" name="内容占位符 7"/>
          <p:cNvSpPr txBox="1"/>
          <p:nvPr/>
        </p:nvSpPr>
        <p:spPr>
          <a:xfrm>
            <a:off x="600075" y="1290320"/>
            <a:ext cx="10478770" cy="4470400"/>
          </a:xfrm>
          <a:prstGeom prst="rect">
            <a:avLst/>
          </a:prstGeom>
        </p:spPr>
        <p:txBody>
          <a:bodyPr vert="horz" lIns="0" tIns="228600" rIns="0" bIns="0" rtlCol="0">
            <a:normAutofit lnSpcReduction="10000"/>
          </a:bodyPr>
          <a:lstStyle>
            <a:defPPr>
              <a:defRPr lang="zh-CN"/>
            </a:defPPr>
            <a:lvl1pPr marL="283210" indent="-283210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8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83210" algn="l" defTabSz="914400" rtl="0" eaLnBrk="1" latinLnBrk="0" hangingPunct="1">
              <a:lnSpc>
                <a:spcPts val="3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" y="1332230"/>
            <a:ext cx="10902950" cy="4999990"/>
          </a:xfrm>
          <a:prstGeom prst="rect">
            <a:avLst/>
          </a:prstGeom>
        </p:spPr>
      </p:pic>
      <p:sp>
        <p:nvSpPr>
          <p:cNvPr id="4" name="内容占位符 7"/>
          <p:cNvSpPr txBox="1"/>
          <p:nvPr/>
        </p:nvSpPr>
        <p:spPr>
          <a:xfrm>
            <a:off x="5029200" y="3879850"/>
            <a:ext cx="5641340" cy="2298700"/>
          </a:xfrm>
          <a:prstGeom prst="rect">
            <a:avLst/>
          </a:prstGeom>
        </p:spPr>
        <p:txBody>
          <a:bodyPr vert="horz" lIns="0" tIns="228600" rIns="0" bIns="0" rtlCol="0">
            <a:normAutofit fontScale="90000"/>
          </a:bodyPr>
          <a:lstStyle>
            <a:defPPr>
              <a:defRPr lang="zh-CN"/>
            </a:defPPr>
            <a:lvl1pPr marL="283210" indent="-283210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zh-CN" sz="2800" b="1" i="0" kern="1200" dirty="0">
                <a:solidFill>
                  <a:schemeClr val="tx2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83210" algn="l" defTabSz="914400" rtl="0" eaLnBrk="1" latinLnBrk="0" hangingPunct="1">
              <a:lnSpc>
                <a:spcPts val="35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83210" algn="l" defTabSz="914400" rtl="0" eaLnBrk="1" latinLnBrk="0" hangingPunct="1"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zh-CN"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快捷键：</a:t>
            </a:r>
            <a:endParaRPr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①运行：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Shift+Enter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②显示行号：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Shift+L </a:t>
            </a:r>
            <a:endParaRPr lang="en-US" altLang="zh-CN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fontAlgn="auto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</a:pP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（需要将光标点击</a:t>
            </a:r>
            <a:r>
              <a:rPr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选中单元格外）</a:t>
            </a:r>
            <a:endParaRPr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步骤</a:t>
            </a:r>
            <a:r>
              <a:rPr altLang="en-US" dirty="0" smtClean="0"/>
              <a:t>分解</a:t>
            </a:r>
            <a:endParaRPr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/>
              <p:cNvSpPr txBox="1"/>
              <p:nvPr/>
            </p:nvSpPr>
            <p:spPr>
              <a:xfrm>
                <a:off x="600075" y="1290320"/>
                <a:ext cx="9573895" cy="4470400"/>
              </a:xfrm>
              <a:prstGeom prst="rect">
                <a:avLst/>
              </a:prstGeom>
            </p:spPr>
            <p:txBody>
              <a:bodyPr vert="horz" lIns="0" tIns="228600" rIns="0" bIns="0" rtlCol="0">
                <a:normAutofit/>
              </a:bodyPr>
              <a:lstStyle>
                <a:defPPr>
                  <a:defRPr lang="zh-CN"/>
                </a:defPPr>
                <a:lvl1pPr marL="283210" indent="-283210" algn="l" defTabSz="914400" rtl="0" eaLnBrk="1" latinLnBrk="0" hangingPunct="1">
                  <a:lnSpc>
                    <a:spcPct val="80000"/>
                  </a:lnSpc>
                  <a:spcBef>
                    <a:spcPts val="2200"/>
                  </a:spcBef>
                  <a:buFont typeface="Arial" panose="020B0604020202020204" pitchFamily="34" charset="0"/>
                  <a:buChar char="•"/>
                  <a:defRPr lang="zh-CN" sz="2800" b="1" i="0" kern="1200" dirty="0">
                    <a:solidFill>
                      <a:schemeClr val="tx2">
                        <a:lumMod val="75000"/>
                      </a:schemeClr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defRPr>
                </a:lvl1pPr>
                <a:lvl2pPr marL="685800" indent="-283210" algn="l" defTabSz="914400" rtl="0" eaLnBrk="1" latinLnBrk="0" hangingPunct="1">
                  <a:lnSpc>
                    <a:spcPts val="35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lang="zh-CN" sz="2400" b="0" i="0" kern="120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defRPr>
                </a:lvl2pPr>
                <a:lvl3pPr marL="1143000" indent="-283210" algn="l" defTabSz="914400" rtl="0" eaLnBrk="1" latinLnBrk="0" hangingPunct="1">
                  <a:lnSpc>
                    <a:spcPts val="35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zh-CN" sz="2400" b="0" i="0" kern="120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defRPr>
                </a:lvl3pPr>
                <a:lvl4pPr marL="1600200" indent="-283210" algn="l" defTabSz="914400" rtl="0" eaLnBrk="1" latinLnBrk="0" hangingPunct="1">
                  <a:lnSpc>
                    <a:spcPts val="35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zh-CN" sz="2400" b="0" i="0" kern="120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defRPr>
                </a:lvl4pPr>
                <a:lvl5pPr marL="2057400" indent="-283210" algn="l" defTabSz="914400" rtl="0" eaLnBrk="1" latinLnBrk="0" hangingPunct="1">
                  <a:lnSpc>
                    <a:spcPts val="35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zh-CN" sz="2400" b="0" i="0" kern="1200">
                    <a:solidFill>
                      <a:schemeClr val="bg1"/>
                    </a:solidFill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pPr>
                <a:r>
                  <a:rPr altLang="en-US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1.  加载、处理并可视化原始数据。</a:t>
                </a:r>
                <a:endParaRPr altLang="en-US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fontAlgn="auto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pPr>
                <a:r>
                  <a:rPr altLang="en-US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2.  应用对数变换来使数据线性化。</a:t>
                </a:r>
                <a:endParaRPr altLang="en-US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fontAlgn="auto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pPr>
                <a:r>
                  <a:rPr altLang="en-US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3.  使用线性回归来找出这组数据的常数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3200" dirty="0">
                        <a:solidFill>
                          <a:schemeClr val="bg1"/>
                        </a:solidFill>
                        <a:latin typeface="Cambria Math" panose="02040503050406030204" charset="0"/>
                        <a:ea typeface="华文楷体" panose="02010600040101010101" pitchFamily="2" charset="-122"/>
                        <a:cs typeface="Cambria Math" panose="02040503050406030204" charset="0"/>
                      </a:rPr>
                      <m:t>k</m:t>
                    </m:r>
                  </m:oMath>
                </a14:m>
                <a:r>
                  <a:rPr altLang="en-US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3200" dirty="0">
                        <a:solidFill>
                          <a:schemeClr val="bg1"/>
                        </a:solidFill>
                        <a:latin typeface="Cambria Math" panose="02040503050406030204" charset="0"/>
                        <a:ea typeface="华文楷体" panose="02010600040101010101" pitchFamily="2" charset="-122"/>
                        <a:cs typeface="Cambria Math" panose="02040503050406030204" charset="0"/>
                      </a:rPr>
                      <m:t>alpha</m:t>
                    </m:r>
                  </m:oMath>
                </a14:m>
                <a:r>
                  <a:rPr lang="en-US" altLang="zh-CN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altLang="en-US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。</a:t>
                </a:r>
                <a:endParaRPr altLang="en-US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fontAlgn="auto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pPr>
                <a:r>
                  <a:rPr altLang="en-US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4.  识别并处理影响模型精度的离群数据点。</a:t>
                </a:r>
                <a:endParaRPr altLang="en-US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fontAlgn="auto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</a:pPr>
                <a:r>
                  <a:rPr altLang="en-US" sz="32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5.  探索用于稳健数据分析的不同算法。</a:t>
                </a:r>
                <a:endParaRPr altLang="en-US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8" name="内容占位符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" y="1290320"/>
                <a:ext cx="9573895" cy="4470400"/>
              </a:xfrm>
              <a:prstGeom prst="rect">
                <a:avLst/>
              </a:prstGeom>
              <a:blipFill rotWithShape="1">
                <a:blip r:embed="rId1"/>
                <a:stretch>
                  <a:fillRect r="-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(3)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20" y="2178685"/>
            <a:ext cx="6865620" cy="37801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38440" y="2725420"/>
            <a:ext cx="381698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用于数据加载和处理。</a:t>
            </a:r>
            <a:endParaRPr lang="zh-CN"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用于数值和数学运算。</a:t>
            </a:r>
            <a:endParaRPr lang="zh-CN"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用于数据可视化。</a:t>
            </a:r>
            <a:endParaRPr lang="zh-CN"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线性回归算法。</a:t>
            </a:r>
            <a:endParaRPr lang="zh-CN"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716280" y="2108200"/>
            <a:ext cx="7628255" cy="314261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8645525" y="2029460"/>
            <a:ext cx="3300730" cy="33007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8025" y="5486400"/>
            <a:ext cx="16840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pandas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上箭头 7"/>
          <p:cNvSpPr/>
          <p:nvPr/>
        </p:nvSpPr>
        <p:spPr>
          <a:xfrm>
            <a:off x="3596640" y="5158740"/>
            <a:ext cx="519430" cy="54546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8645525" y="2029460"/>
            <a:ext cx="3300730" cy="33007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98025" y="5486400"/>
            <a:ext cx="14979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pandas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1695" y="2029460"/>
            <a:ext cx="6883400" cy="3300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名称的本质来源则扎根于统计学</a:t>
            </a: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术语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“panel data”（面板数据），指多维数据结构，常用于分析随时间或按组变化的数据。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如多个国家的年度GDP趋势、各商店的每日访客变化。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716280" y="2108200"/>
            <a:ext cx="7628255" cy="3142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298305" y="5094605"/>
            <a:ext cx="21367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Matplotlib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上箭头 7"/>
          <p:cNvSpPr/>
          <p:nvPr/>
        </p:nvSpPr>
        <p:spPr>
          <a:xfrm rot="10800000">
            <a:off x="7109460" y="1483995"/>
            <a:ext cx="519430" cy="54546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9250045" y="2726690"/>
            <a:ext cx="1905000" cy="190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9298305" y="5094605"/>
            <a:ext cx="20955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Matplotlib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9250045" y="2726690"/>
            <a:ext cx="1905000" cy="190500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2056130"/>
            <a:ext cx="3197860" cy="23348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68115" y="3707765"/>
            <a:ext cx="358838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ting   </a:t>
            </a:r>
            <a:r>
              <a:rPr lang="en-US" altLang="zh-CN" sz="3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lib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rary</a:t>
            </a:r>
            <a:endParaRPr lang="en-US" altLang="zh-CN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画图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包</a:t>
            </a:r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4360" y="5378450"/>
            <a:ext cx="787146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pyplot 是 Matplotlib 的子库，提供了和 MATLAB 类似的绘图 API，能很方便让用户绘制 2D 图表。</a:t>
            </a:r>
            <a:endParaRPr lang="en-US" altLang="zh-CN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(5)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490" y="2090420"/>
            <a:ext cx="4954270" cy="42411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735" y="1347470"/>
            <a:ext cx="4097655" cy="5445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30120" y="1185545"/>
            <a:ext cx="6873240" cy="54076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28660" y="3145155"/>
            <a:ext cx="3752850" cy="1487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pd.DataFrame 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表格</a:t>
            </a:r>
            <a:endParaRPr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pd.Series 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序列</a:t>
            </a:r>
            <a:endParaRPr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pd.Index 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索引</a:t>
            </a:r>
            <a:endParaRPr altLang="en-US"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①加载、处理并可视化原始数据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(5)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完善单元格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(6)</a:t>
            </a:r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03695" y="2328545"/>
            <a:ext cx="5254625" cy="35382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figure()</a:t>
            </a:r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方法来绘制</a:t>
            </a:r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图形。</a:t>
            </a:r>
            <a:endParaRPr altLang="en-US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/>
            <a:r>
              <a:rPr lang="en-US" altLang="zh-CN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figsize:</a:t>
            </a:r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宽度和高度</a:t>
            </a:r>
            <a:endParaRPr altLang="en-US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/>
            <a:endParaRPr altLang="en-US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/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scatter(</a:t>
            </a:r>
            <a:r>
              <a:rPr lang="en-US" altLang="zh-CN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方法来绘制散点图。</a:t>
            </a:r>
            <a:endParaRPr altLang="en-US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/>
            <a:r>
              <a:rPr lang="en-US" altLang="zh-CN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x,y:</a:t>
            </a:r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长度相同的数组，也就是我们即将绘制散点图的数据点</a:t>
            </a:r>
            <a:endParaRPr altLang="en-US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/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alpha</a:t>
            </a:r>
            <a:r>
              <a:rPr lang="en-US" altLang="zh-CN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透明度,</a:t>
            </a:r>
            <a:endParaRPr altLang="en-US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/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en-US" altLang="zh-CN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altLang="en-US" sz="28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点的大小</a:t>
            </a:r>
            <a:endParaRPr altLang="en-US" sz="28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30" y="2850515"/>
            <a:ext cx="6209030" cy="2047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②应用对数变换来使数据线性化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T-r 图显示了一种非线性（弯曲）关系，这很难直接用线性回归来建模。我们可以通过对原始方程两边应用对数变换来将这种关系线性化。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290" y="3429000"/>
            <a:ext cx="4219575" cy="2095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775" y="3067050"/>
            <a:ext cx="5267325" cy="2457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altLang="en-US" dirty="0" smtClean="0"/>
              <a:t>②应用对数变换来使数据线性化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(8)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完善单元格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(9)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" y="2099945"/>
            <a:ext cx="8114030" cy="37426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14895" y="2848610"/>
            <a:ext cx="42729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np.log10( )</a:t>
            </a:r>
            <a:endParaRPr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计算数组中每个元素的 以 10 为底的对数</a:t>
            </a:r>
            <a:endParaRPr lang="zh-CN" altLang="en-US"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l</a:t>
            </a: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og-log 图看起来是线性的。我们的目标是找到一条“最佳拟合线”来描述这些点。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 descr="fig-lo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045" y="2541270"/>
            <a:ext cx="6502400" cy="4057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594360" y="1522095"/>
                <a:ext cx="11255375" cy="422148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571500" indent="-571500">
                  <a:buFont typeface="+mj-lt"/>
                  <a:buAutoNum type="romanUcPeriod"/>
                </a:pP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用数学语言表示直线：</a:t>
                </a: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参数化</a:t>
                </a:r>
                <a:endParaRPr sz="32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endParaRPr>
              </a:p>
              <a:p>
                <a:pPr indent="0">
                  <a:buFont typeface="+mj-lt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𝐟</m:t>
                      </m:r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𝐱</m:t>
                      </m:r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)</m:t>
                      </m:r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𝐚𝐱</m:t>
                      </m:r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+</m:t>
                      </m:r>
                      <m:r>
                        <a:rPr lang="en-US" altLang="zh-CN" sz="3200" b="1" dirty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华文楷体" panose="02010600040101010101" pitchFamily="2" charset="-122"/>
                          <a:cs typeface="Cambria Math" panose="02040503050406030204" charset="0"/>
                          <a:sym typeface="+mn-ea"/>
                        </a:rPr>
                        <m:t>𝐛</m:t>
                      </m:r>
                    </m:oMath>
                  </m:oMathPara>
                </a14:m>
                <a:endParaRPr sz="32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endParaRPr>
              </a:p>
              <a:p>
                <a:pPr marL="571500" indent="-571500">
                  <a:buFont typeface="+mj-lt"/>
                  <a:buAutoNum type="romanUcPeriod" startAt="2"/>
                </a:pP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指定标准：建立评价</a:t>
                </a: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函数</a:t>
                </a:r>
                <a:endParaRPr sz="32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endParaRPr>
              </a:p>
              <a:p>
                <a:pPr marL="571500" indent="-571500">
                  <a:buFont typeface="+mj-lt"/>
                  <a:buAutoNum type="romanUcPeriod" startAt="2"/>
                </a:pPr>
                <a:endParaRPr sz="32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endParaRPr>
              </a:p>
              <a:p>
                <a:pPr indent="0">
                  <a:buFont typeface="+mj-lt"/>
                  <a:buNone/>
                </a:pP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“最小二乘法” (Least Squares Regression)</a:t>
                </a:r>
                <a:r>
                  <a:rPr lang="en-US" altLang="zh-CN"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 </a:t>
                </a:r>
                <a:endParaRPr lang="en-US" altLang="zh-CN" sz="32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endParaRPr>
              </a:p>
              <a:p>
                <a:pPr indent="0">
                  <a:buFont typeface="+mj-lt"/>
                  <a:buNone/>
                </a:pP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找到一条唯一的直线，使得</a:t>
                </a:r>
                <a:r>
                  <a:rPr sz="3200" b="1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残差平方和最小化</a:t>
                </a: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。“残差”是数据点到回归线的垂直距离。</a:t>
                </a:r>
                <a:endParaRPr sz="32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endParaRPr>
              </a:p>
              <a:p>
                <a:pPr indent="0">
                  <a:buFont typeface="+mj-lt"/>
                  <a:buNone/>
                </a:pPr>
                <a:r>
                  <a:rPr sz="3200" b="1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+mn-ea"/>
                  </a:rPr>
                  <a:t>评价函数：</a:t>
                </a:r>
                <a:endParaRPr sz="32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522095"/>
                <a:ext cx="11255375" cy="422148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085" y="5146675"/>
            <a:ext cx="4479925" cy="1360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118870"/>
            <a:ext cx="11255375" cy="462470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【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  <a:hlinkClick r:id="rId1" action="ppaction://hlinkfile"/>
              </a:rPr>
              <a:t>体验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】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1.  选择“</a:t>
            </a:r>
            <a:r>
              <a:rPr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Custom</a:t>
            </a: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”模式，手动添加一系列点；或使用其他模式中默认的数据点。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2.  拖动滑块，调整直线方程中 a, b 的取值，试着让直线接近尽量多的数据点。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3.  勾选“</a:t>
            </a:r>
            <a:r>
              <a:rPr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Squared Residuals</a:t>
            </a: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（平方残差）”复选框，这会将平方残差可视化为紫色方块。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4.  拖动滑块，调整 a, b 的取值，使这些紫色方块的总面积尽可能小，也就是使得</a:t>
            </a:r>
            <a:r>
              <a:rPr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残差平方和</a:t>
            </a: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最小化。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5.  勾选“</a:t>
            </a:r>
            <a:r>
              <a:rPr sz="28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Best Fit Line</a:t>
            </a: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（最佳拟合线）”复选框，查看最小二乘法计算出的最优解。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5" y="5501640"/>
            <a:ext cx="4113530" cy="1249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互动：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线性回归和最小二乘法的关系是？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拓展：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已知数据点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(0,1),(1,2),(2,4)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，求线性函数的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f(x)=ax+b 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的参数</a:t>
            </a:r>
            <a:r>
              <a:rPr lang="en-US" altLang="zh-CN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a,b</a:t>
            </a:r>
            <a:r>
              <a:rPr altLang="en-US" sz="28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。</a:t>
            </a: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endParaRPr sz="2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4224655"/>
            <a:ext cx="4479925" cy="1360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拓展</a:t>
            </a: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已知数据点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(0,1),(1,2),(2,4)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，求线性函数的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f(x)=ax+b 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的参数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a,b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。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045" y="2526665"/>
            <a:ext cx="8931910" cy="42094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01605" y="6501130"/>
            <a:ext cx="1890395" cy="3568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r"/>
            <a:r>
              <a:rPr lang="en-US" altLang="zh-CN" sz="20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altLang="en-US" sz="20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站：遇见数学</a:t>
            </a:r>
            <a:endParaRPr altLang="en-US" sz="20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通过体验，手动找到最佳拟合线是很困难的。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我们将使用 sklearn(Scikit-learn) 库中的 LinearRegression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工具来自动计算我们 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l</a:t>
            </a: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og-log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数据的最佳拟合线的斜率 (alpha) 和截距 (log(k))。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我们先以一组没有离群点的数据 LR-exp.csv 为例，学习使用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s</a:t>
            </a: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klearn进行线性回归。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(12)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530" y="3708400"/>
            <a:ext cx="5495925" cy="733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054860"/>
            <a:ext cx="4827905" cy="47078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77560" y="4767580"/>
            <a:ext cx="6096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训练模型。"拟合"（fit）</a:t>
            </a:r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意味着模型会分析你提供的 X (log_r) 和 y (log_T) 数据，并使用最小二乘法找到一条最佳的直线来描述它们之间的关系。训练完成后，模型的斜率和截距参数就被确定下来了。</a:t>
            </a:r>
            <a:endParaRPr lang="zh-CN" altLang="en-US" sz="24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(12)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22"/>
          <a:stretch>
            <a:fillRect/>
          </a:stretch>
        </p:blipFill>
        <p:spPr>
          <a:xfrm>
            <a:off x="449580" y="2467610"/>
            <a:ext cx="6727190" cy="3557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86905" y="2118995"/>
            <a:ext cx="52324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model.coef_: 存储了模型拟合出的所有斜率</a:t>
            </a:r>
            <a:r>
              <a:rPr lang="en-US" altLang="zh-CN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a1,a2...</a:t>
            </a:r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的数组。因为我们只有一个特征 log_r，所以这个数组里也只有一个值。</a:t>
            </a:r>
            <a:endParaRPr lang="zh-CN" altLang="en-US" sz="24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86905" y="1358265"/>
            <a:ext cx="48628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sklearn的评价函数形如：</a:t>
            </a:r>
            <a:endParaRPr lang="zh-CN" altLang="en-US" sz="24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(x) = </a:t>
            </a:r>
            <a:r>
              <a:rPr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a1</a:t>
            </a:r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x1 + </a:t>
            </a:r>
            <a:r>
              <a:rPr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2x2 + </a:t>
            </a:r>
            <a:r>
              <a:rPr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...</a:t>
            </a:r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+</a:t>
            </a:r>
            <a:r>
              <a:rPr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endParaRPr altLang="en-US" sz="24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86905" y="3582670"/>
            <a:ext cx="52324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model.intercept_: 截距。</a:t>
            </a:r>
            <a:endParaRPr lang="zh-CN" altLang="en-US" sz="24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520" y="4327525"/>
            <a:ext cx="4307205" cy="1593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(12)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857365" y="1291590"/>
            <a:ext cx="5056505" cy="32772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" y="2211070"/>
            <a:ext cx="6449060" cy="4126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985" y="4918710"/>
            <a:ext cx="3590925" cy="14192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950085" y="5898197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altLang="en-US" sz="20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plt.legend()用于在图表中添加图例</a:t>
            </a:r>
            <a:endParaRPr altLang="en-US" sz="20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③找出这组数据的常数 k 和 alpha 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125537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单元格</a:t>
            </a:r>
            <a:r>
              <a:rPr lang="en-US" altLang="zh-CN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(12)</a:t>
            </a:r>
            <a:r>
              <a:rPr altLang="en-US"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：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195" y="2239010"/>
            <a:ext cx="11432540" cy="3575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④识别并处理影响模型精度的离群数据点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016952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不要忘记，我们所获得的星系数据中，绝大部分天体（记为群体 A）的 (T, r) 数据点都分布在一条平滑的曲线上，但同时也存在一些少量离群的数据点 (记为群体 B) 。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indent="0">
              <a:buFont typeface="+mj-lt"/>
              <a:buNone/>
            </a:pPr>
            <a:r>
              <a:rPr sz="3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面对混合数据， Sklearn 线性拟合的效果又将如何？</a:t>
            </a: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④识别并处理影响模型精度的离群数据点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016952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051425" y="1744345"/>
            <a:ext cx="6614160" cy="42868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4360" y="1477010"/>
            <a:ext cx="4746625" cy="51492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红线（最佳拟合线）并不能完美地代表所有数据。在左上方有一组明显的点，似乎把直线从主要密集的数据点簇中“拉”走了。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这些偏离的点被称为离群点 (outliers)。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在最小二乘法回归中，离群点具有很大的残差平方。模型会尽力最小化这些大误差，这会将最佳拟合线“拉”向离群点。这会使直线产生“偏移”，使其无法很好地代表主要数据簇的真实潜在关系。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④识别并处理影响模型精度的离群数据点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016952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9610" y="1566545"/>
            <a:ext cx="990600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RANSAC（Random Sample Consensus，随机样本一致性） 算法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6440" y="2291080"/>
            <a:ext cx="10711815" cy="37998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它能像一个聪明的侦探，从一群“嫌疑人”（所有数据点）中找出真正的“团伙”（符合某一直线规律的点）。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它的核心思想是“少数服从多数”和“迭代试错”：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lang="en-US" altLang="zh-CN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altLang="en-US" sz="2400" i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随机假设</a:t>
            </a:r>
            <a:r>
              <a:rPr altLang="en-US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：我们不信任任何一个点。算法一开始，只是随机地、不带偏见地选择极少数（比如2个）点，并假设“真相”（即真实的直线模型）就由这几个点决定。</a:t>
            </a:r>
            <a:endParaRPr altLang="en-US" sz="2400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lang="en-US" altLang="zh-CN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altLang="en-US" sz="2400" i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验证假设</a:t>
            </a:r>
            <a:r>
              <a:rPr altLang="en-US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基于这个“随机假设”的直线，算法会去“质问”所有其他点：“你们当中有谁离我这条线足够近？”。离得近的点被认为是“内点”（inliers），即支持这个假设的“同伙”；离得远的点则是“外点”（outliers）。</a:t>
            </a:r>
            <a:endParaRPr altLang="en-US" sz="2400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④识别并处理影响模型精度的离群数据点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016952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9610" y="1566545"/>
            <a:ext cx="990600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RANSAC（Random Sample Consensus，随机样本一致性） 算法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6440" y="2291080"/>
            <a:ext cx="10711815" cy="34309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它能像一个聪明的侦探，从一群“嫌疑人”（所有数据点）中找出真正的“团伙”（符合某一直线规律的点）。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它的核心思想是“少数服从多数”和“迭代试错”：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lang="en-US" altLang="zh-CN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altLang="en-US" sz="2400" i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迭代与投票</a:t>
            </a:r>
            <a:r>
              <a:rPr altLang="en-US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：重复以上过程很多次。每次随机选择不同的点，都会得到一个不同的“候选”直线和一组支持它的“内点”。哪个“候选”直线获得的“内点”支持者最多，它就最可能是其中一条真实的规律。</a:t>
            </a:r>
            <a:endParaRPr altLang="en-US" sz="2400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lang="en-US" altLang="zh-CN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altLang="en-US" sz="2400" i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最终确认</a:t>
            </a:r>
            <a:r>
              <a:rPr altLang="en-US" sz="2400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：在所有尝试中，拥有最多“内点”的那个模型，就被认为是最终的胜利者。这些“内点”就是我们成功分离出来的第一组数据。</a:t>
            </a:r>
            <a:endParaRPr altLang="en-US" sz="2400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④识别并处理影响模型精度的离群数据点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016952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455" y="1522095"/>
            <a:ext cx="9930765" cy="509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967105"/>
          </a:xfrm>
        </p:spPr>
        <p:txBody>
          <a:bodyPr>
            <a:normAutofit/>
          </a:bodyPr>
          <a:lstStyle/>
          <a:p>
            <a:pPr algn="l"/>
            <a:r>
              <a:rPr altLang="en-US" dirty="0" smtClean="0"/>
              <a:t>④识别并处理影响模型精度的离群数据点</a:t>
            </a:r>
            <a:endParaRPr altLang="en-US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016952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410" y="1454150"/>
            <a:ext cx="10711815" cy="33178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通过多次迭代循环，让算法找到那个拥有最多“内点”数目的模型，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将“好运气”保留下来！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试一试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修改n_iterations参数，如果</a:t>
            </a:r>
            <a:r>
              <a:rPr lang="en-US" altLang="zh-CN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n_iterations太小或太大会怎样？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spcBef>
                <a:spcPct val="0"/>
              </a:spcBef>
              <a:spcAft>
                <a:spcPts val="1000"/>
              </a:spcAft>
            </a:pPr>
            <a:r>
              <a:rPr altLang="en-US" sz="2400" b="1" i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选择其它数据文件尝试分析，看看RANSAC是否能成功分离不同的线性规律。RANSAC算法能保证每次都找到正确的结果吗？为什么？</a:t>
            </a:r>
            <a:endParaRPr altLang="en-US" sz="2400" b="1" i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360" y="189865"/>
            <a:ext cx="9626600" cy="1570355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altLang="en-US" sz="4000" dirty="0" smtClean="0"/>
              <a:t>请同学们拿着餐券再去参观！</a:t>
            </a:r>
            <a:br>
              <a:rPr altLang="en-US" sz="4000" dirty="0" smtClean="0"/>
            </a:br>
            <a:r>
              <a:rPr altLang="en-US" sz="4000" dirty="0" smtClean="0"/>
              <a:t>下午返回</a:t>
            </a:r>
            <a:r>
              <a:rPr altLang="en-US" sz="4000" dirty="0" smtClean="0"/>
              <a:t>丹陆馆时间为</a:t>
            </a:r>
            <a:r>
              <a:rPr lang="en-US" altLang="zh-CN" sz="4000" dirty="0" smtClean="0"/>
              <a:t>13</a:t>
            </a:r>
            <a:r>
              <a:rPr altLang="en-US" sz="4000" dirty="0" smtClean="0"/>
              <a:t>：</a:t>
            </a:r>
            <a:r>
              <a:rPr lang="en-US" altLang="zh-CN" sz="4000" dirty="0" smtClean="0"/>
              <a:t>30</a:t>
            </a:r>
            <a:endParaRPr lang="en-US" altLang="zh-CN" sz="4000" dirty="0" smtClean="0"/>
          </a:p>
        </p:txBody>
      </p:sp>
      <p:sp>
        <p:nvSpPr>
          <p:cNvPr id="15" name="矩形 14"/>
          <p:cNvSpPr/>
          <p:nvPr/>
        </p:nvSpPr>
        <p:spPr>
          <a:xfrm>
            <a:off x="594360" y="1522095"/>
            <a:ext cx="10169525" cy="422148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+mj-lt"/>
              <a:buNone/>
            </a:pPr>
            <a:endParaRPr sz="3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" y="1847850"/>
            <a:ext cx="11801475" cy="316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谢谢</a:t>
            </a:r>
            <a:endParaRPr 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tags/tag4.xml><?xml version="1.0" encoding="utf-8"?>
<p:tagLst xmlns:p="http://schemas.openxmlformats.org/presentationml/2006/main">
  <p:tag name="COMMONDATA" val="eyJoZGlkIjoiN2YzNjBkOTgyNWQ1YTMxYzM3MzMwNWFiODNmOWIzYWMifQ=="/>
  <p:tag name="resource_record_key" val="{&quot;29&quot;:[50000283,50000159,50052696]}"/>
  <p:tag name="commondata" val="eyJoZGlkIjoiZTIzNGQ1YjJhYWEzMWI3ZDc1Zjc3ZTg2ZWI3NjE3ZDIifQ=="/>
</p:tagLst>
</file>

<file path=ppt/theme/theme1.xml><?xml version="1.0" encoding="utf-8"?>
<a:theme xmlns:a="http://schemas.openxmlformats.org/drawingml/2006/main" name="自定义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/>
</ds:datastoreItem>
</file>

<file path=customXml/itemProps2.xml><?xml version="1.0" encoding="utf-8"?>
<ds:datastoreItem xmlns:ds="http://schemas.openxmlformats.org/officeDocument/2006/customXml" ds:itemID="{4F4B194E-8B30-4377-8C59-ECFB902D2A26}">
  <ds:schemaRefs/>
</ds:datastoreItem>
</file>

<file path=customXml/itemProps3.xml><?xml version="1.0" encoding="utf-8"?>
<ds:datastoreItem xmlns:ds="http://schemas.openxmlformats.org/officeDocument/2006/customXml" ds:itemID="{C21FFAC0-05A2-416A-B06C-C248395482C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几何图形年度演示文稿</Template>
  <TotalTime>0</TotalTime>
  <Words>3405</Words>
  <Application>WPS 演示</Application>
  <PresentationFormat>宽屏</PresentationFormat>
  <Paragraphs>257</Paragraphs>
  <Slides>35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</vt:lpstr>
      <vt:lpstr>宋体</vt:lpstr>
      <vt:lpstr>Wingdings</vt:lpstr>
      <vt:lpstr>Microsoft YaHei UI</vt:lpstr>
      <vt:lpstr>黑体</vt:lpstr>
      <vt:lpstr>华文楷体</vt:lpstr>
      <vt:lpstr>微软雅黑</vt:lpstr>
      <vt:lpstr>Cambria Math</vt:lpstr>
      <vt:lpstr>Arial Unicode MS</vt:lpstr>
      <vt:lpstr>Franklin Gothic Book</vt:lpstr>
      <vt:lpstr>自定义</vt:lpstr>
      <vt:lpstr>神秘空间的引力规律（下）</vt:lpstr>
      <vt:lpstr>任务回顾</vt:lpstr>
      <vt:lpstr>任务回顾</vt:lpstr>
      <vt:lpstr>任务回顾</vt:lpstr>
      <vt:lpstr>任务回顾</vt:lpstr>
      <vt:lpstr>任务回顾</vt:lpstr>
      <vt:lpstr>步骤分解</vt:lpstr>
      <vt:lpstr>①加载、处理并可视化原始数据</vt:lpstr>
      <vt:lpstr>①加载、处理并可视化原始数据</vt:lpstr>
      <vt:lpstr>①加载、处理并可视化原始数据</vt:lpstr>
      <vt:lpstr>①加载、处理并可视化原始数据</vt:lpstr>
      <vt:lpstr>①加载、处理并可视化原始数据</vt:lpstr>
      <vt:lpstr>①加载、处理并可视化原始数据</vt:lpstr>
      <vt:lpstr>①加载、处理并可视化原始数据</vt:lpstr>
      <vt:lpstr>①加载、处理并可视化原始数据</vt:lpstr>
      <vt:lpstr>②应用对数变换来使数据线性化</vt:lpstr>
      <vt:lpstr>②应用对数变换来使数据线性化</vt:lpstr>
      <vt:lpstr>③找出这组数据的常数 k 和 alpha </vt:lpstr>
      <vt:lpstr>③找出这组数据的常数 k 和 alpha </vt:lpstr>
      <vt:lpstr>③找出这组数据的常数 k 和 alpha </vt:lpstr>
      <vt:lpstr>③找出这组数据的常数 k 和 alpha </vt:lpstr>
      <vt:lpstr>③找出这组数据的常数 k 和 alpha </vt:lpstr>
      <vt:lpstr>③找出这组数据的常数 k 和 alpha </vt:lpstr>
      <vt:lpstr>③找出这组数据的常数 k 和 alpha </vt:lpstr>
      <vt:lpstr>③找出这组数据的常数 k 和 alpha </vt:lpstr>
      <vt:lpstr>③找出这组数据的常数 k 和 alpha </vt:lpstr>
      <vt:lpstr>③找出这组数据的常数 k 和 alpha </vt:lpstr>
      <vt:lpstr>④识别并处理影响模型精度的离群数据点</vt:lpstr>
      <vt:lpstr>④识别并处理影响模型精度的离群数据点</vt:lpstr>
      <vt:lpstr>④识别并处理影响模型精度的离群数据点</vt:lpstr>
      <vt:lpstr>④识别并处理影响模型精度的离群数据点</vt:lpstr>
      <vt:lpstr>④识别并处理影响模型精度的离群数据点</vt:lpstr>
      <vt:lpstr>④识别并处理影响模型精度的离群数据点</vt:lpstr>
      <vt:lpstr>请同学们拿着餐券再去参观！ 下午开始时间为13：30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无人机技术概论</dc:title>
  <dc:creator>bw L</dc:creator>
  <cp:lastModifiedBy>淼淼</cp:lastModifiedBy>
  <cp:revision>299</cp:revision>
  <dcterms:created xsi:type="dcterms:W3CDTF">2024-04-02T06:29:00Z</dcterms:created>
  <dcterms:modified xsi:type="dcterms:W3CDTF">2025-11-16T03:02:56Z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675C067711A64A7C81FC4EADCEB7855B_13</vt:lpwstr>
  </property>
  <property fmtid="{D5CDD505-2E9C-101B-9397-08002B2CF9AE}" pid="4" name="KSOProductBuildVer">
    <vt:lpwstr>2052-12.1.0.23542</vt:lpwstr>
  </property>
</Properties>
</file>