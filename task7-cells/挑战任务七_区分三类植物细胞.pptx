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handoutMasterIdLst>
    <p:handoutMasterId r:id="rId10"/>
  </p:handoutMasterIdLst>
  <p:sldIdLst>
    <p:sldId id="359" r:id="rId3"/>
    <p:sldId id="257" r:id="rId4"/>
    <p:sldId id="358" r:id="rId6"/>
    <p:sldId id="350" r:id="rId7"/>
    <p:sldId id="356" r:id="rId8"/>
    <p:sldId id="357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>
      <p:cViewPr>
        <p:scale>
          <a:sx n="55" d="100"/>
          <a:sy n="55" d="100"/>
        </p:scale>
        <p:origin x="1242" y="6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2571" y="6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46D19D-E0AF-4A72-9AA8-08A4528D2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0CF550-CF07-42D2-9C21-E880C3826A7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DD52B2-B06E-8645-9278-9B76F0FC626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A1F3DC-B62E-3B46-8A86-43CA95F83A9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FE178-1842-46E9-B0CD-B1D07ED20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FE178-1842-46E9-B0CD-B1D07ED20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细胞分类的意义。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FE178-1842-46E9-B0CD-B1D07ED20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FE178-1842-46E9-B0CD-B1D07ED20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FE178-1842-46E9-B0CD-B1D07ED20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854F-C723-A046-9BED-CF8E1F5008F6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C4FDA-EB2A-DE44-96E3-A3C900B3F0C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854F-C723-A046-9BED-CF8E1F5008F6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C4FDA-EB2A-DE44-96E3-A3C900B3F0C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854F-C723-A046-9BED-CF8E1F5008F6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C4FDA-EB2A-DE44-96E3-A3C900B3F0C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854F-C723-A046-9BED-CF8E1F5008F6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C4FDA-EB2A-DE44-96E3-A3C900B3F0C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854F-C723-A046-9BED-CF8E1F5008F6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C4FDA-EB2A-DE44-96E3-A3C900B3F0C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854F-C723-A046-9BED-CF8E1F5008F6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C4FDA-EB2A-DE44-96E3-A3C900B3F0C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854F-C723-A046-9BED-CF8E1F5008F6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C4FDA-EB2A-DE44-96E3-A3C900B3F0C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854F-C723-A046-9BED-CF8E1F5008F6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C4FDA-EB2A-DE44-96E3-A3C900B3F0C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854F-C723-A046-9BED-CF8E1F5008F6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C4FDA-EB2A-DE44-96E3-A3C900B3F0C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854F-C723-A046-9BED-CF8E1F5008F6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C4FDA-EB2A-DE44-96E3-A3C900B3F0C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854F-C723-A046-9BED-CF8E1F5008F6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C4FDA-EB2A-DE44-96E3-A3C900B3F0C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42900" y="295275"/>
            <a:ext cx="11506200" cy="6267450"/>
          </a:xfrm>
          <a:prstGeom prst="rect">
            <a:avLst/>
          </a:prstGeom>
          <a:noFill/>
          <a:ln>
            <a:solidFill>
              <a:srgbClr val="3B46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-514350" y="0"/>
            <a:ext cx="4102950" cy="3581400"/>
            <a:chOff x="-610884" y="0"/>
            <a:chExt cx="4954284" cy="4324516"/>
          </a:xfrm>
        </p:grpSpPr>
        <p:sp>
          <p:nvSpPr>
            <p:cNvPr id="9" name="等腰三角形 8"/>
            <p:cNvSpPr/>
            <p:nvPr/>
          </p:nvSpPr>
          <p:spPr>
            <a:xfrm rot="5400000">
              <a:off x="9442" y="-9442"/>
              <a:ext cx="4324516" cy="4343400"/>
            </a:xfrm>
            <a:prstGeom prst="triangle">
              <a:avLst>
                <a:gd name="adj" fmla="val 0"/>
              </a:avLst>
            </a:prstGeom>
            <a:solidFill>
              <a:srgbClr val="3B46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" name="任意多边形: 形状 9"/>
            <p:cNvSpPr/>
            <p:nvPr/>
          </p:nvSpPr>
          <p:spPr>
            <a:xfrm rot="2706533">
              <a:off x="713273" y="-615655"/>
              <a:ext cx="450863" cy="3099178"/>
            </a:xfrm>
            <a:custGeom>
              <a:avLst/>
              <a:gdLst>
                <a:gd name="connsiteX0" fmla="*/ 450863 w 450863"/>
                <a:gd name="connsiteY0" fmla="*/ 0 h 3099178"/>
                <a:gd name="connsiteX1" fmla="*/ 450863 w 450863"/>
                <a:gd name="connsiteY1" fmla="*/ 3099178 h 3099178"/>
                <a:gd name="connsiteX2" fmla="*/ 0 w 450863"/>
                <a:gd name="connsiteY2" fmla="*/ 2650025 h 3099178"/>
                <a:gd name="connsiteX3" fmla="*/ 0 w 450863"/>
                <a:gd name="connsiteY3" fmla="*/ 452580 h 3099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0863" h="3099178">
                  <a:moveTo>
                    <a:pt x="450863" y="0"/>
                  </a:moveTo>
                  <a:lnTo>
                    <a:pt x="450863" y="3099178"/>
                  </a:lnTo>
                  <a:lnTo>
                    <a:pt x="0" y="2650025"/>
                  </a:lnTo>
                  <a:lnTo>
                    <a:pt x="0" y="452580"/>
                  </a:lnTo>
                  <a:close/>
                </a:path>
              </a:pathLst>
            </a:custGeom>
            <a:solidFill>
              <a:srgbClr val="FEBF0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1" name="组合 10"/>
          <p:cNvGrpSpPr/>
          <p:nvPr userDrawn="1"/>
        </p:nvGrpSpPr>
        <p:grpSpPr>
          <a:xfrm>
            <a:off x="8921496" y="3600450"/>
            <a:ext cx="3716531" cy="3257550"/>
            <a:chOff x="8921496" y="3600450"/>
            <a:chExt cx="3716531" cy="3257550"/>
          </a:xfrm>
        </p:grpSpPr>
        <p:sp>
          <p:nvSpPr>
            <p:cNvPr id="12" name="等腰三角形 11"/>
            <p:cNvSpPr/>
            <p:nvPr/>
          </p:nvSpPr>
          <p:spPr>
            <a:xfrm>
              <a:off x="8921496" y="3600450"/>
              <a:ext cx="3270504" cy="3257550"/>
            </a:xfrm>
            <a:prstGeom prst="triangle">
              <a:avLst>
                <a:gd name="adj" fmla="val 100000"/>
              </a:avLst>
            </a:prstGeom>
            <a:solidFill>
              <a:srgbClr val="3B46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任意多边形: 形状 12"/>
            <p:cNvSpPr/>
            <p:nvPr/>
          </p:nvSpPr>
          <p:spPr>
            <a:xfrm rot="2706533">
              <a:off x="11275249" y="4817318"/>
              <a:ext cx="235184" cy="2490372"/>
            </a:xfrm>
            <a:custGeom>
              <a:avLst/>
              <a:gdLst>
                <a:gd name="connsiteX0" fmla="*/ 0 w 235184"/>
                <a:gd name="connsiteY0" fmla="*/ 0 h 2490372"/>
                <a:gd name="connsiteX1" fmla="*/ 235184 w 235184"/>
                <a:gd name="connsiteY1" fmla="*/ 234292 h 2490372"/>
                <a:gd name="connsiteX2" fmla="*/ 235184 w 235184"/>
                <a:gd name="connsiteY2" fmla="*/ 2254292 h 2490372"/>
                <a:gd name="connsiteX3" fmla="*/ 0 w 235184"/>
                <a:gd name="connsiteY3" fmla="*/ 2490372 h 2490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5184" h="2490372">
                  <a:moveTo>
                    <a:pt x="0" y="0"/>
                  </a:moveTo>
                  <a:lnTo>
                    <a:pt x="235184" y="234292"/>
                  </a:lnTo>
                  <a:lnTo>
                    <a:pt x="235184" y="2254292"/>
                  </a:lnTo>
                  <a:lnTo>
                    <a:pt x="0" y="2490372"/>
                  </a:lnTo>
                  <a:close/>
                </a:path>
              </a:pathLst>
            </a:custGeom>
            <a:solidFill>
              <a:srgbClr val="FEBF0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282134" y="1046841"/>
            <a:ext cx="11627732" cy="83396"/>
          </a:xfrm>
          <a:prstGeom prst="rect">
            <a:avLst/>
          </a:prstGeom>
          <a:solidFill>
            <a:srgbClr val="3B46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87206" y="446509"/>
            <a:ext cx="2622660" cy="28556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2854F-C723-A046-9BED-CF8E1F5008F6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C4FDA-EB2A-DE44-96E3-A3C900B3F0C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90" y="968375"/>
            <a:ext cx="3689985" cy="4921250"/>
          </a:xfrm>
          <a:prstGeom prst="rect">
            <a:avLst/>
          </a:prstGeom>
        </p:spPr>
      </p:pic>
      <p:pic>
        <p:nvPicPr>
          <p:cNvPr id="10" name="图片 9" descr="电脑萤幕画面&#10;&#10;AI 生成的内容可能不正确。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11" name="李彦宏"/>
          <p:cNvSpPr txBox="1"/>
          <p:nvPr/>
        </p:nvSpPr>
        <p:spPr>
          <a:xfrm>
            <a:off x="5119141" y="779337"/>
            <a:ext cx="2990537" cy="804888"/>
          </a:xfrm>
          <a:prstGeom prst="rect">
            <a:avLst/>
          </a:prstGeom>
          <a:ln w="25400">
            <a:miter lim="400000"/>
          </a:ln>
        </p:spPr>
        <p:txBody>
          <a:bodyPr wrap="square" lIns="93752" tIns="93752" rIns="93752" bIns="93752" anchor="ctr">
            <a:spAutoFit/>
          </a:bodyPr>
          <a:lstStyle>
            <a:lvl1pPr algn="ctr" defTabSz="3048000">
              <a:defRPr sz="7000" spc="1050">
                <a:solidFill>
                  <a:srgbClr val="163497"/>
                </a:solidFill>
                <a:latin typeface="Source Han Sans CN Medium"/>
                <a:ea typeface="Source Han Sans CN Medium"/>
                <a:cs typeface="Source Han Sans CN Medium"/>
                <a:sym typeface="Source Han Sans CN Medium"/>
              </a:defRPr>
            </a:lvl1pPr>
          </a:lstStyle>
          <a:p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周莉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百度创始人、董事长兼首席执行官"/>
          <p:cNvSpPr txBox="1"/>
          <p:nvPr/>
        </p:nvSpPr>
        <p:spPr>
          <a:xfrm>
            <a:off x="5524916" y="1989610"/>
            <a:ext cx="5860113" cy="2956560"/>
          </a:xfrm>
          <a:prstGeom prst="rect">
            <a:avLst/>
          </a:prstGeom>
          <a:ln w="25400">
            <a:miter lim="400000"/>
          </a:ln>
        </p:spPr>
        <p:txBody>
          <a:bodyPr wrap="square" lIns="93752" tIns="93752" rIns="93752" bIns="93752">
            <a:spAutoFit/>
          </a:bodyPr>
          <a:lstStyle>
            <a:lvl1pPr defTabSz="3048000">
              <a:lnSpc>
                <a:spcPct val="150000"/>
              </a:lnSpc>
              <a:defRPr sz="4000" spc="600">
                <a:solidFill>
                  <a:srgbClr val="163497"/>
                </a:solidFill>
                <a:latin typeface="Source Han Sans CN Regular"/>
                <a:ea typeface="Source Han Sans CN Regular"/>
                <a:cs typeface="Source Han Sans CN Regular"/>
                <a:sym typeface="Source Han Sans CN Regular"/>
              </a:defRPr>
            </a:lvl1pPr>
          </a:lstStyle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北京第一实验学校科学教师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硕士毕业于中国科学院生物物理研究所，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从事结构生物学研究；如今，兼具生物与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知识储备的我，仍在 “深度学习” 领域持续前行，更期待与大家一同探索。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652323" y="1690863"/>
            <a:ext cx="4443551" cy="85471"/>
          </a:xfrm>
          <a:prstGeom prst="rect">
            <a:avLst/>
          </a:prstGeom>
          <a:solidFill>
            <a:srgbClr val="71C0EA"/>
          </a:solidFill>
          <a:ln>
            <a:solidFill>
              <a:srgbClr val="71C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572404" y="1451894"/>
            <a:ext cx="11248291" cy="3432020"/>
            <a:chOff x="2190963" y="1878316"/>
            <a:chExt cx="8225790" cy="3432020"/>
          </a:xfrm>
        </p:grpSpPr>
        <p:sp>
          <p:nvSpPr>
            <p:cNvPr id="19" name="矩形 18"/>
            <p:cNvSpPr/>
            <p:nvPr/>
          </p:nvSpPr>
          <p:spPr>
            <a:xfrm>
              <a:off x="2190963" y="1878316"/>
              <a:ext cx="8225790" cy="2682657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4800" b="1" dirty="0">
                  <a:solidFill>
                    <a:srgbClr val="3B4660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  <a:sym typeface="+mn-lt"/>
                </a:rPr>
                <a:t>青少年人工智能驱动科学挑战营</a:t>
              </a:r>
              <a:endParaRPr lang="en-US" altLang="zh-CN" sz="4800" b="1" dirty="0">
                <a:solidFill>
                  <a:srgbClr val="3B46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lt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sz="3600" b="1" dirty="0">
                  <a:solidFill>
                    <a:srgbClr val="3B4660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  <a:sym typeface="+mn-lt"/>
                </a:rPr>
                <a:t>AI4S TEEN CAMP</a:t>
              </a:r>
              <a:endParaRPr lang="en-US" altLang="zh-CN" sz="3600" b="1" dirty="0">
                <a:solidFill>
                  <a:srgbClr val="3B46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lt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3200" b="1" dirty="0">
                  <a:solidFill>
                    <a:srgbClr val="3B4660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  <a:sym typeface="+mn-lt"/>
                </a:rPr>
                <a:t>生物图片分类</a:t>
              </a:r>
              <a:endParaRPr lang="en-US" altLang="zh-CN" sz="2400" b="1" dirty="0">
                <a:solidFill>
                  <a:srgbClr val="3B46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lt"/>
              </a:endParaRPr>
            </a:p>
          </p:txBody>
        </p:sp>
        <p:cxnSp>
          <p:nvCxnSpPr>
            <p:cNvPr id="21" name="直接连接符 20"/>
            <p:cNvCxnSpPr/>
            <p:nvPr/>
          </p:nvCxnSpPr>
          <p:spPr>
            <a:xfrm>
              <a:off x="2927120" y="4642338"/>
              <a:ext cx="6515676" cy="0"/>
            </a:xfrm>
            <a:prstGeom prst="line">
              <a:avLst/>
            </a:prstGeom>
            <a:ln>
              <a:solidFill>
                <a:srgbClr val="3B466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/>
            <p:cNvSpPr txBox="1"/>
            <p:nvPr/>
          </p:nvSpPr>
          <p:spPr>
            <a:xfrm>
              <a:off x="2300585" y="4805069"/>
              <a:ext cx="7859486" cy="505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  <a:sym typeface="+mn-lt"/>
                </a:rPr>
                <a:t>周莉 </a:t>
              </a:r>
              <a:r>
                <a:rPr lang="en-US" altLang="zh-CN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  <a:sym typeface="+mn-lt"/>
                </a:rPr>
                <a:t>2025.11.23</a:t>
              </a:r>
              <a:endPara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lt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3744" y="5515130"/>
            <a:ext cx="4365610" cy="4753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34976" y="225894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3B4660"/>
                </a:solidFill>
                <a:latin typeface="Times New Roman" panose="02020603050405020304" pitchFamily="18" charset="0"/>
                <a:cs typeface="+mn-ea"/>
                <a:sym typeface="+mn-lt"/>
              </a:rPr>
              <a:t>打榜赛题介绍</a:t>
            </a:r>
            <a:endParaRPr lang="zh-CN" altLang="en-US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547" y="1425107"/>
            <a:ext cx="11661162" cy="40727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34976" y="225894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3B4660"/>
                </a:solidFill>
                <a:cs typeface="+mn-ea"/>
                <a:sym typeface="+mn-lt"/>
              </a:rPr>
              <a:t>生物学背景知识</a:t>
            </a:r>
            <a:endParaRPr lang="zh-CN" altLang="en-US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34976" y="2535688"/>
            <a:ext cx="6353371" cy="3720570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铺路细胞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(Pavement Cell)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是表皮中数量最多的细胞，构成了表皮的基础结构。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其形态不规则，彼此紧密镶嵌，如同拼图或路面铺石，形成了连续的保护层，能有效减少内部水分蒸散。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保卫细胞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(Guard Cell)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成对存在，共同构成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气孔器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(Stomatal Apparatus)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。图中两个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肾形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(kidney-shaped)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的细胞即为保卫细胞。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保卫细胞可以通过改变形态来调控中间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气孔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(Stoma)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的开闭，是植物与外界进行气体交换（如吸收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CO₂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）和水分蒸腾作用的关键门户。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8347" y="2792361"/>
            <a:ext cx="5200924" cy="346389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34976" y="1410252"/>
            <a:ext cx="10298518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Epidermis Cell (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叶片表皮细胞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叶片表皮是由多种特化的细胞构成的保护性组织层，主要包含以下两种细胞：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34976" y="225894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3B4660"/>
                </a:solidFill>
                <a:cs typeface="+mn-ea"/>
                <a:sym typeface="+mn-lt"/>
              </a:rPr>
              <a:t>生物学背景知识</a:t>
            </a:r>
            <a:endParaRPr lang="zh-CN" altLang="en-US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57135" y="2472632"/>
            <a:ext cx="6392008" cy="4052969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细胞特征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细胞形态近似长方形，轮廓清晰，排列紧密而整齐，形成类似“砖墙”的结构。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细胞壁界限分明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2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功能与显微特征：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：作为保护组织，其紧密排列的结构主要起保护作用，能有效防止内部组织受损、水分过度蒸发和病原体入侵。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显微特征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：图中样本经过染色处理，使得细胞核被染成深色，与细胞质和细胞壁形成鲜明对比，轮廓清晰可见。这些细胞因不参与光合作用，通常不含叶绿体。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134" y="2749059"/>
            <a:ext cx="4976731" cy="373547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57135" y="1226123"/>
            <a:ext cx="11368739" cy="1169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Dermal Tissue Cell (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保护组织细胞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保护组织细胞构成植物体表面的保护层，分为初生保护组织（表皮）和次生保护组织（周皮）。图示为典型的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表皮细胞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34976" y="225894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3B4660"/>
                </a:solidFill>
                <a:cs typeface="+mn-ea"/>
                <a:sym typeface="+mn-lt"/>
              </a:rPr>
              <a:t>生物学背景知识</a:t>
            </a:r>
            <a:endParaRPr lang="zh-CN" altLang="en-US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0" y="2135862"/>
            <a:ext cx="6504317" cy="3720570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细胞特征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：细胞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体积小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，形状近似等径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(Isodiametric)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，细胞壁薄，细胞核相对较大且细胞质浓厚。细胞排列紧密，几乎无细胞间隙。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功能与显微特征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43000" lvl="2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核心功能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：这些细胞是未分化的细胞，具有旺盛的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细胞分裂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(Cell Division)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能力，是植物体新细胞的来源，驱动着植物的生长。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43000" lvl="2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显微外观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：由于细胞质浓厚且细胞核大，在用染料（如龙胆紫）染色后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着色很深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。因此，在显微镜下呈现出“细胞小、排列挤、颜色深”的典型外观。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9248" y="2200774"/>
            <a:ext cx="4787660" cy="359074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08317" y="142754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Meristematic Tissue Cell (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分生组织细胞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958</Words>
  <Application>WPS 演示</Application>
  <PresentationFormat>宽屏</PresentationFormat>
  <Paragraphs>48</Paragraphs>
  <Slides>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宋体</vt:lpstr>
      <vt:lpstr>Wingdings</vt:lpstr>
      <vt:lpstr>Times New Roman</vt:lpstr>
      <vt:lpstr>微软雅黑</vt:lpstr>
      <vt:lpstr>等线</vt:lpstr>
      <vt:lpstr>等线 Light</vt:lpstr>
      <vt:lpstr>Arial Unicode MS</vt:lpstr>
      <vt:lpstr>Source Han Sans CN Medium</vt:lpstr>
      <vt:lpstr>Segoe Print</vt:lpstr>
      <vt:lpstr>Source Han Sans CN Regular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卉淼 庞</dc:creator>
  <cp:lastModifiedBy>淼淼</cp:lastModifiedBy>
  <cp:revision>16</cp:revision>
  <dcterms:created xsi:type="dcterms:W3CDTF">2025-09-29T06:13:00Z</dcterms:created>
  <dcterms:modified xsi:type="dcterms:W3CDTF">2025-11-23T00:24:31Z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1155A8CBAD65418BBEDFF5A85B6CBDEF_12</vt:lpwstr>
  </property>
  <property fmtid="{D5CDD505-2E9C-101B-9397-08002B2CF9AE}" pid="3" name="KSOProductBuildVer">
    <vt:lpwstr>2052-12.1.0.23542</vt:lpwstr>
  </property>
</Properties>
</file>